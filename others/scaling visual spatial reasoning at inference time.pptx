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64" r:id="rId4"/>
    <p:sldId id="266" r:id="rId5"/>
    <p:sldId id="265" r:id="rId6"/>
    <p:sldId id="278" r:id="rId7"/>
    <p:sldId id="267" r:id="rId8"/>
    <p:sldId id="279" r:id="rId9"/>
    <p:sldId id="275" r:id="rId10"/>
    <p:sldId id="283" r:id="rId11"/>
    <p:sldId id="284" r:id="rId12"/>
    <p:sldId id="287" r:id="rId13"/>
    <p:sldId id="281" r:id="rId14"/>
    <p:sldId id="282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62"/>
    <p:restoredTop sz="80733"/>
  </p:normalViewPr>
  <p:slideViewPr>
    <p:cSldViewPr snapToGrid="0">
      <p:cViewPr varScale="1">
        <p:scale>
          <a:sx n="104" d="100"/>
          <a:sy n="104" d="100"/>
        </p:scale>
        <p:origin x="8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4035B7-5C91-7149-A4D9-CFFCDE4520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886BB-A635-344C-9BF5-4270DE6E5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5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F97E-6DE8-83E8-466E-352B04D1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155B-87A9-39B2-4064-428D45370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3FEB4-7DAB-5CBD-FB85-6DA4B15DB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BA6C3-8198-2853-030E-1F56A6309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2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DA7C-A8CD-2B68-2C58-31716BE9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0F039-9BA4-0477-9009-B65E3A7BF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9FFF1-B7CB-3020-9577-291DD28F7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 GPT-5 Achieved Spatial Intelligence? An Empirical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5155C-6751-F0A0-AB26-08B5E7978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3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EB8B-9CBA-2209-460B-8601A8BE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F04F8-5EAB-DA76-280D-85B1EB2C5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71352-3C1A-173A-F7FF-FC8CBF9D1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Spatial reasoning is not "emerging" at the same rate as other language or vision capabilities; it appears to be a distinct capability that current architectures are struggling to learn from massive 2D data scaling alone.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Core Knowledge Deficits in Multi-Modal Language Models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028A1-1275-8C38-C383-C09F43183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81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FE577-CB06-BF6D-AB01-A0365777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2D0C7-5B63-28F3-1A9F-879763DEA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3A2FA-A684-CEBD-F8D7-B9F4D851E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if a question asks, </a:t>
            </a:r>
            <a:r>
              <a:rPr lang="en-US" i="1" dirty="0"/>
              <a:t>"What object is typically found right next to the bed?"</a:t>
            </a:r>
            <a:r>
              <a:rPr lang="en-US" dirty="0"/>
              <a:t>, a text-only model can easily guess </a:t>
            </a:r>
            <a:r>
              <a:rPr lang="en-US" i="1" dirty="0"/>
              <a:t>"nightstand"</a:t>
            </a:r>
            <a:r>
              <a:rPr lang="en-US" dirty="0"/>
              <a:t> based on billions of pages of text data it has read. It doesn't need to look at the 3D room to get the answer right.</a:t>
            </a:r>
          </a:p>
          <a:p>
            <a:endParaRPr lang="en-US" dirty="0"/>
          </a:p>
          <a:p>
            <a:r>
              <a:rPr lang="en-US" dirty="0"/>
              <a:t>DO 3D LARGE LANGUAGE MODELS REALLY UNDERSTAND 3D SPATIAL RELATIONSHIPS?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2EB88-0995-47AC-47D2-5BA1BF4AB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16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E3DEA-D436-0530-7F23-C6D3F5D4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DDB61-58D8-D317-29E0-AE3849D55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0288E-1F5F-FEDC-C584-BEC7F8C11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if a question asks, </a:t>
            </a:r>
            <a:r>
              <a:rPr lang="en-US" i="1" dirty="0"/>
              <a:t>"What object is typically found right next to the bed?"</a:t>
            </a:r>
            <a:r>
              <a:rPr lang="en-US" dirty="0"/>
              <a:t>, a text-only model can easily guess </a:t>
            </a:r>
            <a:r>
              <a:rPr lang="en-US" i="1" dirty="0"/>
              <a:t>"nightstand"</a:t>
            </a:r>
            <a:r>
              <a:rPr lang="en-US" dirty="0"/>
              <a:t> based on billions of pages of text data it has read. It doesn't need to look at the 3D room to get the answer right.</a:t>
            </a:r>
          </a:p>
          <a:p>
            <a:endParaRPr lang="en-US" dirty="0"/>
          </a:p>
          <a:p>
            <a:r>
              <a:rPr lang="en-US" dirty="0"/>
              <a:t>DO 3D LARGE LANGUAGE MODELS REALLY UNDERSTAND 3D SPATIAL RELATIONSHIPS?</a:t>
            </a:r>
          </a:p>
          <a:p>
            <a:r>
              <a:rPr lang="en-US" dirty="0"/>
              <a:t>PURSUING MINIMAL SUFFICIENCY IN SPATIAL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D48A1-8085-6922-F9FB-6247C9EED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49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BFE2-95E9-3D2E-F9A3-D6FFC8211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EA8BB-44E7-7E06-D2F5-0922482E0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F1CA8-04E6-578C-F44D-70F995F0C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explicit </a:t>
            </a:r>
            <a:r>
              <a:rPr lang="en-US" b="1" dirty="0" err="1"/>
              <a:t>CoT</a:t>
            </a:r>
            <a:r>
              <a:rPr lang="en-US" b="1" dirty="0"/>
              <a:t> prompting can actually </a:t>
            </a:r>
            <a:r>
              <a:rPr lang="en-US" b="1" i="1" dirty="0"/>
              <a:t>impair</a:t>
            </a:r>
            <a:r>
              <a:rPr lang="en-US" b="1" dirty="0"/>
              <a:t> spatial understanding</a:t>
            </a:r>
          </a:p>
          <a:p>
            <a:endParaRPr lang="en-US" dirty="0"/>
          </a:p>
          <a:p>
            <a:r>
              <a:rPr lang="en-US" dirty="0" err="1"/>
              <a:t>CoT</a:t>
            </a:r>
            <a:r>
              <a:rPr lang="en-US" dirty="0"/>
              <a:t> caused the model's attention to diffuse (spread out) or focus too narrowly on the primary subject query, ignoring the critical contextual objects needed for spatial comparison.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lilianweng.github.io</a:t>
            </a:r>
            <a:r>
              <a:rPr lang="en-US" dirty="0"/>
              <a:t>/posts/2025-05-01-thinking/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AF35D-4CBA-EE32-6FB5-870960276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80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12FE-C801-FBEF-91B9-09C181A5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0F657-89BC-AB74-8D29-9FB05A3AA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156FD-B421-6C09-8E6C-0D6E65BAA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F08F-F84A-0D6A-505A-B2EE24399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7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12FE-C801-FBEF-91B9-09C181A5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0F657-89BC-AB74-8D29-9FB05A3AA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156FD-B421-6C09-8E6C-0D6E65BAA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VideoChat-R1.5: Visual Test-Time Scaling to Reinforce Multimodal Reasoning by Iterative Perception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F08F-F84A-0D6A-505A-B2EE24399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7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5E95-7700-52AA-5FD6-3AC6D0944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9F3B7-27CF-535E-1DC4-C9C67420E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A3E0B-A832-7B70-9408-181C9FB27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78FE2-0E92-67E6-A8C4-49654DCF5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18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F4E4-9817-6473-3033-DBC3E14B4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7F8F6-E43D-9B2F-F92E-808FFF4A3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447CB-3668-A73E-9C14-C46657F1C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A36D-15F6-3740-05BC-C8FB76EBB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97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4D89-F86C-584F-885F-1D879449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DED7F-8A6E-9F6D-7B65-7E87649DE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E6756-FA82-44AE-640D-A9B806865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DDBDE-0AF6-F7D0-B516-F1F2F8BFE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81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EA6FD-0686-E04E-CE25-A6862A01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FF149-4B7C-986C-C605-C86910DD2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5E41F-5004-3F41-4632-C9B932EF7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02BB9-EA8C-2D53-DB0E-AAC1F1063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36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21340-D6D4-D1F5-39AD-5256FD33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ED89B-FEC0-20FB-9D67-90EDFEEB7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4D913-6F8C-C95F-9201-20CF0304E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AF5B-D7B8-94D1-0298-44DDB8EDA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4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E88B3-3B00-0DDC-24EE-E60CE78F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7C465-850F-78B8-7008-24774CE7B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D7296-7974-90E8-6972-6B0931894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0274C-1D14-3978-1859-163634CBC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886BB-A635-344C-9BF5-4270DE6E55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99B77-6285-B803-88CF-E15505751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F97A9-108E-758F-DBB4-78D548ACB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3C23C-F822-ABE5-8582-8CF920D8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FC6A2-EB6B-A1EE-BA65-8DFDEDA8B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A00B4-E377-D30B-7D35-576A4485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9054-094B-0167-DCE7-958804BD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2635D-C048-33AD-75F3-5A63BADB1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9F802-D4A1-8193-5438-8F53B8EC6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69AD9-6CC3-295E-25F0-24B0BE6A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8359E-2C91-3063-558B-1C9ADE59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3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67A74-DBB0-9868-9B2D-2FAA71FBB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2F4F6-DF8A-6ECA-ABD3-D31A88493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03631-2646-3D04-8A4A-8E4CBBF9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A036F-C2B6-4DB0-F9CB-D5B2FCB9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88341-91E0-A066-6616-DACDE389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50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B7E0-D747-C1E3-96DD-E903E439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AB0C-E978-E457-2738-C3A604B16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54C6A-DC03-3E09-9DCA-FF167C6E9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027AE-FCDE-0437-A3C4-F4A42508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5F00E-8F79-64CF-F294-2F2935FAB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169D6-6292-7311-C4A1-2FEB2F22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2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73F6-3EC2-C5EA-23F6-C0E34346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09561-88B8-8573-0F8C-D02E3871C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9BB37-3713-D78A-5D3E-6A422DF0C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F7843E-E52E-7FE2-943E-0A871E9F7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8793F-8EB7-BFC1-1FCE-6233F82606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D112F-8997-147C-1904-0D796CAA3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9CA98-BCED-F710-5161-F9A6959F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AAC18-C3E1-19F4-5353-F5D6368D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3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C245A-7B8C-F27D-D933-3362E6CB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DB270-8470-D2B0-7798-763517446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4C8339-5E35-9E29-AA8E-BDF4F150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A1C0A-C95F-303F-E24E-A170F8C8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2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79AFA-B059-4428-ABE1-0DBDB239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33775-D612-5BD4-DCA9-26F3B835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53F18-3C17-057B-13A3-6A51081D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7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29A9-1B24-3B4B-5C90-6539970DB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D108-AC19-129F-E697-ADC086522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F2CB7-412F-796B-32F2-001ECEB5F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12316-3CC2-E925-9F08-7CDE72AB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C1DD1-0688-740F-B75F-768FDDB0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CDEE5-AA07-4343-F1BD-4F26BBBF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1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D0E9-AB5D-582C-D2E6-B94BEA45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66BBFA-00B8-E748-251D-DB01E2A43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F4851-D9BB-C083-5D06-38E63F5EF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65498-8FB1-E918-371D-092070DD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704E3-EB08-F948-ACD9-9E377ADA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3241D-3985-F4F8-40B4-7A372379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78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304D-4963-1602-17D7-8C5FC92F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AA890-BC76-9C86-F63E-59531E73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A6330-B65B-9490-27A2-0CA9C521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60158-EE01-48BD-F713-B8BA196E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E875-E590-7DAA-8AA0-D557F2F8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93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7BF4C-7DA6-236E-E232-8F9DEEBAB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1AF10-374B-3C3B-13C6-DA01A7F1C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FD851-3E7A-79D2-30F4-89D043CA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02A9-0BF8-8978-3368-0E41E5DD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335EA-B4AD-CA83-578C-16007A3FD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9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289B3-65B3-076C-5379-3A5FC32D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00012-AD35-6E44-2997-B54F201C2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938CA-0ECC-EC75-E33D-2E8274667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BFAEB-6D2D-BC48-AA32-6EFCBCBEB0BB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67F8-D664-1A14-4CF7-CDB6DD662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204B-6C06-B6DA-A08A-242C237C2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C3CBD-163F-034B-A291-E835347A3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0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jpe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213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46974" y="1680049"/>
            <a:ext cx="11698052" cy="2048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 Spatial Reasoning for VLMs at Inference Time</a:t>
            </a:r>
            <a:endParaRPr lang="en-US" dirty="0"/>
          </a:p>
        </p:txBody>
      </p:sp>
      <p:sp>
        <p:nvSpPr>
          <p:cNvPr id="86" name="Google Shape;86;p1"/>
          <p:cNvSpPr txBox="1"/>
          <p:nvPr/>
        </p:nvSpPr>
        <p:spPr>
          <a:xfrm>
            <a:off x="3265138" y="4460113"/>
            <a:ext cx="617315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Haoming Wang, Qiyao Xue and Wei Gao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Pittsburgh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9B7C-17E1-7224-2395-868B6A6BB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021BE345-D124-1D4D-111A-133BCECE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10" r="71279" b="29688"/>
          <a:stretch>
            <a:fillRect/>
          </a:stretch>
        </p:blipFill>
        <p:spPr>
          <a:xfrm>
            <a:off x="4830049" y="1205235"/>
            <a:ext cx="2404509" cy="1121093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092F4CCA-13A3-EE83-0A53-DCAAD138D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823B00C7-6B00-438F-DC05-0BCE1A729454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Fundamental Capabilities of Spatial Intelligence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572D64-CCE0-E219-74E8-9FBBC79655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1" t="8950" r="34553" b="29748"/>
          <a:stretch>
            <a:fillRect/>
          </a:stretch>
        </p:blipFill>
        <p:spPr>
          <a:xfrm>
            <a:off x="4493731" y="2961530"/>
            <a:ext cx="3104918" cy="112109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5288798-9E03-B450-9AF5-D0D6647E59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7070"/>
          <a:stretch>
            <a:fillRect/>
          </a:stretch>
        </p:blipFill>
        <p:spPr>
          <a:xfrm>
            <a:off x="1170465" y="1810502"/>
            <a:ext cx="2559467" cy="1160059"/>
          </a:xfrm>
          <a:prstGeom prst="rect">
            <a:avLst/>
          </a:prstGeom>
        </p:spPr>
      </p:pic>
      <p:sp>
        <p:nvSpPr>
          <p:cNvPr id="45" name="Google Shape;2200;p40">
            <a:extLst>
              <a:ext uri="{FF2B5EF4-FFF2-40B4-BE49-F238E27FC236}">
                <a16:creationId xmlns:a16="http://schemas.microsoft.com/office/drawing/2014/main" id="{1A55CC0A-3EC9-A8B1-113F-2A3A3079EFBE}"/>
              </a:ext>
            </a:extLst>
          </p:cNvPr>
          <p:cNvSpPr txBox="1">
            <a:spLocks/>
          </p:cNvSpPr>
          <p:nvPr/>
        </p:nvSpPr>
        <p:spPr>
          <a:xfrm>
            <a:off x="1604168" y="5154848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Egocentric Visual inputs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8B932AB-AEC4-8D00-FA61-C14054CE69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71" t="-3633" r="21139" b="3633"/>
          <a:stretch>
            <a:fillRect/>
          </a:stretch>
        </p:blipFill>
        <p:spPr>
          <a:xfrm>
            <a:off x="8923597" y="873010"/>
            <a:ext cx="1371600" cy="13716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55EDB07-9903-C624-AB12-DB84E2701E8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5069" t="15353" r="-84" b="20202"/>
          <a:stretch>
            <a:fillRect/>
          </a:stretch>
        </p:blipFill>
        <p:spPr>
          <a:xfrm>
            <a:off x="8980059" y="4374370"/>
            <a:ext cx="1371600" cy="1371600"/>
          </a:xfrm>
          <a:prstGeom prst="rect">
            <a:avLst/>
          </a:prstGeom>
        </p:spPr>
      </p:pic>
      <p:pic>
        <p:nvPicPr>
          <p:cNvPr id="48" name="Picture 6" descr="Can I fly a drone/UAV indoors using a GPS repeater?">
            <a:extLst>
              <a:ext uri="{FF2B5EF4-FFF2-40B4-BE49-F238E27FC236}">
                <a16:creationId xmlns:a16="http://schemas.microsoft.com/office/drawing/2014/main" id="{1B26D3E1-5000-8160-67A9-4067FADAC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" r="33187"/>
          <a:stretch>
            <a:fillRect/>
          </a:stretch>
        </p:blipFill>
        <p:spPr bwMode="auto">
          <a:xfrm>
            <a:off x="8980059" y="2689342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Google Shape;2200;p40">
            <a:extLst>
              <a:ext uri="{FF2B5EF4-FFF2-40B4-BE49-F238E27FC236}">
                <a16:creationId xmlns:a16="http://schemas.microsoft.com/office/drawing/2014/main" id="{EEA569DF-5668-A98D-B3D1-3BBCCEF1BBD5}"/>
              </a:ext>
            </a:extLst>
          </p:cNvPr>
          <p:cNvSpPr txBox="1">
            <a:spLocks/>
          </p:cNvSpPr>
          <p:nvPr/>
        </p:nvSpPr>
        <p:spPr>
          <a:xfrm>
            <a:off x="4657935" y="5991202"/>
            <a:ext cx="3005876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Basic Spatial Reasoning Capabilities</a:t>
            </a:r>
          </a:p>
        </p:txBody>
      </p:sp>
      <p:sp>
        <p:nvSpPr>
          <p:cNvPr id="50" name="Google Shape;2200;p40">
            <a:extLst>
              <a:ext uri="{FF2B5EF4-FFF2-40B4-BE49-F238E27FC236}">
                <a16:creationId xmlns:a16="http://schemas.microsoft.com/office/drawing/2014/main" id="{C86765F7-7D41-E149-1F09-C511C6DD5AF7}"/>
              </a:ext>
            </a:extLst>
          </p:cNvPr>
          <p:cNvSpPr txBox="1">
            <a:spLocks/>
          </p:cNvSpPr>
          <p:nvPr/>
        </p:nvSpPr>
        <p:spPr>
          <a:xfrm>
            <a:off x="7906925" y="5944752"/>
            <a:ext cx="329072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400" b="1" dirty="0">
                <a:solidFill>
                  <a:srgbClr val="C00000"/>
                </a:solidFill>
              </a:rPr>
              <a:t>Spatial-aware Applications</a:t>
            </a:r>
          </a:p>
        </p:txBody>
      </p:sp>
      <p:sp>
        <p:nvSpPr>
          <p:cNvPr id="58" name="Google Shape;2200;p40">
            <a:extLst>
              <a:ext uri="{FF2B5EF4-FFF2-40B4-BE49-F238E27FC236}">
                <a16:creationId xmlns:a16="http://schemas.microsoft.com/office/drawing/2014/main" id="{CF95B68D-3CF5-C8F2-62A4-B0ECBEF8DC9E}"/>
              </a:ext>
            </a:extLst>
          </p:cNvPr>
          <p:cNvSpPr txBox="1">
            <a:spLocks/>
          </p:cNvSpPr>
          <p:nvPr/>
        </p:nvSpPr>
        <p:spPr>
          <a:xfrm>
            <a:off x="4522519" y="2266127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Measurement</a:t>
            </a:r>
          </a:p>
        </p:txBody>
      </p:sp>
      <p:sp>
        <p:nvSpPr>
          <p:cNvPr id="59" name="Rectangle: Rounded Corners 4106">
            <a:extLst>
              <a:ext uri="{FF2B5EF4-FFF2-40B4-BE49-F238E27FC236}">
                <a16:creationId xmlns:a16="http://schemas.microsoft.com/office/drawing/2014/main" id="{D8281319-9A8B-7085-6F9A-AF19CC44050D}"/>
              </a:ext>
            </a:extLst>
          </p:cNvPr>
          <p:cNvSpPr/>
          <p:nvPr/>
        </p:nvSpPr>
        <p:spPr bwMode="auto">
          <a:xfrm>
            <a:off x="8384710" y="832400"/>
            <a:ext cx="2373680" cy="5197448"/>
          </a:xfrm>
          <a:prstGeom prst="roundRect">
            <a:avLst>
              <a:gd name="adj" fmla="val 4890"/>
            </a:avLst>
          </a:prstGeom>
          <a:noFill/>
          <a:ln w="38100">
            <a:solidFill>
              <a:srgbClr val="FF7E79"/>
            </a:solidFill>
            <a:prstDash val="das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391">
              <a:defRPr/>
            </a:pPr>
            <a:endParaRPr lang="en-US" sz="162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0" name="Right Arrow 59">
            <a:extLst>
              <a:ext uri="{FF2B5EF4-FFF2-40B4-BE49-F238E27FC236}">
                <a16:creationId xmlns:a16="http://schemas.microsoft.com/office/drawing/2014/main" id="{20F0882C-50EA-BADE-CC99-7F13FC688EA7}"/>
              </a:ext>
            </a:extLst>
          </p:cNvPr>
          <p:cNvSpPr/>
          <p:nvPr/>
        </p:nvSpPr>
        <p:spPr>
          <a:xfrm>
            <a:off x="7931782" y="3306108"/>
            <a:ext cx="327378" cy="696956"/>
          </a:xfrm>
          <a:prstGeom prst="rightArrow">
            <a:avLst/>
          </a:prstGeom>
          <a:solidFill>
            <a:srgbClr val="FF7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350A3E5-CD77-608B-CDE8-7FADDEE78EE8}"/>
              </a:ext>
            </a:extLst>
          </p:cNvPr>
          <p:cNvSpPr/>
          <p:nvPr/>
        </p:nvSpPr>
        <p:spPr>
          <a:xfrm>
            <a:off x="8589068" y="2217306"/>
            <a:ext cx="2040659" cy="362182"/>
          </a:xfrm>
          <a:prstGeom prst="rect">
            <a:avLst/>
          </a:prstGeom>
          <a:solidFill>
            <a:srgbClr val="FFD57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2" name="Google Shape;2200;p40">
            <a:extLst>
              <a:ext uri="{FF2B5EF4-FFF2-40B4-BE49-F238E27FC236}">
                <a16:creationId xmlns:a16="http://schemas.microsoft.com/office/drawing/2014/main" id="{99A19CFE-CC16-5765-B358-10154017C1A1}"/>
              </a:ext>
            </a:extLst>
          </p:cNvPr>
          <p:cNvSpPr txBox="1">
            <a:spLocks/>
          </p:cNvSpPr>
          <p:nvPr/>
        </p:nvSpPr>
        <p:spPr>
          <a:xfrm>
            <a:off x="8489780" y="2174441"/>
            <a:ext cx="224607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Robotics Manipulator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F877B29-DB8D-3A5F-390B-EAF76F0479CE}"/>
              </a:ext>
            </a:extLst>
          </p:cNvPr>
          <p:cNvSpPr/>
          <p:nvPr/>
        </p:nvSpPr>
        <p:spPr>
          <a:xfrm>
            <a:off x="8690646" y="3899409"/>
            <a:ext cx="1884550" cy="362182"/>
          </a:xfrm>
          <a:prstGeom prst="rect">
            <a:avLst/>
          </a:prstGeom>
          <a:solidFill>
            <a:srgbClr val="FFD57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4" name="Google Shape;2200;p40">
            <a:extLst>
              <a:ext uri="{FF2B5EF4-FFF2-40B4-BE49-F238E27FC236}">
                <a16:creationId xmlns:a16="http://schemas.microsoft.com/office/drawing/2014/main" id="{530099BF-32FA-2FAB-83FE-2C7A0F935890}"/>
              </a:ext>
            </a:extLst>
          </p:cNvPr>
          <p:cNvSpPr txBox="1">
            <a:spLocks/>
          </p:cNvSpPr>
          <p:nvPr/>
        </p:nvSpPr>
        <p:spPr>
          <a:xfrm>
            <a:off x="8512317" y="3851761"/>
            <a:ext cx="224607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Autonomous Drones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A6B3C0E-F34B-2BBF-BD73-A3BF37B22E11}"/>
              </a:ext>
            </a:extLst>
          </p:cNvPr>
          <p:cNvSpPr/>
          <p:nvPr/>
        </p:nvSpPr>
        <p:spPr>
          <a:xfrm>
            <a:off x="8740438" y="5543249"/>
            <a:ext cx="1884550" cy="362182"/>
          </a:xfrm>
          <a:prstGeom prst="rect">
            <a:avLst/>
          </a:prstGeom>
          <a:solidFill>
            <a:srgbClr val="FFD579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sp>
        <p:nvSpPr>
          <p:cNvPr id="66" name="Google Shape;2200;p40">
            <a:extLst>
              <a:ext uri="{FF2B5EF4-FFF2-40B4-BE49-F238E27FC236}">
                <a16:creationId xmlns:a16="http://schemas.microsoft.com/office/drawing/2014/main" id="{718CAEEB-36C3-C228-5DBD-65759AA79DEA}"/>
              </a:ext>
            </a:extLst>
          </p:cNvPr>
          <p:cNvSpPr txBox="1">
            <a:spLocks/>
          </p:cNvSpPr>
          <p:nvPr/>
        </p:nvSpPr>
        <p:spPr>
          <a:xfrm>
            <a:off x="8648159" y="5503928"/>
            <a:ext cx="2246073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Wearable AR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15824E3-0147-A4FB-7203-D174619CD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58" b="32234"/>
          <a:stretch>
            <a:fillRect/>
          </a:stretch>
        </p:blipFill>
        <p:spPr>
          <a:xfrm>
            <a:off x="4697747" y="4353195"/>
            <a:ext cx="2883476" cy="1239317"/>
          </a:xfrm>
          <a:prstGeom prst="rect">
            <a:avLst/>
          </a:prstGeom>
        </p:spPr>
      </p:pic>
      <p:sp>
        <p:nvSpPr>
          <p:cNvPr id="70" name="Google Shape;2200;p40">
            <a:extLst>
              <a:ext uri="{FF2B5EF4-FFF2-40B4-BE49-F238E27FC236}">
                <a16:creationId xmlns:a16="http://schemas.microsoft.com/office/drawing/2014/main" id="{9DC21730-07EB-FE80-B2C4-ED32327548B9}"/>
              </a:ext>
            </a:extLst>
          </p:cNvPr>
          <p:cNvSpPr txBox="1">
            <a:spLocks/>
          </p:cNvSpPr>
          <p:nvPr/>
        </p:nvSpPr>
        <p:spPr>
          <a:xfrm>
            <a:off x="5932594" y="2133824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>
              <a:lnSpc>
                <a:spcPts val="1700"/>
              </a:lnSpc>
            </a:pPr>
            <a:r>
              <a:rPr lang="en-US" b="1" dirty="0">
                <a:solidFill>
                  <a:schemeClr val="accent5"/>
                </a:solidFill>
              </a:rPr>
              <a:t>Mental reconstruction</a:t>
            </a:r>
          </a:p>
        </p:txBody>
      </p:sp>
      <p:sp>
        <p:nvSpPr>
          <p:cNvPr id="71" name="Google Shape;2200;p40">
            <a:extLst>
              <a:ext uri="{FF2B5EF4-FFF2-40B4-BE49-F238E27FC236}">
                <a16:creationId xmlns:a16="http://schemas.microsoft.com/office/drawing/2014/main" id="{F22AD7CE-A33B-F816-3AE4-983DD9D2D5C7}"/>
              </a:ext>
            </a:extLst>
          </p:cNvPr>
          <p:cNvSpPr txBox="1">
            <a:spLocks/>
          </p:cNvSpPr>
          <p:nvPr/>
        </p:nvSpPr>
        <p:spPr>
          <a:xfrm>
            <a:off x="4493731" y="3905591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Relative Relation</a:t>
            </a:r>
          </a:p>
        </p:txBody>
      </p:sp>
      <p:sp>
        <p:nvSpPr>
          <p:cNvPr id="72" name="Google Shape;2200;p40">
            <a:extLst>
              <a:ext uri="{FF2B5EF4-FFF2-40B4-BE49-F238E27FC236}">
                <a16:creationId xmlns:a16="http://schemas.microsoft.com/office/drawing/2014/main" id="{E28E03D4-B455-220C-514C-7EF6D3665A68}"/>
              </a:ext>
            </a:extLst>
          </p:cNvPr>
          <p:cNvSpPr txBox="1">
            <a:spLocks/>
          </p:cNvSpPr>
          <p:nvPr/>
        </p:nvSpPr>
        <p:spPr>
          <a:xfrm>
            <a:off x="6080052" y="3851761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Perspective taking</a:t>
            </a:r>
          </a:p>
        </p:txBody>
      </p:sp>
      <p:sp>
        <p:nvSpPr>
          <p:cNvPr id="73" name="Google Shape;2200;p40">
            <a:extLst>
              <a:ext uri="{FF2B5EF4-FFF2-40B4-BE49-F238E27FC236}">
                <a16:creationId xmlns:a16="http://schemas.microsoft.com/office/drawing/2014/main" id="{8B08774D-28F4-9BA7-AA9B-77C361F0446A}"/>
              </a:ext>
            </a:extLst>
          </p:cNvPr>
          <p:cNvSpPr txBox="1">
            <a:spLocks/>
          </p:cNvSpPr>
          <p:nvPr/>
        </p:nvSpPr>
        <p:spPr>
          <a:xfrm>
            <a:off x="4450931" y="5493310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Mental rotation</a:t>
            </a:r>
          </a:p>
        </p:txBody>
      </p:sp>
      <p:sp>
        <p:nvSpPr>
          <p:cNvPr id="74" name="Google Shape;2200;p40">
            <a:extLst>
              <a:ext uri="{FF2B5EF4-FFF2-40B4-BE49-F238E27FC236}">
                <a16:creationId xmlns:a16="http://schemas.microsoft.com/office/drawing/2014/main" id="{19909A82-4D10-F1DB-C002-2B3C47237663}"/>
              </a:ext>
            </a:extLst>
          </p:cNvPr>
          <p:cNvSpPr txBox="1">
            <a:spLocks/>
          </p:cNvSpPr>
          <p:nvPr/>
        </p:nvSpPr>
        <p:spPr>
          <a:xfrm>
            <a:off x="6021558" y="5503928"/>
            <a:ext cx="158137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Multi-step</a:t>
            </a:r>
          </a:p>
        </p:txBody>
      </p:sp>
      <p:sp>
        <p:nvSpPr>
          <p:cNvPr id="75" name="Rectangle: Rounded Corners 4106">
            <a:extLst>
              <a:ext uri="{FF2B5EF4-FFF2-40B4-BE49-F238E27FC236}">
                <a16:creationId xmlns:a16="http://schemas.microsoft.com/office/drawing/2014/main" id="{EFDA2908-F7B9-65DF-C700-74EEB4434A03}"/>
              </a:ext>
            </a:extLst>
          </p:cNvPr>
          <p:cNvSpPr/>
          <p:nvPr/>
        </p:nvSpPr>
        <p:spPr bwMode="auto">
          <a:xfrm>
            <a:off x="4322361" y="904506"/>
            <a:ext cx="3455994" cy="5125342"/>
          </a:xfrm>
          <a:prstGeom prst="roundRect">
            <a:avLst>
              <a:gd name="adj" fmla="val 4890"/>
            </a:avLst>
          </a:prstGeom>
          <a:noFill/>
          <a:ln w="38100">
            <a:solidFill>
              <a:srgbClr val="FF7E79"/>
            </a:solidFill>
            <a:prstDash val="das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391">
              <a:defRPr/>
            </a:pPr>
            <a:endParaRPr lang="en-US" sz="162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E379D337-C2BC-A689-F0B3-467135DC3D9B}"/>
              </a:ext>
            </a:extLst>
          </p:cNvPr>
          <p:cNvSpPr/>
          <p:nvPr/>
        </p:nvSpPr>
        <p:spPr>
          <a:xfrm>
            <a:off x="3939889" y="3203323"/>
            <a:ext cx="327378" cy="696956"/>
          </a:xfrm>
          <a:prstGeom prst="rightArrow">
            <a:avLst/>
          </a:prstGeom>
          <a:solidFill>
            <a:srgbClr val="FF7E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19F998C-450B-C786-6D3E-61A8CA0EF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42" t="6862" r="33615"/>
          <a:stretch>
            <a:fillRect/>
          </a:stretch>
        </p:blipFill>
        <p:spPr>
          <a:xfrm>
            <a:off x="1190890" y="2898841"/>
            <a:ext cx="2537170" cy="108046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1D50720-87B0-308B-4856-A2618588C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509" t="6862" r="1373"/>
          <a:stretch>
            <a:fillRect/>
          </a:stretch>
        </p:blipFill>
        <p:spPr>
          <a:xfrm>
            <a:off x="1225386" y="3911764"/>
            <a:ext cx="2496353" cy="1080460"/>
          </a:xfrm>
          <a:prstGeom prst="rect">
            <a:avLst/>
          </a:prstGeom>
        </p:spPr>
      </p:pic>
      <p:sp>
        <p:nvSpPr>
          <p:cNvPr id="79" name="Rectangle: Rounded Corners 4106">
            <a:extLst>
              <a:ext uri="{FF2B5EF4-FFF2-40B4-BE49-F238E27FC236}">
                <a16:creationId xmlns:a16="http://schemas.microsoft.com/office/drawing/2014/main" id="{B748B237-F7E9-5829-36C5-72FC7F4474F4}"/>
              </a:ext>
            </a:extLst>
          </p:cNvPr>
          <p:cNvSpPr/>
          <p:nvPr/>
        </p:nvSpPr>
        <p:spPr bwMode="auto">
          <a:xfrm>
            <a:off x="1071063" y="1740859"/>
            <a:ext cx="2766818" cy="3413989"/>
          </a:xfrm>
          <a:prstGeom prst="roundRect">
            <a:avLst>
              <a:gd name="adj" fmla="val 4890"/>
            </a:avLst>
          </a:prstGeom>
          <a:noFill/>
          <a:ln w="38100">
            <a:solidFill>
              <a:srgbClr val="FF7E79"/>
            </a:solidFill>
            <a:prstDash val="dash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391">
              <a:defRPr/>
            </a:pPr>
            <a:endParaRPr lang="en-US" sz="162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8272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1073-DB37-C23E-9A97-5BCE9B3E5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218E34B5-2BEB-EC31-6227-862753E62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B5A2FDDC-69AF-46C5-BAE5-B24E7310929B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performance gap between VLMs and humans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B06FA-406B-57D8-43DC-7D5409AB3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15" y="1684684"/>
            <a:ext cx="7040880" cy="1659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ED2139-B1A1-1B6A-5AE5-177E8FF65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" y="3702977"/>
            <a:ext cx="7040880" cy="248198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32C00E4-1FB3-3E37-4450-B8EA6F96D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620" y="1303168"/>
            <a:ext cx="4635685" cy="3556478"/>
          </a:xfrm>
          <a:prstGeom prst="rect">
            <a:avLst/>
          </a:prstGeom>
        </p:spPr>
      </p:pic>
      <p:pic>
        <p:nvPicPr>
          <p:cNvPr id="1026" name="Picture 2" descr="chat gpt logo | MotionGraphicPlus">
            <a:extLst>
              <a:ext uri="{FF2B5EF4-FFF2-40B4-BE49-F238E27FC236}">
                <a16:creationId xmlns:a16="http://schemas.microsoft.com/office/drawing/2014/main" id="{4DF5FBE1-25B2-2A2D-C490-F3C482591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7" y="847991"/>
            <a:ext cx="2126898" cy="77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Google Shape;2200;p40">
            <a:extLst>
              <a:ext uri="{FF2B5EF4-FFF2-40B4-BE49-F238E27FC236}">
                <a16:creationId xmlns:a16="http://schemas.microsoft.com/office/drawing/2014/main" id="{563D019F-15FD-2759-0D4C-41E3A5B58B89}"/>
              </a:ext>
            </a:extLst>
          </p:cNvPr>
          <p:cNvSpPr txBox="1">
            <a:spLocks/>
          </p:cNvSpPr>
          <p:nvPr/>
        </p:nvSpPr>
        <p:spPr>
          <a:xfrm>
            <a:off x="3022939" y="3081407"/>
            <a:ext cx="463568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Reasoning based on 2d pixel space</a:t>
            </a:r>
          </a:p>
        </p:txBody>
      </p:sp>
      <p:pic>
        <p:nvPicPr>
          <p:cNvPr id="1024" name="Picture 10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D0193B8-0012-0C36-0C6F-DF700C657A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3338" y="2985756"/>
            <a:ext cx="717223" cy="717223"/>
          </a:xfrm>
          <a:prstGeom prst="rect">
            <a:avLst/>
          </a:prstGeom>
        </p:spPr>
      </p:pic>
      <p:pic>
        <p:nvPicPr>
          <p:cNvPr id="1025" name="Picture 10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21F6B3F-9E02-BF1F-2E1A-D7E8FB1CD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3337" y="5282391"/>
            <a:ext cx="717223" cy="717223"/>
          </a:xfrm>
          <a:prstGeom prst="rect">
            <a:avLst/>
          </a:prstGeom>
        </p:spPr>
      </p:pic>
      <p:sp>
        <p:nvSpPr>
          <p:cNvPr id="1027" name="Google Shape;2200;p40">
            <a:extLst>
              <a:ext uri="{FF2B5EF4-FFF2-40B4-BE49-F238E27FC236}">
                <a16:creationId xmlns:a16="http://schemas.microsoft.com/office/drawing/2014/main" id="{0842FA10-EDBA-782E-7271-C2911250B7E9}"/>
              </a:ext>
            </a:extLst>
          </p:cNvPr>
          <p:cNvSpPr txBox="1">
            <a:spLocks/>
          </p:cNvSpPr>
          <p:nvPr/>
        </p:nvSpPr>
        <p:spPr>
          <a:xfrm>
            <a:off x="2646311" y="5378042"/>
            <a:ext cx="4635684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rgbClr val="C00000"/>
                </a:solidFill>
              </a:rPr>
              <a:t>Struggle in mental rotation</a:t>
            </a:r>
          </a:p>
        </p:txBody>
      </p:sp>
      <p:cxnSp>
        <p:nvCxnSpPr>
          <p:cNvPr id="1031" name="Straight Connector 1030">
            <a:extLst>
              <a:ext uri="{FF2B5EF4-FFF2-40B4-BE49-F238E27FC236}">
                <a16:creationId xmlns:a16="http://schemas.microsoft.com/office/drawing/2014/main" id="{42B90E48-4219-3980-2053-3CCF5D40F19A}"/>
              </a:ext>
            </a:extLst>
          </p:cNvPr>
          <p:cNvCxnSpPr>
            <a:cxnSpLocks/>
          </p:cNvCxnSpPr>
          <p:nvPr/>
        </p:nvCxnSpPr>
        <p:spPr>
          <a:xfrm>
            <a:off x="7456602" y="1337373"/>
            <a:ext cx="0" cy="4666454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Google Shape;2200;p40">
            <a:extLst>
              <a:ext uri="{FF2B5EF4-FFF2-40B4-BE49-F238E27FC236}">
                <a16:creationId xmlns:a16="http://schemas.microsoft.com/office/drawing/2014/main" id="{5192A166-E0C8-12CF-1999-492C6B04A0BA}"/>
              </a:ext>
            </a:extLst>
          </p:cNvPr>
          <p:cNvSpPr txBox="1">
            <a:spLocks/>
          </p:cNvSpPr>
          <p:nvPr/>
        </p:nvSpPr>
        <p:spPr>
          <a:xfrm>
            <a:off x="7990627" y="5019431"/>
            <a:ext cx="3643670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Human</a:t>
            </a:r>
            <a:r>
              <a:rPr lang="en-US" sz="2000" b="1" dirty="0">
                <a:solidFill>
                  <a:srgbClr val="C00000"/>
                </a:solidFill>
              </a:rPr>
              <a:t> VS </a:t>
            </a:r>
            <a:r>
              <a:rPr lang="en-US" sz="2000" b="1" dirty="0">
                <a:solidFill>
                  <a:schemeClr val="tx1"/>
                </a:solidFill>
              </a:rPr>
              <a:t>Proprietary models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VS </a:t>
            </a:r>
            <a:r>
              <a:rPr lang="en-US" sz="2000" b="1" dirty="0">
                <a:solidFill>
                  <a:schemeClr val="tx1"/>
                </a:solidFill>
              </a:rPr>
              <a:t>Open-sourced general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4B878-519E-8C91-959F-A675EFE46141}"/>
              </a:ext>
            </a:extLst>
          </p:cNvPr>
          <p:cNvSpPr txBox="1"/>
          <p:nvPr/>
        </p:nvSpPr>
        <p:spPr>
          <a:xfrm>
            <a:off x="1274758" y="6362436"/>
            <a:ext cx="68120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Has GPT-5 Achieved Spatial Intelligence? An Empirical Study</a:t>
            </a:r>
          </a:p>
        </p:txBody>
      </p:sp>
    </p:spTree>
    <p:extLst>
      <p:ext uri="{BB962C8B-B14F-4D97-AF65-F5344CB8AC3E}">
        <p14:creationId xmlns:p14="http://schemas.microsoft.com/office/powerpoint/2010/main" val="407311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202F9-C51A-3CAB-5E88-05249F3A7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B6571FCE-F6D7-89EC-909C-CA2BB372E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11AF52D5-BA79-973E-5419-740C9C90174C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we solve spatial reasoning by further scaling training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16484-FA93-624E-8708-614AC73A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28" t="3173" r="68840" b="52112"/>
          <a:stretch>
            <a:fillRect/>
          </a:stretch>
        </p:blipFill>
        <p:spPr>
          <a:xfrm>
            <a:off x="631595" y="3749621"/>
            <a:ext cx="3676454" cy="24509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A1B3C2-53A5-D760-17EA-19ACBDE2B8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199" t="51731" r="2515" b="4602"/>
          <a:stretch>
            <a:fillRect/>
          </a:stretch>
        </p:blipFill>
        <p:spPr>
          <a:xfrm>
            <a:off x="4958498" y="3840747"/>
            <a:ext cx="3498863" cy="2359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8FB52D-620B-DAB9-AD67-F6F2C43F9563}"/>
              </a:ext>
            </a:extLst>
          </p:cNvPr>
          <p:cNvSpPr txBox="1"/>
          <p:nvPr/>
        </p:nvSpPr>
        <p:spPr>
          <a:xfrm>
            <a:off x="484137" y="788989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Spatial reasoning is not "emerging" at the same rate as other language or vision capabilities</a:t>
            </a:r>
          </a:p>
        </p:txBody>
      </p:sp>
      <p:sp>
        <p:nvSpPr>
          <p:cNvPr id="9" name="Google Shape;2200;p40">
            <a:extLst>
              <a:ext uri="{FF2B5EF4-FFF2-40B4-BE49-F238E27FC236}">
                <a16:creationId xmlns:a16="http://schemas.microsoft.com/office/drawing/2014/main" id="{B1E35627-C19B-AE17-7849-BCDD70BB352B}"/>
              </a:ext>
            </a:extLst>
          </p:cNvPr>
          <p:cNvSpPr txBox="1">
            <a:spLocks/>
          </p:cNvSpPr>
          <p:nvPr/>
        </p:nvSpPr>
        <p:spPr>
          <a:xfrm>
            <a:off x="1351572" y="6289529"/>
            <a:ext cx="2236500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Measurement Task</a:t>
            </a:r>
          </a:p>
        </p:txBody>
      </p:sp>
      <p:sp>
        <p:nvSpPr>
          <p:cNvPr id="10" name="Google Shape;2200;p40">
            <a:extLst>
              <a:ext uri="{FF2B5EF4-FFF2-40B4-BE49-F238E27FC236}">
                <a16:creationId xmlns:a16="http://schemas.microsoft.com/office/drawing/2014/main" id="{9D312427-7C24-70D4-772F-A5DF37BC4BBD}"/>
              </a:ext>
            </a:extLst>
          </p:cNvPr>
          <p:cNvSpPr txBox="1">
            <a:spLocks/>
          </p:cNvSpPr>
          <p:nvPr/>
        </p:nvSpPr>
        <p:spPr>
          <a:xfrm>
            <a:off x="5382378" y="6289528"/>
            <a:ext cx="2651102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Multi-step reasoning task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E6E824-8AC8-D25E-5E2D-4663DC138E10}"/>
              </a:ext>
            </a:extLst>
          </p:cNvPr>
          <p:cNvCxnSpPr/>
          <p:nvPr/>
        </p:nvCxnSpPr>
        <p:spPr>
          <a:xfrm>
            <a:off x="1659117" y="3902414"/>
            <a:ext cx="0" cy="21453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9C8053-D9FC-0DDC-32DD-CC4C08E4B319}"/>
              </a:ext>
            </a:extLst>
          </p:cNvPr>
          <p:cNvCxnSpPr/>
          <p:nvPr/>
        </p:nvCxnSpPr>
        <p:spPr>
          <a:xfrm>
            <a:off x="5912177" y="3863134"/>
            <a:ext cx="0" cy="21453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oogle Shape;2200;p40">
            <a:extLst>
              <a:ext uri="{FF2B5EF4-FFF2-40B4-BE49-F238E27FC236}">
                <a16:creationId xmlns:a16="http://schemas.microsoft.com/office/drawing/2014/main" id="{23F59A19-697B-EC60-DCFB-C41C6120E679}"/>
              </a:ext>
            </a:extLst>
          </p:cNvPr>
          <p:cNvSpPr txBox="1">
            <a:spLocks/>
          </p:cNvSpPr>
          <p:nvPr/>
        </p:nvSpPr>
        <p:spPr>
          <a:xfrm>
            <a:off x="-116500" y="3429000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16" name="Google Shape;2200;p40">
            <a:extLst>
              <a:ext uri="{FF2B5EF4-FFF2-40B4-BE49-F238E27FC236}">
                <a16:creationId xmlns:a16="http://schemas.microsoft.com/office/drawing/2014/main" id="{F17D88C6-DD09-EDDA-EBD9-AC2AAAEB3B57}"/>
              </a:ext>
            </a:extLst>
          </p:cNvPr>
          <p:cNvSpPr txBox="1">
            <a:spLocks/>
          </p:cNvSpPr>
          <p:nvPr/>
        </p:nvSpPr>
        <p:spPr>
          <a:xfrm>
            <a:off x="4044402" y="3464144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17" name="Google Shape;2200;p40">
            <a:extLst>
              <a:ext uri="{FF2B5EF4-FFF2-40B4-BE49-F238E27FC236}">
                <a16:creationId xmlns:a16="http://schemas.microsoft.com/office/drawing/2014/main" id="{9AB990E2-C445-6713-BEDE-6E4FD43E84ED}"/>
              </a:ext>
            </a:extLst>
          </p:cNvPr>
          <p:cNvSpPr txBox="1">
            <a:spLocks/>
          </p:cNvSpPr>
          <p:nvPr/>
        </p:nvSpPr>
        <p:spPr>
          <a:xfrm>
            <a:off x="2787370" y="6047798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Data volume</a:t>
            </a:r>
          </a:p>
        </p:txBody>
      </p:sp>
      <p:sp>
        <p:nvSpPr>
          <p:cNvPr id="18" name="Google Shape;2200;p40">
            <a:extLst>
              <a:ext uri="{FF2B5EF4-FFF2-40B4-BE49-F238E27FC236}">
                <a16:creationId xmlns:a16="http://schemas.microsoft.com/office/drawing/2014/main" id="{4165A77C-80AC-78F7-AB4D-6C0929F4EE9C}"/>
              </a:ext>
            </a:extLst>
          </p:cNvPr>
          <p:cNvSpPr txBox="1">
            <a:spLocks/>
          </p:cNvSpPr>
          <p:nvPr/>
        </p:nvSpPr>
        <p:spPr>
          <a:xfrm>
            <a:off x="6865857" y="5982667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</a:rPr>
              <a:t>Data volume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B2F5E7-8A41-4F4D-B3B8-C5084F6B68A0}"/>
              </a:ext>
            </a:extLst>
          </p:cNvPr>
          <p:cNvSpPr/>
          <p:nvPr/>
        </p:nvSpPr>
        <p:spPr>
          <a:xfrm>
            <a:off x="1753386" y="3954919"/>
            <a:ext cx="2485135" cy="27154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3E0BB58-F121-0D92-BC15-9B573F204857}"/>
              </a:ext>
            </a:extLst>
          </p:cNvPr>
          <p:cNvSpPr/>
          <p:nvPr/>
        </p:nvSpPr>
        <p:spPr>
          <a:xfrm>
            <a:off x="6002250" y="3972491"/>
            <a:ext cx="2485135" cy="27154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E3C555-8F17-13E4-E685-6996EC7636CC}"/>
              </a:ext>
            </a:extLst>
          </p:cNvPr>
          <p:cNvCxnSpPr>
            <a:cxnSpLocks/>
          </p:cNvCxnSpPr>
          <p:nvPr/>
        </p:nvCxnSpPr>
        <p:spPr>
          <a:xfrm>
            <a:off x="1110518" y="2827473"/>
            <a:ext cx="2318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94DBCE-D2F9-DADE-CB58-B19E81A45359}"/>
              </a:ext>
            </a:extLst>
          </p:cNvPr>
          <p:cNvCxnSpPr>
            <a:cxnSpLocks/>
          </p:cNvCxnSpPr>
          <p:nvPr/>
        </p:nvCxnSpPr>
        <p:spPr>
          <a:xfrm flipV="1">
            <a:off x="1203592" y="1498293"/>
            <a:ext cx="0" cy="132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Google Shape;2200;p40">
            <a:extLst>
              <a:ext uri="{FF2B5EF4-FFF2-40B4-BE49-F238E27FC236}">
                <a16:creationId xmlns:a16="http://schemas.microsoft.com/office/drawing/2014/main" id="{3FA8D89C-5A1E-BA5E-627A-83514B18DB47}"/>
              </a:ext>
            </a:extLst>
          </p:cNvPr>
          <p:cNvSpPr txBox="1">
            <a:spLocks/>
          </p:cNvSpPr>
          <p:nvPr/>
        </p:nvSpPr>
        <p:spPr>
          <a:xfrm>
            <a:off x="1312020" y="1204033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rgbClr val="C00000"/>
                </a:solidFill>
              </a:rPr>
              <a:t>Basic cognition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56DF11-6A14-57B9-59CF-53B9694B9ABE}"/>
              </a:ext>
            </a:extLst>
          </p:cNvPr>
          <p:cNvSpPr/>
          <p:nvPr/>
        </p:nvSpPr>
        <p:spPr>
          <a:xfrm>
            <a:off x="1478163" y="1875365"/>
            <a:ext cx="320512" cy="94425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EC617E-9940-E229-1339-975C419FD7F0}"/>
              </a:ext>
            </a:extLst>
          </p:cNvPr>
          <p:cNvSpPr/>
          <p:nvPr/>
        </p:nvSpPr>
        <p:spPr>
          <a:xfrm>
            <a:off x="2137154" y="1873793"/>
            <a:ext cx="320512" cy="9442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A05C23-764F-6127-EC9B-E1C559E6B99E}"/>
              </a:ext>
            </a:extLst>
          </p:cNvPr>
          <p:cNvSpPr/>
          <p:nvPr/>
        </p:nvSpPr>
        <p:spPr>
          <a:xfrm>
            <a:off x="2796145" y="2140476"/>
            <a:ext cx="320512" cy="67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Google Shape;2200;p40">
            <a:extLst>
              <a:ext uri="{FF2B5EF4-FFF2-40B4-BE49-F238E27FC236}">
                <a16:creationId xmlns:a16="http://schemas.microsoft.com/office/drawing/2014/main" id="{3D2F1AFB-C18C-47C1-1573-552A4A1439A8}"/>
              </a:ext>
            </a:extLst>
          </p:cNvPr>
          <p:cNvSpPr txBox="1">
            <a:spLocks/>
          </p:cNvSpPr>
          <p:nvPr/>
        </p:nvSpPr>
        <p:spPr>
          <a:xfrm>
            <a:off x="1129372" y="2758742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31" name="Google Shape;2200;p40">
            <a:extLst>
              <a:ext uri="{FF2B5EF4-FFF2-40B4-BE49-F238E27FC236}">
                <a16:creationId xmlns:a16="http://schemas.microsoft.com/office/drawing/2014/main" id="{94DFA557-BBF5-F894-E93F-D3F5BC136E64}"/>
              </a:ext>
            </a:extLst>
          </p:cNvPr>
          <p:cNvSpPr txBox="1">
            <a:spLocks/>
          </p:cNvSpPr>
          <p:nvPr/>
        </p:nvSpPr>
        <p:spPr>
          <a:xfrm>
            <a:off x="1818564" y="2777221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GPT5</a:t>
            </a:r>
          </a:p>
        </p:txBody>
      </p:sp>
      <p:sp>
        <p:nvSpPr>
          <p:cNvPr id="32" name="Google Shape;2200;p40">
            <a:extLst>
              <a:ext uri="{FF2B5EF4-FFF2-40B4-BE49-F238E27FC236}">
                <a16:creationId xmlns:a16="http://schemas.microsoft.com/office/drawing/2014/main" id="{EA2625D5-BEB7-BABB-01C1-19DDA3A100B7}"/>
              </a:ext>
            </a:extLst>
          </p:cNvPr>
          <p:cNvSpPr txBox="1">
            <a:spLocks/>
          </p:cNvSpPr>
          <p:nvPr/>
        </p:nvSpPr>
        <p:spPr>
          <a:xfrm>
            <a:off x="2469456" y="2772351"/>
            <a:ext cx="1129295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InternVL3</a:t>
            </a:r>
          </a:p>
        </p:txBody>
      </p:sp>
      <p:sp>
        <p:nvSpPr>
          <p:cNvPr id="33" name="Google Shape;2200;p40">
            <a:extLst>
              <a:ext uri="{FF2B5EF4-FFF2-40B4-BE49-F238E27FC236}">
                <a16:creationId xmlns:a16="http://schemas.microsoft.com/office/drawing/2014/main" id="{70F99F90-490A-B24F-ED5A-ED6112347431}"/>
              </a:ext>
            </a:extLst>
          </p:cNvPr>
          <p:cNvSpPr txBox="1">
            <a:spLocks/>
          </p:cNvSpPr>
          <p:nvPr/>
        </p:nvSpPr>
        <p:spPr>
          <a:xfrm>
            <a:off x="1140719" y="1542856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79</a:t>
            </a:r>
          </a:p>
        </p:txBody>
      </p:sp>
      <p:sp>
        <p:nvSpPr>
          <p:cNvPr id="34" name="Google Shape;2200;p40">
            <a:extLst>
              <a:ext uri="{FF2B5EF4-FFF2-40B4-BE49-F238E27FC236}">
                <a16:creationId xmlns:a16="http://schemas.microsoft.com/office/drawing/2014/main" id="{E589311A-17B7-A9CE-099C-3C6868FF8464}"/>
              </a:ext>
            </a:extLst>
          </p:cNvPr>
          <p:cNvSpPr txBox="1">
            <a:spLocks/>
          </p:cNvSpPr>
          <p:nvPr/>
        </p:nvSpPr>
        <p:spPr>
          <a:xfrm>
            <a:off x="1818563" y="1532390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78</a:t>
            </a:r>
          </a:p>
        </p:txBody>
      </p:sp>
      <p:sp>
        <p:nvSpPr>
          <p:cNvPr id="35" name="Google Shape;2200;p40">
            <a:extLst>
              <a:ext uri="{FF2B5EF4-FFF2-40B4-BE49-F238E27FC236}">
                <a16:creationId xmlns:a16="http://schemas.microsoft.com/office/drawing/2014/main" id="{7D9ACD97-8454-2DB7-C6AD-A9FF6BEB4A87}"/>
              </a:ext>
            </a:extLst>
          </p:cNvPr>
          <p:cNvSpPr txBox="1">
            <a:spLocks/>
          </p:cNvSpPr>
          <p:nvPr/>
        </p:nvSpPr>
        <p:spPr>
          <a:xfrm>
            <a:off x="2477555" y="1806217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51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377E5DC-2C03-5FDF-F47A-2802F26174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8" t="8899" r="81290" b="49126"/>
          <a:stretch>
            <a:fillRect/>
          </a:stretch>
        </p:blipFill>
        <p:spPr>
          <a:xfrm>
            <a:off x="3814327" y="1269152"/>
            <a:ext cx="1217323" cy="9408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DBC6E0E-BC51-F555-280F-526123CA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306" t="57719" r="50520" b="3909"/>
          <a:stretch>
            <a:fillRect/>
          </a:stretch>
        </p:blipFill>
        <p:spPr>
          <a:xfrm>
            <a:off x="5098074" y="2201909"/>
            <a:ext cx="1101724" cy="86008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8441A6D-5AB7-3B09-3DD4-669C1B980E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29" t="56257" r="64989" b="5800"/>
          <a:stretch>
            <a:fillRect/>
          </a:stretch>
        </p:blipFill>
        <p:spPr>
          <a:xfrm>
            <a:off x="3828315" y="2207547"/>
            <a:ext cx="1203335" cy="85044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AFD3B1D-DA64-7937-2AEB-235EB5D5BA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611" t="8294" r="1728" b="49731"/>
          <a:stretch>
            <a:fillRect/>
          </a:stretch>
        </p:blipFill>
        <p:spPr>
          <a:xfrm>
            <a:off x="5077461" y="1254332"/>
            <a:ext cx="1217323" cy="940850"/>
          </a:xfrm>
          <a:prstGeom prst="rect">
            <a:avLst/>
          </a:prstGeom>
        </p:spPr>
      </p:pic>
      <p:sp>
        <p:nvSpPr>
          <p:cNvPr id="40" name="Rounded Rectangular Callout 39">
            <a:extLst>
              <a:ext uri="{FF2B5EF4-FFF2-40B4-BE49-F238E27FC236}">
                <a16:creationId xmlns:a16="http://schemas.microsoft.com/office/drawing/2014/main" id="{342F3FC5-FC26-E3CA-0E86-BC009F5702D9}"/>
              </a:ext>
            </a:extLst>
          </p:cNvPr>
          <p:cNvSpPr/>
          <p:nvPr/>
        </p:nvSpPr>
        <p:spPr>
          <a:xfrm>
            <a:off x="3654319" y="1215330"/>
            <a:ext cx="2706712" cy="1994844"/>
          </a:xfrm>
          <a:prstGeom prst="wedgeRoundRectCallout">
            <a:avLst>
              <a:gd name="adj1" fmla="val -72663"/>
              <a:gd name="adj2" fmla="val -35833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8532F8A-26A8-650B-9838-2C9D311697CF}"/>
              </a:ext>
            </a:extLst>
          </p:cNvPr>
          <p:cNvCxnSpPr>
            <a:cxnSpLocks/>
          </p:cNvCxnSpPr>
          <p:nvPr/>
        </p:nvCxnSpPr>
        <p:spPr>
          <a:xfrm>
            <a:off x="7389302" y="2856170"/>
            <a:ext cx="2318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AF0CD58-AEBC-642D-022B-A9DDD1467EA8}"/>
              </a:ext>
            </a:extLst>
          </p:cNvPr>
          <p:cNvCxnSpPr>
            <a:cxnSpLocks/>
          </p:cNvCxnSpPr>
          <p:nvPr/>
        </p:nvCxnSpPr>
        <p:spPr>
          <a:xfrm flipV="1">
            <a:off x="7482376" y="1526990"/>
            <a:ext cx="0" cy="132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Google Shape;2200;p40">
            <a:extLst>
              <a:ext uri="{FF2B5EF4-FFF2-40B4-BE49-F238E27FC236}">
                <a16:creationId xmlns:a16="http://schemas.microsoft.com/office/drawing/2014/main" id="{1FAC8D8F-D98F-F2E2-2B0E-B63B998B34EC}"/>
              </a:ext>
            </a:extLst>
          </p:cNvPr>
          <p:cNvSpPr txBox="1">
            <a:spLocks/>
          </p:cNvSpPr>
          <p:nvPr/>
        </p:nvSpPr>
        <p:spPr>
          <a:xfrm>
            <a:off x="7520689" y="1137051"/>
            <a:ext cx="2025285" cy="52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sz="1800" b="1" dirty="0">
                <a:solidFill>
                  <a:srgbClr val="C00000"/>
                </a:solidFill>
              </a:rPr>
              <a:t>Spatial reasoning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31A656-208C-9BD9-47E2-394CDD5EBD10}"/>
              </a:ext>
            </a:extLst>
          </p:cNvPr>
          <p:cNvSpPr/>
          <p:nvPr/>
        </p:nvSpPr>
        <p:spPr>
          <a:xfrm>
            <a:off x="7756947" y="1748664"/>
            <a:ext cx="320512" cy="109965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39AA3EF-FF72-F745-D2F9-C73C820DB2BE}"/>
              </a:ext>
            </a:extLst>
          </p:cNvPr>
          <p:cNvSpPr/>
          <p:nvPr/>
        </p:nvSpPr>
        <p:spPr>
          <a:xfrm>
            <a:off x="8415938" y="2497923"/>
            <a:ext cx="320512" cy="34882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D9EA900-94BE-D8FE-87AE-1F97DC4DD942}"/>
              </a:ext>
            </a:extLst>
          </p:cNvPr>
          <p:cNvSpPr/>
          <p:nvPr/>
        </p:nvSpPr>
        <p:spPr>
          <a:xfrm>
            <a:off x="9074929" y="2586635"/>
            <a:ext cx="320512" cy="2608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oogle Shape;2200;p40">
            <a:extLst>
              <a:ext uri="{FF2B5EF4-FFF2-40B4-BE49-F238E27FC236}">
                <a16:creationId xmlns:a16="http://schemas.microsoft.com/office/drawing/2014/main" id="{2472C4B2-40B0-0DC8-295C-6AE34BA3617C}"/>
              </a:ext>
            </a:extLst>
          </p:cNvPr>
          <p:cNvSpPr txBox="1">
            <a:spLocks/>
          </p:cNvSpPr>
          <p:nvPr/>
        </p:nvSpPr>
        <p:spPr>
          <a:xfrm>
            <a:off x="7408156" y="278743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48" name="Google Shape;2200;p40">
            <a:extLst>
              <a:ext uri="{FF2B5EF4-FFF2-40B4-BE49-F238E27FC236}">
                <a16:creationId xmlns:a16="http://schemas.microsoft.com/office/drawing/2014/main" id="{165016AB-0926-AD20-5F55-D2278E8024DC}"/>
              </a:ext>
            </a:extLst>
          </p:cNvPr>
          <p:cNvSpPr txBox="1">
            <a:spLocks/>
          </p:cNvSpPr>
          <p:nvPr/>
        </p:nvSpPr>
        <p:spPr>
          <a:xfrm>
            <a:off x="8097348" y="2805918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GPT5</a:t>
            </a:r>
          </a:p>
        </p:txBody>
      </p:sp>
      <p:sp>
        <p:nvSpPr>
          <p:cNvPr id="49" name="Google Shape;2200;p40">
            <a:extLst>
              <a:ext uri="{FF2B5EF4-FFF2-40B4-BE49-F238E27FC236}">
                <a16:creationId xmlns:a16="http://schemas.microsoft.com/office/drawing/2014/main" id="{0CFE511C-EF3D-07F9-DE10-A29EF07E8F86}"/>
              </a:ext>
            </a:extLst>
          </p:cNvPr>
          <p:cNvSpPr txBox="1">
            <a:spLocks/>
          </p:cNvSpPr>
          <p:nvPr/>
        </p:nvSpPr>
        <p:spPr>
          <a:xfrm>
            <a:off x="8748240" y="2801048"/>
            <a:ext cx="1129295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InternVL3</a:t>
            </a:r>
          </a:p>
        </p:txBody>
      </p:sp>
      <p:sp>
        <p:nvSpPr>
          <p:cNvPr id="50" name="Google Shape;2200;p40">
            <a:extLst>
              <a:ext uri="{FF2B5EF4-FFF2-40B4-BE49-F238E27FC236}">
                <a16:creationId xmlns:a16="http://schemas.microsoft.com/office/drawing/2014/main" id="{79D9205F-3650-54E2-A2CF-99FF87E7B420}"/>
              </a:ext>
            </a:extLst>
          </p:cNvPr>
          <p:cNvSpPr txBox="1">
            <a:spLocks/>
          </p:cNvSpPr>
          <p:nvPr/>
        </p:nvSpPr>
        <p:spPr>
          <a:xfrm>
            <a:off x="7438355" y="1409438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95</a:t>
            </a:r>
          </a:p>
        </p:txBody>
      </p:sp>
      <p:sp>
        <p:nvSpPr>
          <p:cNvPr id="51" name="Google Shape;2200;p40">
            <a:extLst>
              <a:ext uri="{FF2B5EF4-FFF2-40B4-BE49-F238E27FC236}">
                <a16:creationId xmlns:a16="http://schemas.microsoft.com/office/drawing/2014/main" id="{882424DE-9B0E-5361-737B-A8D97B33976C}"/>
              </a:ext>
            </a:extLst>
          </p:cNvPr>
          <p:cNvSpPr txBox="1">
            <a:spLocks/>
          </p:cNvSpPr>
          <p:nvPr/>
        </p:nvSpPr>
        <p:spPr>
          <a:xfrm>
            <a:off x="8097347" y="214290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2" name="Google Shape;2200;p40">
            <a:extLst>
              <a:ext uri="{FF2B5EF4-FFF2-40B4-BE49-F238E27FC236}">
                <a16:creationId xmlns:a16="http://schemas.microsoft.com/office/drawing/2014/main" id="{A7527C71-A256-82FA-5555-C4DE73FF4FD2}"/>
              </a:ext>
            </a:extLst>
          </p:cNvPr>
          <p:cNvSpPr txBox="1">
            <a:spLocks/>
          </p:cNvSpPr>
          <p:nvPr/>
        </p:nvSpPr>
        <p:spPr>
          <a:xfrm>
            <a:off x="8786541" y="2212685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9B7EDB5-2D46-5A54-2395-E0C87D8479A0}"/>
              </a:ext>
            </a:extLst>
          </p:cNvPr>
          <p:cNvCxnSpPr>
            <a:cxnSpLocks/>
          </p:cNvCxnSpPr>
          <p:nvPr/>
        </p:nvCxnSpPr>
        <p:spPr>
          <a:xfrm>
            <a:off x="386499" y="3318235"/>
            <a:ext cx="10878532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F45FB6-4B40-6077-8B34-B35B766549E6}"/>
              </a:ext>
            </a:extLst>
          </p:cNvPr>
          <p:cNvSpPr txBox="1"/>
          <p:nvPr/>
        </p:nvSpPr>
        <p:spPr>
          <a:xfrm>
            <a:off x="8547433" y="3906024"/>
            <a:ext cx="3498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C00000"/>
                </a:solidFill>
                <a:effectLst/>
                <a:latin typeface="Inter"/>
              </a:rPr>
              <a:t>Plateaued after 2M data samples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054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BF06-5AE9-7A0D-8E5C-6684ACEDF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31CB2A4-02C1-2C10-9C26-34E37803D37A}"/>
              </a:ext>
            </a:extLst>
          </p:cNvPr>
          <p:cNvCxnSpPr/>
          <p:nvPr/>
        </p:nvCxnSpPr>
        <p:spPr>
          <a:xfrm>
            <a:off x="1398121" y="4351503"/>
            <a:ext cx="541015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4E5BBFC-F8F0-F646-F70F-8B51BD4C320D}"/>
              </a:ext>
            </a:extLst>
          </p:cNvPr>
          <p:cNvCxnSpPr/>
          <p:nvPr/>
        </p:nvCxnSpPr>
        <p:spPr>
          <a:xfrm>
            <a:off x="1398121" y="4820487"/>
            <a:ext cx="541015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0">
            <a:extLst>
              <a:ext uri="{FF2B5EF4-FFF2-40B4-BE49-F238E27FC236}">
                <a16:creationId xmlns:a16="http://schemas.microsoft.com/office/drawing/2014/main" id="{D20B3E5E-E82A-5969-E3A8-862F92027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E3A36E20-EE8D-C999-72E2-A67D5ACCE940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Injecting 3D data to input layer – limited improvement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11DD0-F816-3345-A993-107FA6F4540C}"/>
              </a:ext>
            </a:extLst>
          </p:cNvPr>
          <p:cNvSpPr txBox="1"/>
          <p:nvPr/>
        </p:nvSpPr>
        <p:spPr>
          <a:xfrm>
            <a:off x="77498" y="3692040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Limited improvement: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FDBE581-6C1A-C065-6E62-0C74049EF5BD}"/>
              </a:ext>
            </a:extLst>
          </p:cNvPr>
          <p:cNvGrpSpPr/>
          <p:nvPr/>
        </p:nvGrpSpPr>
        <p:grpSpPr>
          <a:xfrm>
            <a:off x="1030476" y="1228794"/>
            <a:ext cx="9613845" cy="2480003"/>
            <a:chOff x="303495" y="1058084"/>
            <a:chExt cx="9613845" cy="248000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A78595-77EF-6A9B-0362-2711A1E9E035}"/>
                </a:ext>
              </a:extLst>
            </p:cNvPr>
            <p:cNvGrpSpPr/>
            <p:nvPr/>
          </p:nvGrpSpPr>
          <p:grpSpPr>
            <a:xfrm>
              <a:off x="2215136" y="1294605"/>
              <a:ext cx="7702204" cy="2243482"/>
              <a:chOff x="602491" y="1060831"/>
              <a:chExt cx="7702204" cy="22434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1450A87-B363-E9CB-8947-EA8C88473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1871"/>
              <a:stretch>
                <a:fillRect/>
              </a:stretch>
            </p:blipFill>
            <p:spPr>
              <a:xfrm>
                <a:off x="602491" y="1060831"/>
                <a:ext cx="7565446" cy="2243482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60A5585-6634-B639-BAE2-58C36B85C699}"/>
                  </a:ext>
                </a:extLst>
              </p:cNvPr>
              <p:cNvSpPr/>
              <p:nvPr/>
            </p:nvSpPr>
            <p:spPr>
              <a:xfrm>
                <a:off x="4713402" y="2121031"/>
                <a:ext cx="3591293" cy="11832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25DD171-7C35-AEDF-2470-5B16516AA8F4}"/>
                </a:ext>
              </a:extLst>
            </p:cNvPr>
            <p:cNvSpPr txBox="1"/>
            <p:nvPr/>
          </p:nvSpPr>
          <p:spPr>
            <a:xfrm>
              <a:off x="536243" y="2956626"/>
              <a:ext cx="934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Inter"/>
                </a:rPr>
                <a:t>3D data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59A4B4-6AD8-B1D7-B4A3-A9F23496E345}"/>
                </a:ext>
              </a:extLst>
            </p:cNvPr>
            <p:cNvSpPr txBox="1"/>
            <p:nvPr/>
          </p:nvSpPr>
          <p:spPr>
            <a:xfrm>
              <a:off x="303495" y="1204174"/>
              <a:ext cx="16121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latin typeface="Inter"/>
                </a:rPr>
                <a:t>Finetuning LLM backbone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062A9CD-9D88-9BD3-9AFD-8A4B5C9EEC5B}"/>
                </a:ext>
              </a:extLst>
            </p:cNvPr>
            <p:cNvSpPr/>
            <p:nvPr/>
          </p:nvSpPr>
          <p:spPr>
            <a:xfrm>
              <a:off x="2465465" y="1859677"/>
              <a:ext cx="3860582" cy="6172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E51B5A-1520-E276-095B-A16F5E8849BB}"/>
                </a:ext>
              </a:extLst>
            </p:cNvPr>
            <p:cNvSpPr/>
            <p:nvPr/>
          </p:nvSpPr>
          <p:spPr>
            <a:xfrm>
              <a:off x="2465465" y="2828928"/>
              <a:ext cx="3903805" cy="598450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74B2584-5E21-954D-5DC2-43DB28933F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406" y="2197525"/>
              <a:ext cx="993059" cy="0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3F586B0-54B9-7D34-7CE1-54B274A131E8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 flipV="1">
              <a:off x="1470321" y="3141292"/>
              <a:ext cx="871027" cy="4475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89CF24-1DD3-D2B3-B71B-2218B574B0FA}"/>
                </a:ext>
              </a:extLst>
            </p:cNvPr>
            <p:cNvSpPr txBox="1"/>
            <p:nvPr/>
          </p:nvSpPr>
          <p:spPr>
            <a:xfrm>
              <a:off x="543554" y="1871530"/>
              <a:ext cx="148639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Inter"/>
                </a:rPr>
                <a:t>3D data Encoder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pic>
          <p:nvPicPr>
            <p:cNvPr id="11268" name="Picture 4" descr="Snow - Free weather icons">
              <a:extLst>
                <a:ext uri="{FF2B5EF4-FFF2-40B4-BE49-F238E27FC236}">
                  <a16:creationId xmlns:a16="http://schemas.microsoft.com/office/drawing/2014/main" id="{01EF95F2-6C0F-127E-7FCA-7999660A7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5465" y="1833339"/>
              <a:ext cx="476847" cy="476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167070A-C392-7452-BA85-189177D98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7160" y="1477486"/>
              <a:ext cx="1750093" cy="0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1266" name="Picture 2" descr="Fire - Free nature icons">
              <a:extLst>
                <a:ext uri="{FF2B5EF4-FFF2-40B4-BE49-F238E27FC236}">
                  <a16:creationId xmlns:a16="http://schemas.microsoft.com/office/drawing/2014/main" id="{C036B75E-1F2F-6B22-3C50-723D2F1352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1348" y="1058084"/>
              <a:ext cx="617241" cy="617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800D985-A6E7-D40C-FACF-C1928C6BAECB}"/>
              </a:ext>
            </a:extLst>
          </p:cNvPr>
          <p:cNvSpPr txBox="1"/>
          <p:nvPr/>
        </p:nvSpPr>
        <p:spPr>
          <a:xfrm>
            <a:off x="60121" y="833594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Typical pipeline of adding new modality to VLM input layer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2EFB1F8-16BC-2D17-70D6-5D3E0ADA38F0}"/>
              </a:ext>
            </a:extLst>
          </p:cNvPr>
          <p:cNvCxnSpPr>
            <a:cxnSpLocks/>
          </p:cNvCxnSpPr>
          <p:nvPr/>
        </p:nvCxnSpPr>
        <p:spPr>
          <a:xfrm>
            <a:off x="1030476" y="5582205"/>
            <a:ext cx="60930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653106-4052-A667-71B9-32C9E61C16BD}"/>
              </a:ext>
            </a:extLst>
          </p:cNvPr>
          <p:cNvCxnSpPr>
            <a:cxnSpLocks/>
          </p:cNvCxnSpPr>
          <p:nvPr/>
        </p:nvCxnSpPr>
        <p:spPr>
          <a:xfrm flipV="1">
            <a:off x="1123550" y="4253025"/>
            <a:ext cx="0" cy="1321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F7B6166-9EF7-CA53-2C09-7F10F5E70891}"/>
              </a:ext>
            </a:extLst>
          </p:cNvPr>
          <p:cNvSpPr/>
          <p:nvPr/>
        </p:nvSpPr>
        <p:spPr>
          <a:xfrm>
            <a:off x="1398121" y="4351503"/>
            <a:ext cx="320512" cy="122284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D0D318D-9332-13C8-16DF-7FDE2769BAB3}"/>
              </a:ext>
            </a:extLst>
          </p:cNvPr>
          <p:cNvSpPr/>
          <p:nvPr/>
        </p:nvSpPr>
        <p:spPr>
          <a:xfrm>
            <a:off x="2176058" y="4851371"/>
            <a:ext cx="320512" cy="73083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269D8D-2EBA-BF57-FD9A-EE546034AF24}"/>
              </a:ext>
            </a:extLst>
          </p:cNvPr>
          <p:cNvSpPr/>
          <p:nvPr/>
        </p:nvSpPr>
        <p:spPr>
          <a:xfrm>
            <a:off x="4858957" y="5069538"/>
            <a:ext cx="320512" cy="5096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Google Shape;2200;p40">
            <a:extLst>
              <a:ext uri="{FF2B5EF4-FFF2-40B4-BE49-F238E27FC236}">
                <a16:creationId xmlns:a16="http://schemas.microsoft.com/office/drawing/2014/main" id="{A3E313CB-9366-FAFD-EED6-C9730F6BF4C7}"/>
              </a:ext>
            </a:extLst>
          </p:cNvPr>
          <p:cNvSpPr txBox="1">
            <a:spLocks/>
          </p:cNvSpPr>
          <p:nvPr/>
        </p:nvSpPr>
        <p:spPr>
          <a:xfrm>
            <a:off x="1049330" y="5513474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Human</a:t>
            </a:r>
          </a:p>
        </p:txBody>
      </p:sp>
      <p:sp>
        <p:nvSpPr>
          <p:cNvPr id="38" name="Google Shape;2200;p40">
            <a:extLst>
              <a:ext uri="{FF2B5EF4-FFF2-40B4-BE49-F238E27FC236}">
                <a16:creationId xmlns:a16="http://schemas.microsoft.com/office/drawing/2014/main" id="{C6272D9F-40EB-B0FA-CDD4-84CF94A73966}"/>
              </a:ext>
            </a:extLst>
          </p:cNvPr>
          <p:cNvSpPr txBox="1">
            <a:spLocks/>
          </p:cNvSpPr>
          <p:nvPr/>
        </p:nvSpPr>
        <p:spPr>
          <a:xfrm>
            <a:off x="1864090" y="5490577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Qwen3-VL-8B</a:t>
            </a:r>
          </a:p>
        </p:txBody>
      </p:sp>
      <p:sp>
        <p:nvSpPr>
          <p:cNvPr id="39" name="Google Shape;2200;p40">
            <a:extLst>
              <a:ext uri="{FF2B5EF4-FFF2-40B4-BE49-F238E27FC236}">
                <a16:creationId xmlns:a16="http://schemas.microsoft.com/office/drawing/2014/main" id="{7E6B061F-50AD-6905-73B2-66D02C7B5F74}"/>
              </a:ext>
            </a:extLst>
          </p:cNvPr>
          <p:cNvSpPr txBox="1">
            <a:spLocks/>
          </p:cNvSpPr>
          <p:nvPr/>
        </p:nvSpPr>
        <p:spPr>
          <a:xfrm>
            <a:off x="4527176" y="5513474"/>
            <a:ext cx="984074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Spatial-MLLM</a:t>
            </a:r>
          </a:p>
        </p:txBody>
      </p:sp>
      <p:sp>
        <p:nvSpPr>
          <p:cNvPr id="40" name="Google Shape;2200;p40">
            <a:extLst>
              <a:ext uri="{FF2B5EF4-FFF2-40B4-BE49-F238E27FC236}">
                <a16:creationId xmlns:a16="http://schemas.microsoft.com/office/drawing/2014/main" id="{9B2C77F2-AC7A-A29D-2D41-B4670CA84466}"/>
              </a:ext>
            </a:extLst>
          </p:cNvPr>
          <p:cNvSpPr txBox="1">
            <a:spLocks/>
          </p:cNvSpPr>
          <p:nvPr/>
        </p:nvSpPr>
        <p:spPr>
          <a:xfrm>
            <a:off x="1079531" y="4002336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89</a:t>
            </a:r>
          </a:p>
        </p:txBody>
      </p:sp>
      <p:sp>
        <p:nvSpPr>
          <p:cNvPr id="41" name="Google Shape;2200;p40">
            <a:extLst>
              <a:ext uri="{FF2B5EF4-FFF2-40B4-BE49-F238E27FC236}">
                <a16:creationId xmlns:a16="http://schemas.microsoft.com/office/drawing/2014/main" id="{2759D452-48C3-1852-2ED1-03DFD5C6D574}"/>
              </a:ext>
            </a:extLst>
          </p:cNvPr>
          <p:cNvSpPr txBox="1">
            <a:spLocks/>
          </p:cNvSpPr>
          <p:nvPr/>
        </p:nvSpPr>
        <p:spPr>
          <a:xfrm>
            <a:off x="1857468" y="4555041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57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69BA8A-A4B5-3817-D925-9986E16D3F1C}"/>
              </a:ext>
            </a:extLst>
          </p:cNvPr>
          <p:cNvSpPr/>
          <p:nvPr/>
        </p:nvSpPr>
        <p:spPr>
          <a:xfrm>
            <a:off x="2990818" y="5102313"/>
            <a:ext cx="320512" cy="48032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oogle Shape;2200;p40">
            <a:extLst>
              <a:ext uri="{FF2B5EF4-FFF2-40B4-BE49-F238E27FC236}">
                <a16:creationId xmlns:a16="http://schemas.microsoft.com/office/drawing/2014/main" id="{782500C5-02E4-B2C8-EE11-2F759FC3D5EC}"/>
              </a:ext>
            </a:extLst>
          </p:cNvPr>
          <p:cNvSpPr txBox="1">
            <a:spLocks/>
          </p:cNvSpPr>
          <p:nvPr/>
        </p:nvSpPr>
        <p:spPr>
          <a:xfrm>
            <a:off x="2686555" y="5514351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InternVL3-8B</a:t>
            </a:r>
          </a:p>
        </p:txBody>
      </p:sp>
      <p:sp>
        <p:nvSpPr>
          <p:cNvPr id="46" name="Google Shape;2200;p40">
            <a:extLst>
              <a:ext uri="{FF2B5EF4-FFF2-40B4-BE49-F238E27FC236}">
                <a16:creationId xmlns:a16="http://schemas.microsoft.com/office/drawing/2014/main" id="{43390A06-B15A-FA4B-9153-2D1C439BB9EC}"/>
              </a:ext>
            </a:extLst>
          </p:cNvPr>
          <p:cNvSpPr txBox="1">
            <a:spLocks/>
          </p:cNvSpPr>
          <p:nvPr/>
        </p:nvSpPr>
        <p:spPr>
          <a:xfrm>
            <a:off x="2675662" y="475449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42</a:t>
            </a:r>
          </a:p>
        </p:txBody>
      </p:sp>
      <p:sp>
        <p:nvSpPr>
          <p:cNvPr id="47" name="Google Shape;2200;p40">
            <a:extLst>
              <a:ext uri="{FF2B5EF4-FFF2-40B4-BE49-F238E27FC236}">
                <a16:creationId xmlns:a16="http://schemas.microsoft.com/office/drawing/2014/main" id="{4CAD1EDA-CEFB-4DF8-2B06-B001D1BE11F0}"/>
              </a:ext>
            </a:extLst>
          </p:cNvPr>
          <p:cNvSpPr txBox="1">
            <a:spLocks/>
          </p:cNvSpPr>
          <p:nvPr/>
        </p:nvSpPr>
        <p:spPr>
          <a:xfrm>
            <a:off x="3448088" y="5468053"/>
            <a:ext cx="11292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LLaVA-Video-72B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91B363-2A14-EE7C-32CE-223154DD0ED5}"/>
              </a:ext>
            </a:extLst>
          </p:cNvPr>
          <p:cNvSpPr/>
          <p:nvPr/>
        </p:nvSpPr>
        <p:spPr>
          <a:xfrm>
            <a:off x="3842142" y="5169931"/>
            <a:ext cx="320512" cy="40834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2200;p40">
            <a:extLst>
              <a:ext uri="{FF2B5EF4-FFF2-40B4-BE49-F238E27FC236}">
                <a16:creationId xmlns:a16="http://schemas.microsoft.com/office/drawing/2014/main" id="{2529DD9F-1DA7-7635-31EA-BDAB880D2EE4}"/>
              </a:ext>
            </a:extLst>
          </p:cNvPr>
          <p:cNvSpPr txBox="1">
            <a:spLocks/>
          </p:cNvSpPr>
          <p:nvPr/>
        </p:nvSpPr>
        <p:spPr>
          <a:xfrm>
            <a:off x="3510264" y="4809926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50" name="Google Shape;2200;p40">
            <a:extLst>
              <a:ext uri="{FF2B5EF4-FFF2-40B4-BE49-F238E27FC236}">
                <a16:creationId xmlns:a16="http://schemas.microsoft.com/office/drawing/2014/main" id="{BB79532B-9231-BAC3-F73F-905BD1659B30}"/>
              </a:ext>
            </a:extLst>
          </p:cNvPr>
          <p:cNvSpPr txBox="1">
            <a:spLocks/>
          </p:cNvSpPr>
          <p:nvPr/>
        </p:nvSpPr>
        <p:spPr>
          <a:xfrm>
            <a:off x="4527176" y="4741944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9CDFF1-EA01-46B0-209E-4024A5732C59}"/>
              </a:ext>
            </a:extLst>
          </p:cNvPr>
          <p:cNvSpPr/>
          <p:nvPr/>
        </p:nvSpPr>
        <p:spPr>
          <a:xfrm>
            <a:off x="5603955" y="4838251"/>
            <a:ext cx="320512" cy="73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Google Shape;2200;p40">
            <a:extLst>
              <a:ext uri="{FF2B5EF4-FFF2-40B4-BE49-F238E27FC236}">
                <a16:creationId xmlns:a16="http://schemas.microsoft.com/office/drawing/2014/main" id="{5AFB9BFF-A520-A78A-BA94-90D198959FF5}"/>
              </a:ext>
            </a:extLst>
          </p:cNvPr>
          <p:cNvSpPr txBox="1">
            <a:spLocks/>
          </p:cNvSpPr>
          <p:nvPr/>
        </p:nvSpPr>
        <p:spPr>
          <a:xfrm>
            <a:off x="5294613" y="4537449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53" name="Google Shape;2200;p40">
            <a:extLst>
              <a:ext uri="{FF2B5EF4-FFF2-40B4-BE49-F238E27FC236}">
                <a16:creationId xmlns:a16="http://schemas.microsoft.com/office/drawing/2014/main" id="{AB87B5B0-BC5A-0BC3-579B-202EB233C2F0}"/>
              </a:ext>
            </a:extLst>
          </p:cNvPr>
          <p:cNvSpPr txBox="1">
            <a:spLocks/>
          </p:cNvSpPr>
          <p:nvPr/>
        </p:nvSpPr>
        <p:spPr>
          <a:xfrm>
            <a:off x="5358752" y="5503644"/>
            <a:ext cx="790318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VST-7B-SFT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2683251-32D9-1C5C-1C4B-CE7BC5D96FD7}"/>
              </a:ext>
            </a:extLst>
          </p:cNvPr>
          <p:cNvSpPr/>
          <p:nvPr/>
        </p:nvSpPr>
        <p:spPr>
          <a:xfrm>
            <a:off x="6241775" y="5166528"/>
            <a:ext cx="320512" cy="40834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Google Shape;2200;p40">
            <a:extLst>
              <a:ext uri="{FF2B5EF4-FFF2-40B4-BE49-F238E27FC236}">
                <a16:creationId xmlns:a16="http://schemas.microsoft.com/office/drawing/2014/main" id="{51CF3D44-3491-8B3C-F8FD-1886682D80A8}"/>
              </a:ext>
            </a:extLst>
          </p:cNvPr>
          <p:cNvSpPr txBox="1">
            <a:spLocks/>
          </p:cNvSpPr>
          <p:nvPr/>
        </p:nvSpPr>
        <p:spPr>
          <a:xfrm>
            <a:off x="5946906" y="4844711"/>
            <a:ext cx="9576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56" name="Google Shape;2200;p40">
            <a:extLst>
              <a:ext uri="{FF2B5EF4-FFF2-40B4-BE49-F238E27FC236}">
                <a16:creationId xmlns:a16="http://schemas.microsoft.com/office/drawing/2014/main" id="{C70D17C1-EF0B-4119-703C-292231B36BE9}"/>
              </a:ext>
            </a:extLst>
          </p:cNvPr>
          <p:cNvSpPr txBox="1">
            <a:spLocks/>
          </p:cNvSpPr>
          <p:nvPr/>
        </p:nvSpPr>
        <p:spPr>
          <a:xfrm>
            <a:off x="6095932" y="5473790"/>
            <a:ext cx="712339" cy="32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SpaceR-7B</a:t>
            </a:r>
          </a:p>
        </p:txBody>
      </p:sp>
      <p:sp>
        <p:nvSpPr>
          <p:cNvPr id="57" name="Left Brace 56">
            <a:extLst>
              <a:ext uri="{FF2B5EF4-FFF2-40B4-BE49-F238E27FC236}">
                <a16:creationId xmlns:a16="http://schemas.microsoft.com/office/drawing/2014/main" id="{4976A1F9-0E1F-D8DE-9CF9-5782CF4D2827}"/>
              </a:ext>
            </a:extLst>
          </p:cNvPr>
          <p:cNvSpPr/>
          <p:nvPr/>
        </p:nvSpPr>
        <p:spPr>
          <a:xfrm rot="16200000">
            <a:off x="3031606" y="5106426"/>
            <a:ext cx="403123" cy="2236250"/>
          </a:xfrm>
          <a:prstGeom prst="leftBrace">
            <a:avLst>
              <a:gd name="adj1" fmla="val 44918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3ACE34-F839-4330-C8F0-F19119DEF407}"/>
              </a:ext>
            </a:extLst>
          </p:cNvPr>
          <p:cNvSpPr txBox="1"/>
          <p:nvPr/>
        </p:nvSpPr>
        <p:spPr>
          <a:xfrm>
            <a:off x="2476824" y="6403589"/>
            <a:ext cx="1486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General VLM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114DCC1F-78C4-6460-8BC4-FEF5C8C67602}"/>
              </a:ext>
            </a:extLst>
          </p:cNvPr>
          <p:cNvSpPr/>
          <p:nvPr/>
        </p:nvSpPr>
        <p:spPr>
          <a:xfrm rot="16200000">
            <a:off x="5474765" y="5277078"/>
            <a:ext cx="403123" cy="1926502"/>
          </a:xfrm>
          <a:prstGeom prst="leftBrace">
            <a:avLst>
              <a:gd name="adj1" fmla="val 44918"/>
              <a:gd name="adj2" fmla="val 50000"/>
            </a:avLst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3A4CB6-E70F-FF0D-9538-C6E41A73A1AE}"/>
              </a:ext>
            </a:extLst>
          </p:cNvPr>
          <p:cNvSpPr txBox="1"/>
          <p:nvPr/>
        </p:nvSpPr>
        <p:spPr>
          <a:xfrm>
            <a:off x="4314234" y="6403589"/>
            <a:ext cx="31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Fine-tuned with spatial data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3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B336-4C63-781B-2CDA-3FA0FDFF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878E219-C2C5-5A8B-904C-E4EF28BCE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869"/>
          <a:stretch>
            <a:fillRect/>
          </a:stretch>
        </p:blipFill>
        <p:spPr>
          <a:xfrm>
            <a:off x="6001309" y="4500195"/>
            <a:ext cx="4847673" cy="14754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AAFA53-689C-AA87-28E1-DE565D3E8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24" y="4553903"/>
            <a:ext cx="1956659" cy="1421745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B36F1FAF-19D3-1153-741F-14F450D53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9674AA18-6AD9-B4F7-0164-47DACE919ADB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Injecting 3D data to input layer – limited improvement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FDA4D3-EC5C-14F6-7683-59F55B2896D1}"/>
              </a:ext>
            </a:extLst>
          </p:cNvPr>
          <p:cNvSpPr txBox="1"/>
          <p:nvPr/>
        </p:nvSpPr>
        <p:spPr>
          <a:xfrm>
            <a:off x="119770" y="3735135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The model didn’t actually reason with 3d data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633D4-052F-766D-C5B3-EEDF271DDA5C}"/>
              </a:ext>
            </a:extLst>
          </p:cNvPr>
          <p:cNvSpPr txBox="1"/>
          <p:nvPr/>
        </p:nvSpPr>
        <p:spPr>
          <a:xfrm>
            <a:off x="878863" y="4202679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- Language shortcut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35E8A6-8A6B-7E06-9943-0205A39A0397}"/>
              </a:ext>
            </a:extLst>
          </p:cNvPr>
          <p:cNvSpPr txBox="1"/>
          <p:nvPr/>
        </p:nvSpPr>
        <p:spPr>
          <a:xfrm>
            <a:off x="6001308" y="4216547"/>
            <a:ext cx="4847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- Raw 3d data is too information-dense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B287D-7250-940A-7E28-27A1852A4BE9}"/>
              </a:ext>
            </a:extLst>
          </p:cNvPr>
          <p:cNvSpPr txBox="1"/>
          <p:nvPr/>
        </p:nvSpPr>
        <p:spPr>
          <a:xfrm>
            <a:off x="716080" y="6024406"/>
            <a:ext cx="3563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plummeted after linguistic cues were removed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01193F0-6CC8-BC0C-0942-6B6B3A009B38}"/>
              </a:ext>
            </a:extLst>
          </p:cNvPr>
          <p:cNvGrpSpPr/>
          <p:nvPr/>
        </p:nvGrpSpPr>
        <p:grpSpPr>
          <a:xfrm>
            <a:off x="1030476" y="1228794"/>
            <a:ext cx="9613845" cy="2480003"/>
            <a:chOff x="303495" y="1058084"/>
            <a:chExt cx="9613845" cy="248000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45F7840-AFB0-A5B0-B9B6-291010779726}"/>
                </a:ext>
              </a:extLst>
            </p:cNvPr>
            <p:cNvGrpSpPr/>
            <p:nvPr/>
          </p:nvGrpSpPr>
          <p:grpSpPr>
            <a:xfrm>
              <a:off x="2215136" y="1294605"/>
              <a:ext cx="7702204" cy="2243482"/>
              <a:chOff x="602491" y="1060831"/>
              <a:chExt cx="7702204" cy="22434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05FE093-D5A0-8A2B-29FD-249BA15F0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11871"/>
              <a:stretch>
                <a:fillRect/>
              </a:stretch>
            </p:blipFill>
            <p:spPr>
              <a:xfrm>
                <a:off x="602491" y="1060831"/>
                <a:ext cx="7565446" cy="2243482"/>
              </a:xfrm>
              <a:prstGeom prst="rect">
                <a:avLst/>
              </a:prstGeom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B9E54D5-B869-8C73-E291-720705718765}"/>
                  </a:ext>
                </a:extLst>
              </p:cNvPr>
              <p:cNvSpPr/>
              <p:nvPr/>
            </p:nvSpPr>
            <p:spPr>
              <a:xfrm>
                <a:off x="4713402" y="2121031"/>
                <a:ext cx="3591293" cy="11832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9C6EE13-D0E2-53A0-E074-9A8459A913A6}"/>
                </a:ext>
              </a:extLst>
            </p:cNvPr>
            <p:cNvSpPr txBox="1"/>
            <p:nvPr/>
          </p:nvSpPr>
          <p:spPr>
            <a:xfrm>
              <a:off x="536243" y="2956626"/>
              <a:ext cx="9340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Inter"/>
                </a:rPr>
                <a:t>3D data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24D275-C447-86F3-0953-09F7D315CE78}"/>
                </a:ext>
              </a:extLst>
            </p:cNvPr>
            <p:cNvSpPr txBox="1"/>
            <p:nvPr/>
          </p:nvSpPr>
          <p:spPr>
            <a:xfrm>
              <a:off x="303495" y="1204174"/>
              <a:ext cx="161211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latin typeface="Inter"/>
                </a:rPr>
                <a:t>Finetuning LLM backbone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93F863-33C5-FB90-5FDD-9D2194AAA6B9}"/>
                </a:ext>
              </a:extLst>
            </p:cNvPr>
            <p:cNvSpPr/>
            <p:nvPr/>
          </p:nvSpPr>
          <p:spPr>
            <a:xfrm>
              <a:off x="2465465" y="1859677"/>
              <a:ext cx="3860582" cy="6172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BE28F4D-53AB-4A61-92BA-20E677CBAFB1}"/>
                </a:ext>
              </a:extLst>
            </p:cNvPr>
            <p:cNvSpPr/>
            <p:nvPr/>
          </p:nvSpPr>
          <p:spPr>
            <a:xfrm>
              <a:off x="2465465" y="2828927"/>
              <a:ext cx="3903805" cy="686739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1E19A36-7D4D-6DB2-C613-0751BF0C96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2406" y="2197525"/>
              <a:ext cx="993059" cy="0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8DF4B4B-48EC-0E9A-C8EA-9A485F227E87}"/>
                </a:ext>
              </a:extLst>
            </p:cNvPr>
            <p:cNvCxnSpPr>
              <a:cxnSpLocks/>
              <a:endCxn id="16" idx="3"/>
            </p:cNvCxnSpPr>
            <p:nvPr/>
          </p:nvCxnSpPr>
          <p:spPr>
            <a:xfrm flipH="1" flipV="1">
              <a:off x="1470321" y="3141292"/>
              <a:ext cx="871027" cy="4475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3761C61-B91C-491D-68DC-ECD0D61D6BF3}"/>
                </a:ext>
              </a:extLst>
            </p:cNvPr>
            <p:cNvSpPr txBox="1"/>
            <p:nvPr/>
          </p:nvSpPr>
          <p:spPr>
            <a:xfrm>
              <a:off x="543554" y="1871530"/>
              <a:ext cx="148639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Inter"/>
                </a:rPr>
                <a:t>3D data Encoder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pic>
          <p:nvPicPr>
            <p:cNvPr id="11268" name="Picture 4" descr="Snow - Free weather icons">
              <a:extLst>
                <a:ext uri="{FF2B5EF4-FFF2-40B4-BE49-F238E27FC236}">
                  <a16:creationId xmlns:a16="http://schemas.microsoft.com/office/drawing/2014/main" id="{9C5F69F3-30A9-D489-C273-CBF34A4583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5465" y="1833339"/>
              <a:ext cx="476847" cy="476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2F7776C-9FAF-F748-D542-DAADDCCFBC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7160" y="1477486"/>
              <a:ext cx="1750093" cy="0"/>
            </a:xfrm>
            <a:prstGeom prst="straightConnector1">
              <a:avLst/>
            </a:prstGeom>
            <a:noFill/>
            <a:ln w="19050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1266" name="Picture 2" descr="Fire - Free nature icons">
              <a:extLst>
                <a:ext uri="{FF2B5EF4-FFF2-40B4-BE49-F238E27FC236}">
                  <a16:creationId xmlns:a16="http://schemas.microsoft.com/office/drawing/2014/main" id="{B8A6FE98-1AF7-F3FD-15ED-822682679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1348" y="1058084"/>
              <a:ext cx="617241" cy="6172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E290D26-A5DE-1978-D3A9-F41D05C6ACDE}"/>
              </a:ext>
            </a:extLst>
          </p:cNvPr>
          <p:cNvSpPr txBox="1"/>
          <p:nvPr/>
        </p:nvSpPr>
        <p:spPr>
          <a:xfrm>
            <a:off x="60121" y="833594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Typical pipeline of adding new modality to VLM input layer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D3EC12-3936-660F-893A-DDDBF0AF6280}"/>
              </a:ext>
            </a:extLst>
          </p:cNvPr>
          <p:cNvSpPr txBox="1"/>
          <p:nvPr/>
        </p:nvSpPr>
        <p:spPr>
          <a:xfrm>
            <a:off x="6029152" y="6024406"/>
            <a:ext cx="5192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flooding the context with distracting geometric details and inducing hallucinations.</a:t>
            </a:r>
          </a:p>
        </p:txBody>
      </p:sp>
    </p:spTree>
    <p:extLst>
      <p:ext uri="{BB962C8B-B14F-4D97-AF65-F5344CB8AC3E}">
        <p14:creationId xmlns:p14="http://schemas.microsoft.com/office/powerpoint/2010/main" val="1090253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62EB-54F3-583D-F44E-70A603DF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1392F1-83C9-158E-1248-A4E04B2D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22" y="1185300"/>
            <a:ext cx="4113276" cy="2061642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6D41038C-9829-8FE5-21E8-5059C59AB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444C0B9B-D1CE-3EDB-9B3A-D3106D361512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scale at inference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E24B9-F213-0AAB-96B9-CCC7017A7B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182"/>
          <a:stretch>
            <a:fillRect/>
          </a:stretch>
        </p:blipFill>
        <p:spPr>
          <a:xfrm>
            <a:off x="545298" y="5004943"/>
            <a:ext cx="4507366" cy="1786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DF2CE3-04A5-F13D-13FE-8E7D155CC88C}"/>
              </a:ext>
            </a:extLst>
          </p:cNvPr>
          <p:cNvSpPr txBox="1"/>
          <p:nvPr/>
        </p:nvSpPr>
        <p:spPr>
          <a:xfrm>
            <a:off x="545298" y="978096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Inference time scaling in text domain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3F1A8C1-C584-6345-4421-50A130F168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26" b="13892"/>
          <a:stretch>
            <a:fillRect/>
          </a:stretch>
        </p:blipFill>
        <p:spPr bwMode="auto">
          <a:xfrm>
            <a:off x="5762275" y="1503394"/>
            <a:ext cx="4692272" cy="166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0527A4-40D7-DF65-8A82-DF4A8807C59F}"/>
              </a:ext>
            </a:extLst>
          </p:cNvPr>
          <p:cNvSpPr txBox="1"/>
          <p:nvPr/>
        </p:nvSpPr>
        <p:spPr>
          <a:xfrm>
            <a:off x="334236" y="3554188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Thinking in text domain impair visual spatial reasoning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E2B93B-6873-3B86-9163-0DECC42F8457}"/>
              </a:ext>
            </a:extLst>
          </p:cNvPr>
          <p:cNvGrpSpPr/>
          <p:nvPr/>
        </p:nvGrpSpPr>
        <p:grpSpPr>
          <a:xfrm>
            <a:off x="545298" y="3964658"/>
            <a:ext cx="7620000" cy="1150740"/>
            <a:chOff x="488411" y="4075289"/>
            <a:chExt cx="7620000" cy="115074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2A6A3F1-217D-C42C-AAF0-30D49204D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7383" b="55784"/>
            <a:stretch>
              <a:fillRect/>
            </a:stretch>
          </p:blipFill>
          <p:spPr>
            <a:xfrm>
              <a:off x="488411" y="4075289"/>
              <a:ext cx="7620000" cy="57537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BF6E95-7299-2439-8B92-6FEA37DEE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3167"/>
            <a:stretch>
              <a:fillRect/>
            </a:stretch>
          </p:blipFill>
          <p:spPr>
            <a:xfrm>
              <a:off x="488411" y="4650659"/>
              <a:ext cx="7620000" cy="57537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6C35880-F0A7-FB1D-9818-41DDCA7B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63" t="33797" b="34705"/>
          <a:stretch>
            <a:fillRect/>
          </a:stretch>
        </p:blipFill>
        <p:spPr>
          <a:xfrm>
            <a:off x="5052664" y="5115398"/>
            <a:ext cx="2280808" cy="16758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CD343F-633B-3DBE-7C7F-9032334E86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63" t="65226" b="3276"/>
          <a:stretch>
            <a:fillRect/>
          </a:stretch>
        </p:blipFill>
        <p:spPr>
          <a:xfrm>
            <a:off x="7333472" y="5115398"/>
            <a:ext cx="2191406" cy="161014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AB6ED5-32BC-CFF9-4D42-A029012289CE}"/>
              </a:ext>
            </a:extLst>
          </p:cNvPr>
          <p:cNvSpPr/>
          <p:nvPr/>
        </p:nvSpPr>
        <p:spPr>
          <a:xfrm>
            <a:off x="4101981" y="4540028"/>
            <a:ext cx="529840" cy="39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8D9DB-2C2B-3B32-F7E0-82FB9EF37451}"/>
              </a:ext>
            </a:extLst>
          </p:cNvPr>
          <p:cNvSpPr/>
          <p:nvPr/>
        </p:nvSpPr>
        <p:spPr>
          <a:xfrm>
            <a:off x="5736074" y="4529668"/>
            <a:ext cx="529840" cy="39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9E1A58-AB86-DC6E-DAEB-022564BCCCC0}"/>
              </a:ext>
            </a:extLst>
          </p:cNvPr>
          <p:cNvSpPr/>
          <p:nvPr/>
        </p:nvSpPr>
        <p:spPr>
          <a:xfrm>
            <a:off x="7211226" y="4529668"/>
            <a:ext cx="529840" cy="39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68B24-A525-C296-8EB0-A80131F4FD9E}"/>
              </a:ext>
            </a:extLst>
          </p:cNvPr>
          <p:cNvSpPr txBox="1"/>
          <p:nvPr/>
        </p:nvSpPr>
        <p:spPr>
          <a:xfrm>
            <a:off x="6384648" y="3083460"/>
            <a:ext cx="3140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Ahah moment in reasoning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60A54F-7073-BCF0-2BD5-8BC92B8C2BA4}"/>
              </a:ext>
            </a:extLst>
          </p:cNvPr>
          <p:cNvSpPr txBox="1"/>
          <p:nvPr/>
        </p:nvSpPr>
        <p:spPr>
          <a:xfrm>
            <a:off x="900157" y="3110067"/>
            <a:ext cx="3893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Inter"/>
              </a:rPr>
              <a:t>Performance scales with thinking time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44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CE1D-18A3-28F8-0E76-ECD6152D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9746EE59-7EFF-A487-DC8C-F765CEAC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16BFA430-B985-C3B7-B15C-246441BE5468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scale at inference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B4467-7D11-10BD-5323-1D597DE30C89}"/>
              </a:ext>
            </a:extLst>
          </p:cNvPr>
          <p:cNvSpPr txBox="1"/>
          <p:nvPr/>
        </p:nvSpPr>
        <p:spPr>
          <a:xfrm>
            <a:off x="484137" y="788989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Alternative method other than thinking in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BFDFB3-C4E2-2B4B-ACB4-A08A544EFF53}"/>
              </a:ext>
            </a:extLst>
          </p:cNvPr>
          <p:cNvSpPr txBox="1"/>
          <p:nvPr/>
        </p:nvSpPr>
        <p:spPr>
          <a:xfrm>
            <a:off x="484137" y="1224964"/>
            <a:ext cx="11101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 with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1BE505-1A60-335A-0124-2D20E16268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016"/>
          <a:stretch>
            <a:fillRect/>
          </a:stretch>
        </p:blipFill>
        <p:spPr>
          <a:xfrm>
            <a:off x="680605" y="1660940"/>
            <a:ext cx="8981555" cy="2255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1BFCB4-2BC9-0268-6FCF-388D020F6789}"/>
              </a:ext>
            </a:extLst>
          </p:cNvPr>
          <p:cNvSpPr txBox="1"/>
          <p:nvPr/>
        </p:nvSpPr>
        <p:spPr>
          <a:xfrm>
            <a:off x="900816" y="4238204"/>
            <a:ext cx="111014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Limitation: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	- only guide the model to focus on task-relevant regions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	- but does not enable it to extract spatial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5077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ACE1D-18A3-28F8-0E76-ECD6152D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robot icon Prompts | Stable Diffusion Online">
            <a:extLst>
              <a:ext uri="{FF2B5EF4-FFF2-40B4-BE49-F238E27FC236}">
                <a16:creationId xmlns:a16="http://schemas.microsoft.com/office/drawing/2014/main" id="{B2B3F7BC-FB7B-0656-F5AF-87F97102C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567" y="5108029"/>
            <a:ext cx="1313750" cy="131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obot icon Prompts | Stable Diffusion Online">
            <a:extLst>
              <a:ext uri="{FF2B5EF4-FFF2-40B4-BE49-F238E27FC236}">
                <a16:creationId xmlns:a16="http://schemas.microsoft.com/office/drawing/2014/main" id="{F51AF886-4C12-DA68-1C29-BFEFC5E9D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892" y="1901097"/>
            <a:ext cx="1313750" cy="131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obot icon Prompts | Stable Diffusion Online">
            <a:extLst>
              <a:ext uri="{FF2B5EF4-FFF2-40B4-BE49-F238E27FC236}">
                <a16:creationId xmlns:a16="http://schemas.microsoft.com/office/drawing/2014/main" id="{16924F21-AEB6-2927-F52D-AF2187C3E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544" y="3160097"/>
            <a:ext cx="1313750" cy="131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EB15362-EEB1-F872-5B46-ECA94A1B75A6}"/>
              </a:ext>
            </a:extLst>
          </p:cNvPr>
          <p:cNvSpPr/>
          <p:nvPr/>
        </p:nvSpPr>
        <p:spPr>
          <a:xfrm>
            <a:off x="1184174" y="3193596"/>
            <a:ext cx="3263097" cy="1324486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10" name="Picture 14" descr="Object detection Icons, Logos, Symbols – Free Download PNG, SVG">
            <a:extLst>
              <a:ext uri="{FF2B5EF4-FFF2-40B4-BE49-F238E27FC236}">
                <a16:creationId xmlns:a16="http://schemas.microsoft.com/office/drawing/2014/main" id="{2691462B-7B1F-9D1C-D426-A6587B3DC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571" y="2070976"/>
            <a:ext cx="885615" cy="88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E876962-AB86-D013-FE08-6664DA2CBB51}"/>
              </a:ext>
            </a:extLst>
          </p:cNvPr>
          <p:cNvSpPr/>
          <p:nvPr/>
        </p:nvSpPr>
        <p:spPr>
          <a:xfrm>
            <a:off x="6739333" y="1966069"/>
            <a:ext cx="5392128" cy="1324486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33F23D5-31A9-EFF5-5D41-3DC65F1D6D06}"/>
              </a:ext>
            </a:extLst>
          </p:cNvPr>
          <p:cNvSpPr/>
          <p:nvPr/>
        </p:nvSpPr>
        <p:spPr>
          <a:xfrm>
            <a:off x="7267350" y="5267757"/>
            <a:ext cx="4471929" cy="111091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26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746EE59-7EFF-A487-DC8C-F765CEAC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16BFA430-B985-C3B7-B15C-246441BE5468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scale at inference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B4467-7D11-10BD-5323-1D597DE30C89}"/>
              </a:ext>
            </a:extLst>
          </p:cNvPr>
          <p:cNvSpPr txBox="1"/>
          <p:nvPr/>
        </p:nvSpPr>
        <p:spPr>
          <a:xfrm>
            <a:off x="383444" y="926667"/>
            <a:ext cx="11101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chemeClr val="accent1"/>
                </a:solidFill>
              </a:rPr>
              <a:t>Alternative method other than thinking in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F625B-CA8F-C6F2-A5BA-A19DEDF8471B}"/>
              </a:ext>
            </a:extLst>
          </p:cNvPr>
          <p:cNvSpPr txBox="1"/>
          <p:nvPr/>
        </p:nvSpPr>
        <p:spPr>
          <a:xfrm>
            <a:off x="1071373" y="2850777"/>
            <a:ext cx="2641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1 Think with </a:t>
            </a:r>
            <a:r>
              <a:rPr lang="en-US" sz="2000" b="1" dirty="0">
                <a:solidFill>
                  <a:srgbClr val="C00000"/>
                </a:solidFill>
              </a:rPr>
              <a:t>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356AF1-3476-B638-9A35-708AC934F7C1}"/>
              </a:ext>
            </a:extLst>
          </p:cNvPr>
          <p:cNvSpPr txBox="1"/>
          <p:nvPr/>
        </p:nvSpPr>
        <p:spPr>
          <a:xfrm>
            <a:off x="6910434" y="1590243"/>
            <a:ext cx="48384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 with </a:t>
            </a:r>
            <a:r>
              <a:rPr lang="en-US" sz="2000" b="1" dirty="0">
                <a:solidFill>
                  <a:srgbClr val="C00000"/>
                </a:solidFill>
              </a:rPr>
              <a:t>3d aware tools as an 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1741D-8314-2D9D-CCD0-E8CF9290E44C}"/>
              </a:ext>
            </a:extLst>
          </p:cNvPr>
          <p:cNvSpPr txBox="1"/>
          <p:nvPr/>
        </p:nvSpPr>
        <p:spPr>
          <a:xfrm>
            <a:off x="6667653" y="4821482"/>
            <a:ext cx="53570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chemeClr val="accent1"/>
                </a:solidFill>
              </a:rPr>
              <a:t>think in a semantically rich </a:t>
            </a:r>
            <a:r>
              <a:rPr lang="en-US" sz="2000" b="1" dirty="0">
                <a:solidFill>
                  <a:srgbClr val="C00000"/>
                </a:solidFill>
              </a:rPr>
              <a:t>latent space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89C30-127E-52AB-6B28-ADB799130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3559" y="3264590"/>
            <a:ext cx="1234000" cy="960484"/>
          </a:xfrm>
          <a:prstGeom prst="rect">
            <a:avLst/>
          </a:prstGeom>
        </p:spPr>
      </p:pic>
      <p:pic>
        <p:nvPicPr>
          <p:cNvPr id="4100" name="Picture 4" descr="Download Free Think Icons in PNG &amp; SVG">
            <a:extLst>
              <a:ext uri="{FF2B5EF4-FFF2-40B4-BE49-F238E27FC236}">
                <a16:creationId xmlns:a16="http://schemas.microsoft.com/office/drawing/2014/main" id="{CD1B0D4E-3BDE-A537-36C1-A2CCC78D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1636" y="5509656"/>
            <a:ext cx="456090" cy="45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oolbox - Free construction and tools icons">
            <a:extLst>
              <a:ext uri="{FF2B5EF4-FFF2-40B4-BE49-F238E27FC236}">
                <a16:creationId xmlns:a16="http://schemas.microsoft.com/office/drawing/2014/main" id="{EC0773B7-68DE-C977-E770-468544D73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3220" y="2106495"/>
            <a:ext cx="835212" cy="83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1B218E7-4AE9-5B45-85CF-80FC2C75546F}"/>
              </a:ext>
            </a:extLst>
          </p:cNvPr>
          <p:cNvSpPr>
            <a:spLocks noChangeAspect="1"/>
          </p:cNvSpPr>
          <p:nvPr/>
        </p:nvSpPr>
        <p:spPr>
          <a:xfrm>
            <a:off x="9565800" y="5636055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8D5A85-FE85-0ACD-A235-B0AD28F45135}"/>
              </a:ext>
            </a:extLst>
          </p:cNvPr>
          <p:cNvSpPr txBox="1"/>
          <p:nvPr/>
        </p:nvSpPr>
        <p:spPr>
          <a:xfrm>
            <a:off x="1176459" y="4156845"/>
            <a:ext cx="2007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Inter"/>
              </a:rPr>
              <a:t>Where is the table</a:t>
            </a:r>
            <a:endParaRPr lang="en-US" b="1" dirty="0"/>
          </a:p>
        </p:txBody>
      </p:sp>
      <p:pic>
        <p:nvPicPr>
          <p:cNvPr id="4104" name="Picture 8" descr="Zoom in Generic Flat icon | Freepik">
            <a:extLst>
              <a:ext uri="{FF2B5EF4-FFF2-40B4-BE49-F238E27FC236}">
                <a16:creationId xmlns:a16="http://schemas.microsoft.com/office/drawing/2014/main" id="{0CCAC0A5-0139-F998-9759-B4F172E8E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243" y="3431914"/>
            <a:ext cx="464514" cy="46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52657D-84A7-1794-1DC9-51629AF294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779" t="51765" r="17103" b="6578"/>
          <a:stretch>
            <a:fillRect/>
          </a:stretch>
        </p:blipFill>
        <p:spPr>
          <a:xfrm>
            <a:off x="3056053" y="3391607"/>
            <a:ext cx="1112033" cy="76523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1989AAB-2AD7-3793-A022-499DA5E35098}"/>
              </a:ext>
            </a:extLst>
          </p:cNvPr>
          <p:cNvSpPr/>
          <p:nvPr/>
        </p:nvSpPr>
        <p:spPr>
          <a:xfrm>
            <a:off x="1971537" y="3816972"/>
            <a:ext cx="371162" cy="3625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57F994-1D82-BFDC-9502-8EEE2B347055}"/>
              </a:ext>
            </a:extLst>
          </p:cNvPr>
          <p:cNvCxnSpPr>
            <a:stCxn id="17" idx="3"/>
          </p:cNvCxnSpPr>
          <p:nvPr/>
        </p:nvCxnSpPr>
        <p:spPr>
          <a:xfrm flipV="1">
            <a:off x="2342699" y="3816972"/>
            <a:ext cx="716493" cy="1812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06" name="Picture 10" descr="Python - Free interface icons">
            <a:extLst>
              <a:ext uri="{FF2B5EF4-FFF2-40B4-BE49-F238E27FC236}">
                <a16:creationId xmlns:a16="http://schemas.microsoft.com/office/drawing/2014/main" id="{51DF9B66-7AE8-75C0-9BB0-30646DD30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5199" y="2225871"/>
            <a:ext cx="624906" cy="62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0434FE-45AE-4B45-7308-E4B8B5093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951" y="2147083"/>
            <a:ext cx="1234000" cy="960484"/>
          </a:xfrm>
          <a:prstGeom prst="rect">
            <a:avLst/>
          </a:prstGeom>
        </p:spPr>
      </p:pic>
      <p:sp>
        <p:nvSpPr>
          <p:cNvPr id="21" name="Down Arrow 20">
            <a:extLst>
              <a:ext uri="{FF2B5EF4-FFF2-40B4-BE49-F238E27FC236}">
                <a16:creationId xmlns:a16="http://schemas.microsoft.com/office/drawing/2014/main" id="{CDBCF749-3804-E78B-276E-21F17C8CCEE2}"/>
              </a:ext>
            </a:extLst>
          </p:cNvPr>
          <p:cNvSpPr/>
          <p:nvPr/>
        </p:nvSpPr>
        <p:spPr>
          <a:xfrm rot="16200000">
            <a:off x="8228893" y="2447768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352DBE55-BE00-4F80-06BB-54CEE85FABFF}"/>
              </a:ext>
            </a:extLst>
          </p:cNvPr>
          <p:cNvSpPr/>
          <p:nvPr/>
        </p:nvSpPr>
        <p:spPr>
          <a:xfrm rot="16200000">
            <a:off x="9297873" y="2485527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44CD09-73F2-D52D-5207-6864BED88E74}"/>
              </a:ext>
            </a:extLst>
          </p:cNvPr>
          <p:cNvSpPr txBox="1"/>
          <p:nvPr/>
        </p:nvSpPr>
        <p:spPr>
          <a:xfrm>
            <a:off x="9018182" y="2835529"/>
            <a:ext cx="2007106" cy="50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Extracted 3D information</a:t>
            </a:r>
            <a:endParaRPr lang="en-US" sz="1600" b="1" dirty="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4C1521F5-8B59-6B5F-7DFD-9CA305370B1E}"/>
              </a:ext>
            </a:extLst>
          </p:cNvPr>
          <p:cNvSpPr/>
          <p:nvPr/>
        </p:nvSpPr>
        <p:spPr>
          <a:xfrm rot="16200000">
            <a:off x="10529064" y="2483439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3F7C10-60BC-4AD3-E842-3917D3271DA6}"/>
              </a:ext>
            </a:extLst>
          </p:cNvPr>
          <p:cNvSpPr txBox="1"/>
          <p:nvPr/>
        </p:nvSpPr>
        <p:spPr>
          <a:xfrm>
            <a:off x="10467051" y="2835529"/>
            <a:ext cx="1387128" cy="507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Script for verification</a:t>
            </a:r>
            <a:endParaRPr lang="en-US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86230A-E6A3-D339-F05F-20E19C01631F}"/>
              </a:ext>
            </a:extLst>
          </p:cNvPr>
          <p:cNvSpPr txBox="1"/>
          <p:nvPr/>
        </p:nvSpPr>
        <p:spPr>
          <a:xfrm>
            <a:off x="8141573" y="2919471"/>
            <a:ext cx="1387128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Tool box</a:t>
            </a:r>
            <a:endParaRPr lang="en-US" sz="1600" b="1" dirty="0"/>
          </a:p>
        </p:txBody>
      </p:sp>
      <p:pic>
        <p:nvPicPr>
          <p:cNvPr id="4112" name="Picture 16" descr="Iteration - Free arrows icons">
            <a:extLst>
              <a:ext uri="{FF2B5EF4-FFF2-40B4-BE49-F238E27FC236}">
                <a16:creationId xmlns:a16="http://schemas.microsoft.com/office/drawing/2014/main" id="{130C9EDD-9301-A6FB-7F68-D1157FF18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2623" y="2142356"/>
            <a:ext cx="580088" cy="58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A51E17-1519-8925-3D79-E0658424A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391" y="5336451"/>
            <a:ext cx="1234000" cy="960484"/>
          </a:xfrm>
          <a:prstGeom prst="rect">
            <a:avLst/>
          </a:prstGeom>
        </p:spPr>
      </p:pic>
      <p:sp>
        <p:nvSpPr>
          <p:cNvPr id="28" name="Down Arrow 27">
            <a:extLst>
              <a:ext uri="{FF2B5EF4-FFF2-40B4-BE49-F238E27FC236}">
                <a16:creationId xmlns:a16="http://schemas.microsoft.com/office/drawing/2014/main" id="{D9398FBE-D68E-113A-5B4E-E0E52665B886}"/>
              </a:ext>
            </a:extLst>
          </p:cNvPr>
          <p:cNvSpPr/>
          <p:nvPr/>
        </p:nvSpPr>
        <p:spPr>
          <a:xfrm rot="16200000">
            <a:off x="8671322" y="5671662"/>
            <a:ext cx="232257" cy="247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17ABC45-E26D-A4EC-99FF-6443FC630C92}"/>
              </a:ext>
            </a:extLst>
          </p:cNvPr>
          <p:cNvSpPr>
            <a:spLocks noChangeAspect="1"/>
          </p:cNvSpPr>
          <p:nvPr/>
        </p:nvSpPr>
        <p:spPr>
          <a:xfrm>
            <a:off x="9915252" y="5641178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2D0384-68B6-F2A5-9B62-7605B53F2DD8}"/>
              </a:ext>
            </a:extLst>
          </p:cNvPr>
          <p:cNvSpPr txBox="1"/>
          <p:nvPr/>
        </p:nvSpPr>
        <p:spPr>
          <a:xfrm>
            <a:off x="8496117" y="5938472"/>
            <a:ext cx="1387128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&lt;think&gt;</a:t>
            </a:r>
            <a:endParaRPr lang="en-US" sz="1600" b="1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1FF01CF-D8C3-CB41-DD61-78DEA80D766D}"/>
              </a:ext>
            </a:extLst>
          </p:cNvPr>
          <p:cNvSpPr>
            <a:spLocks noChangeAspect="1"/>
          </p:cNvSpPr>
          <p:nvPr/>
        </p:nvSpPr>
        <p:spPr>
          <a:xfrm>
            <a:off x="10263842" y="5636068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0189911-7EB7-4810-B96F-E2ED0E654E0A}"/>
              </a:ext>
            </a:extLst>
          </p:cNvPr>
          <p:cNvSpPr>
            <a:spLocks noChangeAspect="1"/>
          </p:cNvSpPr>
          <p:nvPr/>
        </p:nvSpPr>
        <p:spPr>
          <a:xfrm>
            <a:off x="10613294" y="5641191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724BE25-7AE4-F28D-604A-5416E105799C}"/>
              </a:ext>
            </a:extLst>
          </p:cNvPr>
          <p:cNvSpPr>
            <a:spLocks noChangeAspect="1"/>
          </p:cNvSpPr>
          <p:nvPr/>
        </p:nvSpPr>
        <p:spPr>
          <a:xfrm>
            <a:off x="10958949" y="5636055"/>
            <a:ext cx="274320" cy="27432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82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1AE7B9-E894-D9C7-AC22-EB68F31D25C5}"/>
              </a:ext>
            </a:extLst>
          </p:cNvPr>
          <p:cNvSpPr txBox="1"/>
          <p:nvPr/>
        </p:nvSpPr>
        <p:spPr>
          <a:xfrm>
            <a:off x="10692702" y="5586506"/>
            <a:ext cx="1387128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…</a:t>
            </a:r>
            <a:endParaRPr 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B6B6C6-4ED1-E915-5D9D-4808ACCDB97E}"/>
              </a:ext>
            </a:extLst>
          </p:cNvPr>
          <p:cNvSpPr txBox="1"/>
          <p:nvPr/>
        </p:nvSpPr>
        <p:spPr>
          <a:xfrm>
            <a:off x="9482527" y="5930987"/>
            <a:ext cx="1836949" cy="30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latin typeface="Inter"/>
              </a:rPr>
              <a:t>Laten embeddings</a:t>
            </a:r>
            <a:endParaRPr lang="en-US" sz="1600" b="1" dirty="0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A0310106-D06B-B2F5-37D0-86017C837C35}"/>
              </a:ext>
            </a:extLst>
          </p:cNvPr>
          <p:cNvCxnSpPr>
            <a:stCxn id="39" idx="3"/>
            <a:endCxn id="12" idx="1"/>
          </p:cNvCxnSpPr>
          <p:nvPr/>
        </p:nvCxnSpPr>
        <p:spPr>
          <a:xfrm flipV="1">
            <a:off x="4447271" y="2557972"/>
            <a:ext cx="1095621" cy="12978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0AD1C49-D1C7-2675-5C0A-4517FF6F5CDF}"/>
              </a:ext>
            </a:extLst>
          </p:cNvPr>
          <p:cNvCxnSpPr>
            <a:cxnSpLocks/>
            <a:stCxn id="39" idx="3"/>
            <a:endCxn id="13" idx="1"/>
          </p:cNvCxnSpPr>
          <p:nvPr/>
        </p:nvCxnSpPr>
        <p:spPr>
          <a:xfrm>
            <a:off x="4447271" y="3855839"/>
            <a:ext cx="1500296" cy="1909065"/>
          </a:xfrm>
          <a:prstGeom prst="bentConnector3">
            <a:avLst>
              <a:gd name="adj1" fmla="val 363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1ADF7B4-3C33-A6CC-3DB7-673705FD62DB}"/>
              </a:ext>
            </a:extLst>
          </p:cNvPr>
          <p:cNvSpPr txBox="1"/>
          <p:nvPr/>
        </p:nvSpPr>
        <p:spPr>
          <a:xfrm>
            <a:off x="3824467" y="2151013"/>
            <a:ext cx="131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Rely on external tools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D5C9B5-764A-4C38-613B-2794868D6F6E}"/>
              </a:ext>
            </a:extLst>
          </p:cNvPr>
          <p:cNvSpPr txBox="1"/>
          <p:nvPr/>
        </p:nvSpPr>
        <p:spPr>
          <a:xfrm>
            <a:off x="3812680" y="4637335"/>
            <a:ext cx="131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Rely on VLM reasoning</a:t>
            </a:r>
          </a:p>
        </p:txBody>
      </p:sp>
    </p:spTree>
    <p:extLst>
      <p:ext uri="{BB962C8B-B14F-4D97-AF65-F5344CB8AC3E}">
        <p14:creationId xmlns:p14="http://schemas.microsoft.com/office/powerpoint/2010/main" val="2190936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97CED-6F95-BA0A-7B97-5A62E8AC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B9E04911-1132-801F-EEE0-B677E9357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01A82FEA-9248-C4EE-FDBD-911942C24F9E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chemeClr val="bg1"/>
                </a:solidFill>
              </a:rPr>
              <a:t>Existing work: Geometrically-Constrained Agent</a:t>
            </a:r>
            <a:endParaRPr lang="en-US" altLang="zh-CN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5C8286-99A1-417E-35BB-9129B6A68E12}"/>
              </a:ext>
            </a:extLst>
          </p:cNvPr>
          <p:cNvSpPr txBox="1"/>
          <p:nvPr/>
        </p:nvSpPr>
        <p:spPr>
          <a:xfrm>
            <a:off x="60121" y="717258"/>
            <a:ext cx="5920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Existing work: Geometrically-Constrained Agent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diagram of a table&#10;&#10;Description automatically generated">
            <a:extLst>
              <a:ext uri="{FF2B5EF4-FFF2-40B4-BE49-F238E27FC236}">
                <a16:creationId xmlns:a16="http://schemas.microsoft.com/office/drawing/2014/main" id="{7FBC4B16-7C5A-70B5-85AE-5347EA070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87" y="1483039"/>
            <a:ext cx="11577912" cy="5191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C22921-6D90-38F6-B759-79685CC0A388}"/>
              </a:ext>
            </a:extLst>
          </p:cNvPr>
          <p:cNvSpPr txBox="1"/>
          <p:nvPr/>
        </p:nvSpPr>
        <p:spPr>
          <a:xfrm>
            <a:off x="304167" y="1055812"/>
            <a:ext cx="7403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Provide a path of separating semantic reasoning from geometric computation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36F95-2D2F-4337-A2DA-1A4A44C2CEAF}"/>
              </a:ext>
            </a:extLst>
          </p:cNvPr>
          <p:cNvSpPr/>
          <p:nvPr/>
        </p:nvSpPr>
        <p:spPr>
          <a:xfrm>
            <a:off x="7404627" y="1479893"/>
            <a:ext cx="4597592" cy="52972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86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EE37-93B2-594E-455E-F5A48792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29F4F4E9-808F-2C04-8BE8-A358480A9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7CD52A1C-17D8-C772-9340-C02CE2E29DAD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chemeClr val="bg1"/>
                </a:solidFill>
              </a:rPr>
              <a:t>Existing work: Geometrically-Constrained Agent</a:t>
            </a:r>
            <a:endParaRPr lang="en-US" altLang="zh-CN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BA2956-2050-ACAF-2A99-50DFDF19CF0E}"/>
              </a:ext>
            </a:extLst>
          </p:cNvPr>
          <p:cNvSpPr txBox="1"/>
          <p:nvPr/>
        </p:nvSpPr>
        <p:spPr>
          <a:xfrm>
            <a:off x="60121" y="749011"/>
            <a:ext cx="552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Geometrically-Constrained Agent limitation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DF436-085D-05CB-4ACC-DBCA64F12638}"/>
              </a:ext>
            </a:extLst>
          </p:cNvPr>
          <p:cNvSpPr txBox="1"/>
          <p:nvPr/>
        </p:nvSpPr>
        <p:spPr>
          <a:xfrm>
            <a:off x="60121" y="1062171"/>
            <a:ext cx="1207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Decompose reasoning into coarse task formulation and constrained geometric computation handled by a VLM agent.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535C6AD-2CD7-AB8D-0DEA-D61E0C13A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563" y="1853497"/>
            <a:ext cx="7743711" cy="4941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EB38E0-3122-2458-1797-44BBDF4A636D}"/>
              </a:ext>
            </a:extLst>
          </p:cNvPr>
          <p:cNvSpPr txBox="1"/>
          <p:nvPr/>
        </p:nvSpPr>
        <p:spPr>
          <a:xfrm>
            <a:off x="60121" y="1465525"/>
            <a:ext cx="1207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Lack of scalability to more complex downstream applications require spatial reasoning</a:t>
            </a:r>
          </a:p>
        </p:txBody>
      </p:sp>
    </p:spTree>
    <p:extLst>
      <p:ext uri="{BB962C8B-B14F-4D97-AF65-F5344CB8AC3E}">
        <p14:creationId xmlns:p14="http://schemas.microsoft.com/office/powerpoint/2010/main" val="2976583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F4B8F-F1B4-DE2C-0DB9-1F69D8B4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BB67FA13-81A7-C072-EB62-7E055AE45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D0DCA19D-F007-A51A-ADDB-F5D684078461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Potential idea: Agentic workflow on spatial reasoning task (navigation)</a:t>
            </a:r>
            <a:endParaRPr lang="en-US" altLang="zh-CN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98" name="Picture 2" descr="A diagram of a room&#10;&#10;Description automatically generated">
            <a:extLst>
              <a:ext uri="{FF2B5EF4-FFF2-40B4-BE49-F238E27FC236}">
                <a16:creationId xmlns:a16="http://schemas.microsoft.com/office/drawing/2014/main" id="{2420B1BF-ECBB-5CA0-87F4-DD21878FE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" y="1161639"/>
            <a:ext cx="12071758" cy="5696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14B45-A3D6-F555-9EFC-DFC9654F62A4}"/>
              </a:ext>
            </a:extLst>
          </p:cNvPr>
          <p:cNvSpPr txBox="1"/>
          <p:nvPr/>
        </p:nvSpPr>
        <p:spPr>
          <a:xfrm>
            <a:off x="295985" y="819669"/>
            <a:ext cx="11600030" cy="654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accent1"/>
                </a:solidFill>
              </a:rPr>
              <a:t>Design an agentic workflow with 3D tool use and navigation skills to improve VLM-based robot navigation under dynamic blocking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853604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7FF7-05A6-74D7-21B8-59D73E06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944B56A7-8E17-7F50-7391-88A93C4B5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5BAD4F11-7578-099C-FA0A-1F490C36682E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 work: Latent spatial reasoning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27553-7746-BBD4-DFB5-3136362D02D3}"/>
              </a:ext>
            </a:extLst>
          </p:cNvPr>
          <p:cNvSpPr txBox="1"/>
          <p:nvPr/>
        </p:nvSpPr>
        <p:spPr>
          <a:xfrm>
            <a:off x="0" y="812566"/>
            <a:ext cx="4826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08F4F6-87AE-DA39-8B5E-D82327A18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847" y="2784163"/>
            <a:ext cx="8230233" cy="40132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C7301E-C671-8322-08A3-3F85B4996E18}"/>
              </a:ext>
            </a:extLst>
          </p:cNvPr>
          <p:cNvSpPr txBox="1"/>
          <p:nvPr/>
        </p:nvSpPr>
        <p:spPr>
          <a:xfrm>
            <a:off x="60121" y="1211355"/>
            <a:ext cx="11942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unified spatial representation should be embedded in continuous latent space, enabling 3D mental modeling for human-like spatial reasoning.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1B9F55-DAF0-8232-BFE9-07F02E73A174}"/>
              </a:ext>
            </a:extLst>
          </p:cNvPr>
          <p:cNvSpPr txBox="1"/>
          <p:nvPr/>
        </p:nvSpPr>
        <p:spPr>
          <a:xfrm>
            <a:off x="60121" y="1923308"/>
            <a:ext cx="11942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Most of current method focusing on 2D image perception rather than spatial reasoning with necessary 3D latent feature guidance.</a:t>
            </a:r>
          </a:p>
        </p:txBody>
      </p:sp>
    </p:spTree>
    <p:extLst>
      <p:ext uri="{BB962C8B-B14F-4D97-AF65-F5344CB8AC3E}">
        <p14:creationId xmlns:p14="http://schemas.microsoft.com/office/powerpoint/2010/main" val="2242327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EDDD-8906-BB47-E36E-9640568F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9A63B973-778B-89CD-52BF-AEE7BD40B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3BE1D75E-7911-35BB-C6C9-D26874D2F989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Existing work: Latent spatial reasoning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997E47-556C-F02C-ECFB-83DE072FB779}"/>
              </a:ext>
            </a:extLst>
          </p:cNvPr>
          <p:cNvSpPr txBox="1"/>
          <p:nvPr/>
        </p:nvSpPr>
        <p:spPr>
          <a:xfrm>
            <a:off x="0" y="728677"/>
            <a:ext cx="5520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spatial reasoning existing work &amp; limitation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E86FF5-88F0-360C-BE16-58ED8CCD14F6}"/>
              </a:ext>
            </a:extLst>
          </p:cNvPr>
          <p:cNvSpPr txBox="1"/>
          <p:nvPr/>
        </p:nvSpPr>
        <p:spPr>
          <a:xfrm>
            <a:off x="85523" y="1081211"/>
            <a:ext cx="12050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Latent spatial reasoning enables VLMs to reason in continuous vision–language latent space, guided by 3D models like VGGT and trained with SFT plus GRPO-based RLVR.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5AA07B-528C-EEEF-FC54-084EA8890C9E}"/>
              </a:ext>
            </a:extLst>
          </p:cNvPr>
          <p:cNvSpPr txBox="1"/>
          <p:nvPr/>
        </p:nvSpPr>
        <p:spPr>
          <a:xfrm>
            <a:off x="70954" y="1627958"/>
            <a:ext cx="12050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</a:rPr>
              <a:t>Only dense 3D features are used in latent reasoning, while fine-grained 2D spatial supervision at intermediate reasoning steps is missing.</a:t>
            </a:r>
          </a:p>
        </p:txBody>
      </p:sp>
      <p:pic>
        <p:nvPicPr>
          <p:cNvPr id="3074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06F9654-EF47-8939-03FE-797578759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984" y="2088808"/>
            <a:ext cx="7503895" cy="470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diagram of a room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48B12276-645D-BCA7-D819-0CB281CB5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625347"/>
            <a:ext cx="4627984" cy="341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458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58F6-B3D3-F3A8-34FE-08E8B100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EA38D6FA-58CD-7053-A1DF-5F8C65655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21" y="62917"/>
            <a:ext cx="12071758" cy="654341"/>
          </a:xfrm>
          <a:prstGeom prst="rect">
            <a:avLst/>
          </a:prstGeom>
          <a:solidFill>
            <a:srgbClr val="003366"/>
          </a:solidFill>
          <a:ln w="19050" cap="flat">
            <a:solidFill>
              <a:schemeClr val="bg2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>
              <a:solidFill>
                <a:srgbClr val="213555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</a:endParaRP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CEA4B4A1-7CEE-CC2C-3B34-1C74EB634343}"/>
              </a:ext>
            </a:extLst>
          </p:cNvPr>
          <p:cNvSpPr txBox="1"/>
          <p:nvPr/>
        </p:nvSpPr>
        <p:spPr>
          <a:xfrm>
            <a:off x="304167" y="62917"/>
            <a:ext cx="11698052" cy="596680"/>
          </a:xfrm>
          <a:prstGeom prst="rect">
            <a:avLst/>
          </a:prstGeom>
          <a:noFill/>
        </p:spPr>
        <p:txBody>
          <a:bodyPr wrap="square" numCol="1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Potential idea: Latent spatial reasoning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EDE35C-998B-9F7B-6694-7336F3E322A1}"/>
              </a:ext>
            </a:extLst>
          </p:cNvPr>
          <p:cNvSpPr txBox="1"/>
          <p:nvPr/>
        </p:nvSpPr>
        <p:spPr>
          <a:xfrm>
            <a:off x="11506" y="735323"/>
            <a:ext cx="4314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spatial reasoning potential idea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C92BB0FA-71B3-9EE5-1B46-D12BA7475633}"/>
              </a:ext>
            </a:extLst>
          </p:cNvPr>
          <p:cNvCxnSpPr>
            <a:cxnSpLocks/>
            <a:stCxn id="59" idx="2"/>
            <a:endCxn id="51" idx="0"/>
          </p:cNvCxnSpPr>
          <p:nvPr/>
        </p:nvCxnSpPr>
        <p:spPr>
          <a:xfrm rot="16200000" flipH="1">
            <a:off x="2520286" y="5008928"/>
            <a:ext cx="1398795" cy="573168"/>
          </a:xfrm>
          <a:prstGeom prst="bentConnector3">
            <a:avLst>
              <a:gd name="adj1" fmla="val 86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14AA267-28A3-CF42-28B6-AE30A6223EA6}"/>
              </a:ext>
            </a:extLst>
          </p:cNvPr>
          <p:cNvCxnSpPr>
            <a:cxnSpLocks/>
            <a:stCxn id="57" idx="2"/>
            <a:endCxn id="56" idx="0"/>
          </p:cNvCxnSpPr>
          <p:nvPr/>
        </p:nvCxnSpPr>
        <p:spPr>
          <a:xfrm rot="16200000" flipH="1">
            <a:off x="4374119" y="4811268"/>
            <a:ext cx="1881392" cy="426646"/>
          </a:xfrm>
          <a:prstGeom prst="bentConnector3">
            <a:avLst>
              <a:gd name="adj1" fmla="val 2663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28AFE85-6D85-9549-7DB2-533A7B13A2DC}"/>
              </a:ext>
            </a:extLst>
          </p:cNvPr>
          <p:cNvSpPr/>
          <p:nvPr/>
        </p:nvSpPr>
        <p:spPr>
          <a:xfrm>
            <a:off x="520128" y="4829753"/>
            <a:ext cx="11116577" cy="4953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VLM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2924096-F8F7-96FA-72DE-1FF37F251117}"/>
              </a:ext>
            </a:extLst>
          </p:cNvPr>
          <p:cNvSpPr/>
          <p:nvPr/>
        </p:nvSpPr>
        <p:spPr>
          <a:xfrm>
            <a:off x="516935" y="5474964"/>
            <a:ext cx="434975" cy="412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621780-6A3A-6CFE-6EEC-56636C108AB2}"/>
              </a:ext>
            </a:extLst>
          </p:cNvPr>
          <p:cNvSpPr/>
          <p:nvPr/>
        </p:nvSpPr>
        <p:spPr>
          <a:xfrm>
            <a:off x="989223" y="5474964"/>
            <a:ext cx="434975" cy="412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68705A-1A7E-E1AF-DF12-6E8BFB4D6EB4}"/>
              </a:ext>
            </a:extLst>
          </p:cNvPr>
          <p:cNvSpPr/>
          <p:nvPr/>
        </p:nvSpPr>
        <p:spPr>
          <a:xfrm>
            <a:off x="1834567" y="5474964"/>
            <a:ext cx="434975" cy="412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9AAEDF-C826-6D58-CE51-555FA9E90F2B}"/>
              </a:ext>
            </a:extLst>
          </p:cNvPr>
          <p:cNvSpPr txBox="1"/>
          <p:nvPr/>
        </p:nvSpPr>
        <p:spPr>
          <a:xfrm>
            <a:off x="1424198" y="5474964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44934-75EC-FC03-67A5-06F2BDA006C1}"/>
              </a:ext>
            </a:extLst>
          </p:cNvPr>
          <p:cNvSpPr txBox="1"/>
          <p:nvPr/>
        </p:nvSpPr>
        <p:spPr>
          <a:xfrm>
            <a:off x="734422" y="5994910"/>
            <a:ext cx="152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[Query token]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DF009BA-5D63-95EA-9431-92C543052F52}"/>
              </a:ext>
            </a:extLst>
          </p:cNvPr>
          <p:cNvSpPr/>
          <p:nvPr/>
        </p:nvSpPr>
        <p:spPr>
          <a:xfrm>
            <a:off x="9510453" y="4354019"/>
            <a:ext cx="434975" cy="4127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445220F-C9AA-617F-9137-873427309363}"/>
              </a:ext>
            </a:extLst>
          </p:cNvPr>
          <p:cNvSpPr/>
          <p:nvPr/>
        </p:nvSpPr>
        <p:spPr>
          <a:xfrm>
            <a:off x="9982741" y="4354019"/>
            <a:ext cx="434975" cy="4127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86D1D0-503A-72B5-07A5-963D00B4882E}"/>
              </a:ext>
            </a:extLst>
          </p:cNvPr>
          <p:cNvSpPr/>
          <p:nvPr/>
        </p:nvSpPr>
        <p:spPr>
          <a:xfrm>
            <a:off x="10828085" y="4354019"/>
            <a:ext cx="434975" cy="4127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6E1E0E-98EC-AE5B-8FCA-1F07E6D1A871}"/>
              </a:ext>
            </a:extLst>
          </p:cNvPr>
          <p:cNvSpPr txBox="1"/>
          <p:nvPr/>
        </p:nvSpPr>
        <p:spPr>
          <a:xfrm>
            <a:off x="10417716" y="4354019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728D06-B656-2758-114C-9E12F2BA3A85}"/>
              </a:ext>
            </a:extLst>
          </p:cNvPr>
          <p:cNvSpPr txBox="1"/>
          <p:nvPr/>
        </p:nvSpPr>
        <p:spPr>
          <a:xfrm>
            <a:off x="9103541" y="3916330"/>
            <a:ext cx="190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[2D latent token]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51EC8FF-C7F6-119B-D9D4-59223A2F2AF3}"/>
              </a:ext>
            </a:extLst>
          </p:cNvPr>
          <p:cNvSpPr/>
          <p:nvPr/>
        </p:nvSpPr>
        <p:spPr>
          <a:xfrm>
            <a:off x="9538825" y="5423813"/>
            <a:ext cx="434975" cy="4127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35490DE-03A7-4A49-A607-DB28B1E3E07A}"/>
              </a:ext>
            </a:extLst>
          </p:cNvPr>
          <p:cNvSpPr/>
          <p:nvPr/>
        </p:nvSpPr>
        <p:spPr>
          <a:xfrm>
            <a:off x="10011113" y="5423813"/>
            <a:ext cx="434975" cy="4127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E6792FA-E434-07B7-3E55-6CE11584D126}"/>
              </a:ext>
            </a:extLst>
          </p:cNvPr>
          <p:cNvSpPr/>
          <p:nvPr/>
        </p:nvSpPr>
        <p:spPr>
          <a:xfrm>
            <a:off x="10856457" y="5423813"/>
            <a:ext cx="434975" cy="4127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4798E1-02C6-4380-B353-ECF3EC866C76}"/>
              </a:ext>
            </a:extLst>
          </p:cNvPr>
          <p:cNvSpPr txBox="1"/>
          <p:nvPr/>
        </p:nvSpPr>
        <p:spPr>
          <a:xfrm>
            <a:off x="10446088" y="5423813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E4ECCF-44AC-E37C-B873-0BEFFCC41F58}"/>
              </a:ext>
            </a:extLst>
          </p:cNvPr>
          <p:cNvSpPr txBox="1"/>
          <p:nvPr/>
        </p:nvSpPr>
        <p:spPr>
          <a:xfrm>
            <a:off x="9582656" y="5856129"/>
            <a:ext cx="2010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[2D latent token]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9F67260-1BB1-9FBF-0B59-23D92F572214}"/>
              </a:ext>
            </a:extLst>
          </p:cNvPr>
          <p:cNvSpPr/>
          <p:nvPr/>
        </p:nvSpPr>
        <p:spPr>
          <a:xfrm>
            <a:off x="9066537" y="5423813"/>
            <a:ext cx="434975" cy="4127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EA2119-B3D1-22EB-7F11-B23F5C0CAD62}"/>
              </a:ext>
            </a:extLst>
          </p:cNvPr>
          <p:cNvSpPr txBox="1"/>
          <p:nvPr/>
        </p:nvSpPr>
        <p:spPr>
          <a:xfrm>
            <a:off x="8945277" y="5856129"/>
            <a:ext cx="677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lts</a:t>
            </a:r>
            <a:r>
              <a:rPr lang="en-US" dirty="0"/>
              <a:t>&gt;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EF2730B-5752-CDB4-50FA-0C33201AFDCB}"/>
              </a:ext>
            </a:extLst>
          </p:cNvPr>
          <p:cNvSpPr/>
          <p:nvPr/>
        </p:nvSpPr>
        <p:spPr>
          <a:xfrm>
            <a:off x="11360598" y="5423813"/>
            <a:ext cx="434975" cy="4127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953E90-374E-7A63-78EE-4F93A365C021}"/>
              </a:ext>
            </a:extLst>
          </p:cNvPr>
          <p:cNvSpPr txBox="1"/>
          <p:nvPr/>
        </p:nvSpPr>
        <p:spPr>
          <a:xfrm>
            <a:off x="11291432" y="5856129"/>
            <a:ext cx="686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lte</a:t>
            </a:r>
            <a:r>
              <a:rPr lang="en-US" dirty="0"/>
              <a:t>&gt;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207D8F6-3796-46A8-4DAB-0883BC8C903D}"/>
              </a:ext>
            </a:extLst>
          </p:cNvPr>
          <p:cNvSpPr/>
          <p:nvPr/>
        </p:nvSpPr>
        <p:spPr>
          <a:xfrm>
            <a:off x="11326599" y="4354019"/>
            <a:ext cx="434975" cy="4127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D8B0AF5-E215-A5B6-A0B5-5470B468D29F}"/>
              </a:ext>
            </a:extLst>
          </p:cNvPr>
          <p:cNvSpPr/>
          <p:nvPr/>
        </p:nvSpPr>
        <p:spPr>
          <a:xfrm>
            <a:off x="6709102" y="3777062"/>
            <a:ext cx="434975" cy="4127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05C92DE-293E-486C-3AD2-5C73968F33F4}"/>
              </a:ext>
            </a:extLst>
          </p:cNvPr>
          <p:cNvSpPr/>
          <p:nvPr/>
        </p:nvSpPr>
        <p:spPr>
          <a:xfrm>
            <a:off x="7181390" y="3777062"/>
            <a:ext cx="434975" cy="4127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1F0A303-8AC9-20DA-1AC7-8EAE59B547B6}"/>
              </a:ext>
            </a:extLst>
          </p:cNvPr>
          <p:cNvSpPr/>
          <p:nvPr/>
        </p:nvSpPr>
        <p:spPr>
          <a:xfrm>
            <a:off x="8026734" y="3777062"/>
            <a:ext cx="434975" cy="4127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66394-7735-1C5E-8165-197BCC0BE304}"/>
              </a:ext>
            </a:extLst>
          </p:cNvPr>
          <p:cNvSpPr txBox="1"/>
          <p:nvPr/>
        </p:nvSpPr>
        <p:spPr>
          <a:xfrm>
            <a:off x="7616365" y="3777062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570C01-DDC8-7F5E-EA59-00D24E859A93}"/>
              </a:ext>
            </a:extLst>
          </p:cNvPr>
          <p:cNvSpPr txBox="1"/>
          <p:nvPr/>
        </p:nvSpPr>
        <p:spPr>
          <a:xfrm>
            <a:off x="6836664" y="3370294"/>
            <a:ext cx="1657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[Text token]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B59BA49-31D1-ADF5-87E9-91603354F5A6}"/>
              </a:ext>
            </a:extLst>
          </p:cNvPr>
          <p:cNvSpPr/>
          <p:nvPr/>
        </p:nvSpPr>
        <p:spPr>
          <a:xfrm>
            <a:off x="6902886" y="6068493"/>
            <a:ext cx="434975" cy="4127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5AB483C-51E8-5533-18A6-6FED6D3CF600}"/>
              </a:ext>
            </a:extLst>
          </p:cNvPr>
          <p:cNvSpPr/>
          <p:nvPr/>
        </p:nvSpPr>
        <p:spPr>
          <a:xfrm>
            <a:off x="7375174" y="6068493"/>
            <a:ext cx="434975" cy="4127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EAC996E-6D43-741E-9520-CEF045148A9F}"/>
              </a:ext>
            </a:extLst>
          </p:cNvPr>
          <p:cNvSpPr/>
          <p:nvPr/>
        </p:nvSpPr>
        <p:spPr>
          <a:xfrm>
            <a:off x="8220518" y="6068493"/>
            <a:ext cx="434975" cy="4127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5D5E22-B17C-13F4-4BEC-6258E1DD3FF4}"/>
              </a:ext>
            </a:extLst>
          </p:cNvPr>
          <p:cNvSpPr txBox="1"/>
          <p:nvPr/>
        </p:nvSpPr>
        <p:spPr>
          <a:xfrm>
            <a:off x="7810149" y="6068493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88E98F-56A6-C169-BE38-EE024DF009CF}"/>
              </a:ext>
            </a:extLst>
          </p:cNvPr>
          <p:cNvSpPr txBox="1"/>
          <p:nvPr/>
        </p:nvSpPr>
        <p:spPr>
          <a:xfrm>
            <a:off x="6998180" y="6516716"/>
            <a:ext cx="1657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[Text token]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77E8BE7-C34B-002D-A419-8D60A099F8F5}"/>
              </a:ext>
            </a:extLst>
          </p:cNvPr>
          <p:cNvSpPr/>
          <p:nvPr/>
        </p:nvSpPr>
        <p:spPr>
          <a:xfrm>
            <a:off x="6611287" y="4285063"/>
            <a:ext cx="2156677" cy="41275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Embedding layer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DEBA05D-4F01-0379-FB13-49CB124A1B10}"/>
              </a:ext>
            </a:extLst>
          </p:cNvPr>
          <p:cNvSpPr/>
          <p:nvPr/>
        </p:nvSpPr>
        <p:spPr>
          <a:xfrm>
            <a:off x="6648086" y="5513264"/>
            <a:ext cx="2156677" cy="41275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Tokenization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4FA4BFF-AA58-5A17-7783-F982708E8DCF}"/>
              </a:ext>
            </a:extLst>
          </p:cNvPr>
          <p:cNvSpPr/>
          <p:nvPr/>
        </p:nvSpPr>
        <p:spPr>
          <a:xfrm>
            <a:off x="8128262" y="2646902"/>
            <a:ext cx="1882852" cy="6548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2D Vision encoder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FC3B48EE-2AF2-474E-AEF8-5441786F4469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 rot="16200000" flipH="1">
            <a:off x="9255866" y="3115618"/>
            <a:ext cx="614533" cy="9868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Fire with solid fill">
            <a:extLst>
              <a:ext uri="{FF2B5EF4-FFF2-40B4-BE49-F238E27FC236}">
                <a16:creationId xmlns:a16="http://schemas.microsoft.com/office/drawing/2014/main" id="{390951DD-883D-BD0F-894D-1EABC12AF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388" y="4870003"/>
            <a:ext cx="370122" cy="370122"/>
          </a:xfrm>
          <a:prstGeom prst="rect">
            <a:avLst/>
          </a:prstGeom>
        </p:spPr>
      </p:pic>
      <p:pic>
        <p:nvPicPr>
          <p:cNvPr id="46" name="Graphic 45" descr="Snowflake with solid fill">
            <a:extLst>
              <a:ext uri="{FF2B5EF4-FFF2-40B4-BE49-F238E27FC236}">
                <a16:creationId xmlns:a16="http://schemas.microsoft.com/office/drawing/2014/main" id="{5FDC88DA-2029-8CCA-7E97-1A3E8E8938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261" y="2724412"/>
            <a:ext cx="529063" cy="529063"/>
          </a:xfrm>
          <a:prstGeom prst="rect">
            <a:avLst/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9C2D830-FAB1-45CA-4DE6-3FF583F215B6}"/>
              </a:ext>
            </a:extLst>
          </p:cNvPr>
          <p:cNvSpPr/>
          <p:nvPr/>
        </p:nvSpPr>
        <p:spPr>
          <a:xfrm>
            <a:off x="2526392" y="5474964"/>
            <a:ext cx="434975" cy="4127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EE906B8-473F-CAD3-5605-30D572A9BD74}"/>
              </a:ext>
            </a:extLst>
          </p:cNvPr>
          <p:cNvSpPr/>
          <p:nvPr/>
        </p:nvSpPr>
        <p:spPr>
          <a:xfrm>
            <a:off x="2998680" y="5474964"/>
            <a:ext cx="434975" cy="4127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62AF312-FBAB-00E8-8A2D-43DBEBB285C6}"/>
              </a:ext>
            </a:extLst>
          </p:cNvPr>
          <p:cNvSpPr/>
          <p:nvPr/>
        </p:nvSpPr>
        <p:spPr>
          <a:xfrm>
            <a:off x="3844024" y="5474964"/>
            <a:ext cx="434975" cy="41275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E4D247-8FA2-A4CC-1E8A-E433CB4B7CED}"/>
              </a:ext>
            </a:extLst>
          </p:cNvPr>
          <p:cNvSpPr txBox="1"/>
          <p:nvPr/>
        </p:nvSpPr>
        <p:spPr>
          <a:xfrm>
            <a:off x="3433655" y="5474964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B2BB8F-19CB-7218-898F-E98DE97C1F3D}"/>
              </a:ext>
            </a:extLst>
          </p:cNvPr>
          <p:cNvSpPr txBox="1"/>
          <p:nvPr/>
        </p:nvSpPr>
        <p:spPr>
          <a:xfrm>
            <a:off x="2743879" y="5994910"/>
            <a:ext cx="152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[Image token]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E6DFA22-64E2-A4AB-5485-F147F59D334E}"/>
              </a:ext>
            </a:extLst>
          </p:cNvPr>
          <p:cNvSpPr/>
          <p:nvPr/>
        </p:nvSpPr>
        <p:spPr>
          <a:xfrm>
            <a:off x="4507650" y="5489841"/>
            <a:ext cx="434975" cy="4127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DD8269A-F27D-BB44-5749-247A68CA52A9}"/>
              </a:ext>
            </a:extLst>
          </p:cNvPr>
          <p:cNvSpPr/>
          <p:nvPr/>
        </p:nvSpPr>
        <p:spPr>
          <a:xfrm>
            <a:off x="4979938" y="5489841"/>
            <a:ext cx="434975" cy="4127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B092D55-5BCB-B1F2-4235-9EF7EB578776}"/>
              </a:ext>
            </a:extLst>
          </p:cNvPr>
          <p:cNvSpPr/>
          <p:nvPr/>
        </p:nvSpPr>
        <p:spPr>
          <a:xfrm>
            <a:off x="5825282" y="5489841"/>
            <a:ext cx="434975" cy="4127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AB6FBF-231F-1018-154E-42F440564B06}"/>
              </a:ext>
            </a:extLst>
          </p:cNvPr>
          <p:cNvSpPr txBox="1"/>
          <p:nvPr/>
        </p:nvSpPr>
        <p:spPr>
          <a:xfrm>
            <a:off x="5414913" y="5489841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E7DFDD-BA60-610A-DA1D-C765A675DFEB}"/>
              </a:ext>
            </a:extLst>
          </p:cNvPr>
          <p:cNvSpPr txBox="1"/>
          <p:nvPr/>
        </p:nvSpPr>
        <p:spPr>
          <a:xfrm>
            <a:off x="4519717" y="5965287"/>
            <a:ext cx="201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[3D latent token]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6008BFEF-235E-481F-DACC-8B14D52D9A78}"/>
              </a:ext>
            </a:extLst>
          </p:cNvPr>
          <p:cNvSpPr/>
          <p:nvPr/>
        </p:nvSpPr>
        <p:spPr>
          <a:xfrm>
            <a:off x="3884289" y="3429000"/>
            <a:ext cx="2434406" cy="6548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3D VGGT encoder</a:t>
            </a:r>
          </a:p>
        </p:txBody>
      </p:sp>
      <p:pic>
        <p:nvPicPr>
          <p:cNvPr id="58" name="Graphic 57" descr="Snowflake with solid fill">
            <a:extLst>
              <a:ext uri="{FF2B5EF4-FFF2-40B4-BE49-F238E27FC236}">
                <a16:creationId xmlns:a16="http://schemas.microsoft.com/office/drawing/2014/main" id="{0DAB529F-BDB8-B94A-0942-8CA9297FF7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6979" y="3475452"/>
            <a:ext cx="529063" cy="529063"/>
          </a:xfrm>
          <a:prstGeom prst="rect">
            <a:avLst/>
          </a:prstGeom>
        </p:spPr>
      </p:pic>
      <p:pic>
        <p:nvPicPr>
          <p:cNvPr id="59" name="Picture 58" descr="A collage of different furniture&#10;&#10;Description automatically generated">
            <a:extLst>
              <a:ext uri="{FF2B5EF4-FFF2-40B4-BE49-F238E27FC236}">
                <a16:creationId xmlns:a16="http://schemas.microsoft.com/office/drawing/2014/main" id="{CC049549-CECC-C7A4-014F-F21B37625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3727" y="2950027"/>
            <a:ext cx="1578744" cy="1646088"/>
          </a:xfrm>
          <a:prstGeom prst="rect">
            <a:avLst/>
          </a:prstGeom>
        </p:spPr>
      </p:pic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E116A262-153A-1A69-FFD1-931739B0CF8C}"/>
              </a:ext>
            </a:extLst>
          </p:cNvPr>
          <p:cNvCxnSpPr>
            <a:cxnSpLocks/>
            <a:stCxn id="59" idx="0"/>
            <a:endCxn id="57" idx="0"/>
          </p:cNvCxnSpPr>
          <p:nvPr/>
        </p:nvCxnSpPr>
        <p:spPr>
          <a:xfrm rot="16200000" flipH="1">
            <a:off x="3777808" y="2105317"/>
            <a:ext cx="478973" cy="2168393"/>
          </a:xfrm>
          <a:prstGeom prst="bentConnector3">
            <a:avLst>
              <a:gd name="adj1" fmla="val -47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B337233-2B19-6A3D-62B8-1845B190DF86}"/>
              </a:ext>
            </a:extLst>
          </p:cNvPr>
          <p:cNvCxnSpPr>
            <a:cxnSpLocks/>
          </p:cNvCxnSpPr>
          <p:nvPr/>
        </p:nvCxnSpPr>
        <p:spPr>
          <a:xfrm>
            <a:off x="6536558" y="2629649"/>
            <a:ext cx="0" cy="4414345"/>
          </a:xfrm>
          <a:prstGeom prst="line">
            <a:avLst/>
          </a:prstGeom>
          <a:ln w="38100" cmpd="sng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915AFBE-05FE-89D1-2E3D-D92C9B82FBD6}"/>
              </a:ext>
            </a:extLst>
          </p:cNvPr>
          <p:cNvSpPr txBox="1"/>
          <p:nvPr/>
        </p:nvSpPr>
        <p:spPr>
          <a:xfrm>
            <a:off x="5818211" y="255542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0198EA-0B7F-19D1-3CF8-3DC0AD26D4E5}"/>
              </a:ext>
            </a:extLst>
          </p:cNvPr>
          <p:cNvSpPr txBox="1"/>
          <p:nvPr/>
        </p:nvSpPr>
        <p:spPr>
          <a:xfrm>
            <a:off x="6574569" y="255789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98543A4F-5F6B-B217-ECBC-64FD79456A3B}"/>
              </a:ext>
            </a:extLst>
          </p:cNvPr>
          <p:cNvSpPr/>
          <p:nvPr/>
        </p:nvSpPr>
        <p:spPr>
          <a:xfrm>
            <a:off x="10249027" y="2638242"/>
            <a:ext cx="1882852" cy="6548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Camera pose encoder</a:t>
            </a:r>
          </a:p>
        </p:txBody>
      </p:sp>
      <p:pic>
        <p:nvPicPr>
          <p:cNvPr id="70" name="Graphic 69" descr="Snowflake with solid fill">
            <a:extLst>
              <a:ext uri="{FF2B5EF4-FFF2-40B4-BE49-F238E27FC236}">
                <a16:creationId xmlns:a16="http://schemas.microsoft.com/office/drawing/2014/main" id="{AC9A7649-EEDD-3C77-CDE1-021A579D7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23100" y="2770909"/>
            <a:ext cx="529063" cy="529063"/>
          </a:xfrm>
          <a:prstGeom prst="rect">
            <a:avLst/>
          </a:prstGeom>
        </p:spPr>
      </p:pic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0EFE7FD6-ACEE-CC63-7C89-8A37FB67D93C}"/>
              </a:ext>
            </a:extLst>
          </p:cNvPr>
          <p:cNvCxnSpPr>
            <a:cxnSpLocks/>
            <a:stCxn id="69" idx="2"/>
            <a:endCxn id="20" idx="0"/>
          </p:cNvCxnSpPr>
          <p:nvPr/>
        </p:nvCxnSpPr>
        <p:spPr>
          <a:xfrm rot="5400000">
            <a:off x="10311919" y="3037795"/>
            <a:ext cx="623193" cy="11338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A diagram of a room&#10;&#10;Description automatically generated">
            <a:extLst>
              <a:ext uri="{FF2B5EF4-FFF2-40B4-BE49-F238E27FC236}">
                <a16:creationId xmlns:a16="http://schemas.microsoft.com/office/drawing/2014/main" id="{BE913D3F-4955-02A2-0C36-8B5B08A20E2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830" b="2439"/>
          <a:stretch/>
        </p:blipFill>
        <p:spPr>
          <a:xfrm>
            <a:off x="265802" y="1813547"/>
            <a:ext cx="1591057" cy="1263196"/>
          </a:xfrm>
          <a:prstGeom prst="rect">
            <a:avLst/>
          </a:prstGeom>
        </p:spPr>
      </p:pic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4B506C44-6F1F-4B33-102A-B4D2B041C6E9}"/>
              </a:ext>
            </a:extLst>
          </p:cNvPr>
          <p:cNvCxnSpPr>
            <a:cxnSpLocks/>
            <a:stCxn id="75" idx="2"/>
            <a:endCxn id="43" idx="0"/>
          </p:cNvCxnSpPr>
          <p:nvPr/>
        </p:nvCxnSpPr>
        <p:spPr>
          <a:xfrm rot="16200000" flipH="1">
            <a:off x="6223595" y="-199192"/>
            <a:ext cx="178913" cy="55132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DF546409-CB2A-8A6E-EC59-F5684AFD5FE2}"/>
              </a:ext>
            </a:extLst>
          </p:cNvPr>
          <p:cNvCxnSpPr>
            <a:cxnSpLocks/>
            <a:stCxn id="76" idx="0"/>
            <a:endCxn id="69" idx="0"/>
          </p:cNvCxnSpPr>
          <p:nvPr/>
        </p:nvCxnSpPr>
        <p:spPr>
          <a:xfrm rot="16200000" flipH="1">
            <a:off x="7568259" y="-983952"/>
            <a:ext cx="779072" cy="6465316"/>
          </a:xfrm>
          <a:prstGeom prst="bentConnector3">
            <a:avLst>
              <a:gd name="adj1" fmla="val -293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 descr="A collage of different furniture&#10;&#10;Description automatically generated">
            <a:extLst>
              <a:ext uri="{FF2B5EF4-FFF2-40B4-BE49-F238E27FC236}">
                <a16:creationId xmlns:a16="http://schemas.microsoft.com/office/drawing/2014/main" id="{2B7C90BE-DC02-725A-7500-583892AF91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409" t="49909"/>
          <a:stretch/>
        </p:blipFill>
        <p:spPr>
          <a:xfrm>
            <a:off x="3164957" y="1643448"/>
            <a:ext cx="782913" cy="824541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5B90857-51FB-8B21-B44D-A910A6023B8E}"/>
              </a:ext>
            </a:extLst>
          </p:cNvPr>
          <p:cNvSpPr txBox="1"/>
          <p:nvPr/>
        </p:nvSpPr>
        <p:spPr>
          <a:xfrm>
            <a:off x="3901129" y="1859170"/>
            <a:ext cx="164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 camera pose</a:t>
            </a:r>
          </a:p>
        </p:txBody>
      </p: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8076E7A6-5BE2-CBFD-DB62-3FE12595574C}"/>
              </a:ext>
            </a:extLst>
          </p:cNvPr>
          <p:cNvCxnSpPr>
            <a:cxnSpLocks/>
            <a:stCxn id="72" idx="3"/>
            <a:endCxn id="75" idx="1"/>
          </p:cNvCxnSpPr>
          <p:nvPr/>
        </p:nvCxnSpPr>
        <p:spPr>
          <a:xfrm flipV="1">
            <a:off x="1856859" y="2055719"/>
            <a:ext cx="1308098" cy="3894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C012275-08AC-C6F8-36E1-03A68F1FC694}"/>
              </a:ext>
            </a:extLst>
          </p:cNvPr>
          <p:cNvSpPr txBox="1"/>
          <p:nvPr/>
        </p:nvSpPr>
        <p:spPr>
          <a:xfrm>
            <a:off x="2094369" y="1697935"/>
            <a:ext cx="871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extract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1F0E393-95B6-5E56-1CFE-9C4DA427F5CC}"/>
              </a:ext>
            </a:extLst>
          </p:cNvPr>
          <p:cNvSpPr/>
          <p:nvPr/>
        </p:nvSpPr>
        <p:spPr>
          <a:xfrm>
            <a:off x="9023042" y="4354501"/>
            <a:ext cx="434975" cy="4127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A3D13C-1159-F97C-1D9E-8EFBA3551A1E}"/>
              </a:ext>
            </a:extLst>
          </p:cNvPr>
          <p:cNvSpPr txBox="1"/>
          <p:nvPr/>
        </p:nvSpPr>
        <p:spPr>
          <a:xfrm>
            <a:off x="304167" y="1117918"/>
            <a:ext cx="6694013" cy="337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accent1"/>
                </a:solidFill>
              </a:rPr>
              <a:t>Extract step-level spatial cues to supervise reasoning during view shifts.</a:t>
            </a:r>
          </a:p>
        </p:txBody>
      </p:sp>
    </p:spTree>
    <p:extLst>
      <p:ext uri="{BB962C8B-B14F-4D97-AF65-F5344CB8AC3E}">
        <p14:creationId xmlns:p14="http://schemas.microsoft.com/office/powerpoint/2010/main" val="705791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7089</TotalTime>
  <Words>940</Words>
  <Application>Microsoft Macintosh PowerPoint</Application>
  <PresentationFormat>Widescreen</PresentationFormat>
  <Paragraphs>179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Inter</vt:lpstr>
      <vt:lpstr>字魂105号-简雅黑</vt:lpstr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淏明 王</dc:creator>
  <cp:lastModifiedBy>淏明 王</cp:lastModifiedBy>
  <cp:revision>52</cp:revision>
  <dcterms:created xsi:type="dcterms:W3CDTF">2025-09-11T14:20:12Z</dcterms:created>
  <dcterms:modified xsi:type="dcterms:W3CDTF">2026-03-23T15:46:19Z</dcterms:modified>
</cp:coreProperties>
</file>