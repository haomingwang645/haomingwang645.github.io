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68" r:id="rId2"/>
    <p:sldId id="269" r:id="rId3"/>
    <p:sldId id="270" r:id="rId4"/>
    <p:sldId id="271" r:id="rId5"/>
    <p:sldId id="284" r:id="rId6"/>
    <p:sldId id="272" r:id="rId7"/>
    <p:sldId id="279" r:id="rId8"/>
    <p:sldId id="275" r:id="rId9"/>
    <p:sldId id="283" r:id="rId10"/>
    <p:sldId id="285" r:id="rId11"/>
    <p:sldId id="281" r:id="rId12"/>
    <p:sldId id="263" r:id="rId13"/>
    <p:sldId id="286" r:id="rId14"/>
    <p:sldId id="266" r:id="rId15"/>
    <p:sldId id="289" r:id="rId16"/>
    <p:sldId id="287" r:id="rId17"/>
    <p:sldId id="267" r:id="rId18"/>
    <p:sldId id="288" r:id="rId19"/>
    <p:sldId id="265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FFDE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68"/>
    <p:restoredTop sz="79490"/>
  </p:normalViewPr>
  <p:slideViewPr>
    <p:cSldViewPr snapToGrid="0">
      <p:cViewPr varScale="1">
        <p:scale>
          <a:sx n="125" d="100"/>
          <a:sy n="125" d="100"/>
        </p:scale>
        <p:origin x="10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4035B7-5C91-7149-A4D9-CFFCDE45202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886BB-A635-344C-9BF5-4270DE6E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5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F97E-6DE8-83E8-466E-352B04D1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8155B-87A9-39B2-4064-428D45370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3FEB4-7DAB-5CBD-FB85-6DA4B15DB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BA6C3-8198-2853-030E-1F56A6309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2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9DA7C-A8CD-2B68-2C58-31716BE98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0F039-9BA4-0477-9009-B65E3A7BF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9FFF1-B7CB-3020-9577-291DD28F7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 GPT-5 Achieved Spatial Intelligence? An Empirical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5155C-6751-F0A0-AB26-08B5E7978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3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EB8B-9CBA-2209-460B-8601A8BE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F04F8-5EAB-DA76-280D-85B1EB2C5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71352-3C1A-173A-F7FF-FC8CBF9D1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Spatial reasoning is not "emerging" at the same rate as other language or vision capabilities; it appears to be a distinct capability that current architectures are struggling to learn from massive 2D data scaling alone.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Core Knowledge Deficits in Multi-Modal Language Models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028A1-1275-8C38-C383-C09F43183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81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E577-CB06-BF6D-AB01-A0365777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2D0C7-5B63-28F3-1A9F-879763DEA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3A2FA-A684-CEBD-F8D7-B9F4D851E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example, if a question asks, </a:t>
            </a:r>
            <a:r>
              <a:rPr lang="en-US" i="1" dirty="0"/>
              <a:t>"What object is typically found right next to the bed?"</a:t>
            </a:r>
            <a:r>
              <a:rPr lang="en-US" dirty="0"/>
              <a:t>, a text-only model can easily guess </a:t>
            </a:r>
            <a:r>
              <a:rPr lang="en-US" i="1" dirty="0"/>
              <a:t>"nightstand"</a:t>
            </a:r>
            <a:r>
              <a:rPr lang="en-US" dirty="0"/>
              <a:t> based on billions of pages of text data it has read. It doesn't need to look at the 3D room to get the answer right.</a:t>
            </a:r>
          </a:p>
          <a:p>
            <a:endParaRPr lang="en-US" dirty="0"/>
          </a:p>
          <a:p>
            <a:r>
              <a:rPr lang="en-US" dirty="0"/>
              <a:t>DO 3D LARGE LANGUAGE MODELS REALLY UNDERSTAND 3D SPATIAL RELATIONSHIPS?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2EB88-0995-47AC-47D2-5BA1BF4AB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16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F472-06FB-CFF0-F13A-947301D8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8A5F5-735B-997D-16D9-AC544E7A9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3F1E2-4DD7-81C4-3559-6E806A78E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example, if a question asks, </a:t>
            </a:r>
            <a:r>
              <a:rPr lang="en-US" i="1" dirty="0"/>
              <a:t>"What object is typically found right next to the bed?"</a:t>
            </a:r>
            <a:r>
              <a:rPr lang="en-US" dirty="0"/>
              <a:t>, a text-only model can easily guess </a:t>
            </a:r>
            <a:r>
              <a:rPr lang="en-US" i="1" dirty="0"/>
              <a:t>"nightstand"</a:t>
            </a:r>
            <a:r>
              <a:rPr lang="en-US" dirty="0"/>
              <a:t> based on billions of pages of text data it has read. It doesn't need to look at the 3D room to get the answer right.</a:t>
            </a:r>
          </a:p>
          <a:p>
            <a:endParaRPr lang="en-US" dirty="0"/>
          </a:p>
          <a:p>
            <a:r>
              <a:rPr lang="en-US" dirty="0"/>
              <a:t>DO 3D LARGE LANGUAGE MODELS REALLY UNDERSTAND 3D SPATIAL RELATIONSHIPS?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10CF9-A996-E0B5-B9A0-F92D14567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33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4BFE2-95E9-3D2E-F9A3-D6FFC8211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EA8BB-44E7-7E06-D2F5-0922482E0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F1CA8-04E6-578C-F44D-70F995F0C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explicit </a:t>
            </a:r>
            <a:r>
              <a:rPr lang="en-US" b="1" dirty="0" err="1"/>
              <a:t>CoT</a:t>
            </a:r>
            <a:r>
              <a:rPr lang="en-US" b="1" dirty="0"/>
              <a:t> prompting can actually </a:t>
            </a:r>
            <a:r>
              <a:rPr lang="en-US" b="1" i="1" dirty="0"/>
              <a:t>impair</a:t>
            </a:r>
            <a:r>
              <a:rPr lang="en-US" b="1" dirty="0"/>
              <a:t> spatial understanding</a:t>
            </a:r>
          </a:p>
          <a:p>
            <a:endParaRPr lang="en-US" dirty="0"/>
          </a:p>
          <a:p>
            <a:r>
              <a:rPr lang="en-US" dirty="0" err="1"/>
              <a:t>CoT</a:t>
            </a:r>
            <a:r>
              <a:rPr lang="en-US" dirty="0"/>
              <a:t> caused the model's attention to diffuse (spread out) or focus too narrowly on the primary subject query, ignoring the critical contextual objects needed for spatial comparison.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lilianweng.github.io</a:t>
            </a:r>
            <a:r>
              <a:rPr lang="en-US" dirty="0"/>
              <a:t>/posts/2025-05-01-thinking/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AF35D-4CBA-EE32-6FB5-870960276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80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12FE-C801-FBEF-91B9-09C181A5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0F657-89BC-AB74-8D29-9FB05A3AA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156FD-B421-6C09-8E6C-0D6E65BAA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BF08F-F84A-0D6A-505A-B2EE24399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7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12FE-C801-FBEF-91B9-09C181A5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0F657-89BC-AB74-8D29-9FB05A3AA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156FD-B421-6C09-8E6C-0D6E65BAA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VideoChat-R1.5: Visual Test-Time Scaling to Reinforce Multimodal Reasoning by Iterative Perception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BF08F-F84A-0D6A-505A-B2EE24399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7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A5E95-7700-52AA-5FD6-3AC6D094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9F3B7-27CF-535E-1DC4-C9C67420E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A3E0B-A832-7B70-9408-181C9FB27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78FE2-0E92-67E6-A8C4-49654DCF5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18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06C95-02E6-0A0B-D8D3-8ED4C4DD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03B3A-96BC-0DE8-D6DA-16AF0E23F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8DD6A-3E67-8E6D-315E-E4FEE4B04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B0811-1846-0200-B918-BDFBBC3F6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542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EA6FD-0686-E04E-CE25-A6862A01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FF149-4B7C-986C-C605-C86910DD2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5E41F-5004-3F41-4632-C9B932EF7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02BB9-EA8C-2D53-DB0E-AAC1F1063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36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F97E-6DE8-83E8-466E-352B04D1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8155B-87A9-39B2-4064-428D45370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3FEB4-7DAB-5CBD-FB85-6DA4B15DB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BA6C3-8198-2853-030E-1F56A6309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25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81526-E863-3722-CF39-C0533EFB4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FE537-03A5-6BC2-1304-1ADF761B7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33106-B7B2-F3A2-F98A-7C5F28B1E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92038-0748-6625-6EB5-6D8AD61C1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73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3299-EE4D-4D72-6A0A-8BFCBCF72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22316-739C-701C-AD65-97143B6C2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E41A6-BA5E-1677-65C5-B23B2F7CB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B617B-22C4-B7F5-E937-7DCE49CF2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642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C931-6212-E90C-7941-524DFC65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C39D8-90E8-7B3D-AD5D-7C78B4451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40920-11EA-E474-E316-48E6EFDC5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95C40-65DF-D4E8-B483-0D6F6A59B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73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80979-CA86-9865-15E1-F7EDAA0B0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78875-80E6-3E4D-C08F-BA63A7E78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C14A3-E665-87FF-DD87-EEFFDE66A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BCA85-8CE5-32FC-9359-DBFED82F7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71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0199C-7887-71FD-E6A5-C1319F11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D0C71-59E4-E06A-29F8-C3BAE2223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309E0-986C-73AC-920A-5FA2174CD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15736-6823-B6BC-93E8-9C602B8AF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33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AAC96-7E00-F6ED-051D-20770132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6A7EE-57E7-E7EA-C383-717B4B302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6E7DE-60BA-98A6-DD11-D526636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A8407-5864-A909-EBEF-32C23A699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468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2E603-FAE9-C4AF-F70A-D45299C2A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CEA71-BEEC-224D-1CC0-C6E26ADC5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D9F3F-D24C-E2F0-2294-4B63C0ADA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2272C-FBC9-3FC6-8A63-2946185EA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72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9B77-6285-B803-88CF-E15505751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F97A9-108E-758F-DBB4-78D548ACB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3C23C-F822-ABE5-8582-8CF920D8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FC6A2-EB6B-A1EE-BA65-8DFDEDA8B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A00B4-E377-D30B-7D35-576A4485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9054-094B-0167-DCE7-958804BD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2635D-C048-33AD-75F3-5A63BADB1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9F802-D4A1-8193-5438-8F53B8EC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69AD9-6CC3-295E-25F0-24B0BE6A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8359E-2C91-3063-558B-1C9ADE59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36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7A74-DBB0-9868-9B2D-2FAA71FBB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2F4F6-DF8A-6ECA-ABD3-D31A88493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03631-2646-3D04-8A4A-8E4CBBF9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A036F-C2B6-4DB0-F9CB-D5B2FCB9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88341-91E0-A066-6616-DACDE389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05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B7E0-D747-C1E3-96DD-E903E439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1AB0C-E978-E457-2738-C3A604B16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54C6A-DC03-3E09-9DCA-FF167C6E9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027AE-FCDE-0437-A3C4-F4A42508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5F00E-8F79-64CF-F294-2F2935FAB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169D6-6292-7311-C4A1-2FEB2F22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2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73F6-3EC2-C5EA-23F6-C0E343460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09561-88B8-8573-0F8C-D02E3871C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9BB37-3713-D78A-5D3E-6A422DF0C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F7843E-E52E-7FE2-943E-0A871E9F7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18793F-8EB7-BFC1-1FCE-6233F8260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112F-8997-147C-1904-0D796CAA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59CA98-BCED-F710-5161-F9A6959FE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AAC18-C3E1-19F4-5353-F5D6368D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3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C245A-7B8C-F27D-D933-3362E6CB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DB270-8470-D2B0-7798-763517446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4C8339-5E35-9E29-AA8E-BDF4F1509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A1C0A-C95F-303F-E24E-A170F8C8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2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79AFA-B059-4428-ABE1-0DBDB239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33775-D612-5BD4-DCA9-26F3B835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53F18-3C17-057B-13A3-6A51081D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7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29A9-1B24-3B4B-5C90-6539970DB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D108-AC19-129F-E697-ADC086522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F2CB7-412F-796B-32F2-001ECEB5F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12316-3CC2-E925-9F08-7CDE72AB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C1DD1-0688-740F-B75F-768FDDB0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CDEE5-AA07-4343-F1BD-4F26BBBF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1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9D0E9-AB5D-582C-D2E6-B94BEA45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66BBFA-00B8-E748-251D-DB01E2A43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F4851-D9BB-C083-5D06-38E63F5EF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65498-8FB1-E918-371D-092070DD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704E3-EB08-F948-ACD9-9E377ADA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3241D-3985-F4F8-40B4-7A372379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78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304D-4963-1602-17D7-8C5FC92F3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AA890-BC76-9C86-F63E-59531E73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A6330-B65B-9490-27A2-0CA9C521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60158-EE01-48BD-F713-B8BA196E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4E875-E590-7DAA-8AA0-D557F2F8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93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7BF4C-7DA6-236E-E232-8F9DEEBABB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1AF10-374B-3C3B-13C6-DA01A7F1C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FD851-3E7A-79D2-30F4-89D043CA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502A9-0BF8-8978-3368-0E41E5DD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335EA-B4AD-CA83-578C-16007A3F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98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289B3-65B3-076C-5379-3A5FC32D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00012-AD35-6E44-2997-B54F201C2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938CA-0ECC-EC75-E33D-2E8274667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BFAEB-6D2D-BC48-AA32-6EFCBCBEB0B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67F8-D664-1A14-4CF7-CDB6DD662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204B-6C06-B6DA-A08A-242C237C2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0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jpe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3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15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9B7C-17E1-7224-2395-868B6A6B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021BE345-D124-1D4D-111A-133BCECE3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10" r="71279" b="29688"/>
          <a:stretch>
            <a:fillRect/>
          </a:stretch>
        </p:blipFill>
        <p:spPr>
          <a:xfrm>
            <a:off x="4830049" y="1205235"/>
            <a:ext cx="2404509" cy="1121093"/>
          </a:xfrm>
          <a:prstGeom prst="rect">
            <a:avLst/>
          </a:prstGeom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092F4CCA-13A3-EE83-0A53-DCAAD138D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823B00C7-6B00-438F-DC05-0BCE1A729454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Fundamental Capabilities of Spatial Intelligence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572D64-CCE0-E219-74E8-9FBBC79655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1" t="8950" r="34553" b="29748"/>
          <a:stretch>
            <a:fillRect/>
          </a:stretch>
        </p:blipFill>
        <p:spPr>
          <a:xfrm>
            <a:off x="4493731" y="2961530"/>
            <a:ext cx="3104918" cy="112109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5288798-9E03-B450-9AF5-D0D6647E59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7070"/>
          <a:stretch>
            <a:fillRect/>
          </a:stretch>
        </p:blipFill>
        <p:spPr>
          <a:xfrm>
            <a:off x="1170465" y="1810502"/>
            <a:ext cx="2559467" cy="1160059"/>
          </a:xfrm>
          <a:prstGeom prst="rect">
            <a:avLst/>
          </a:prstGeom>
        </p:spPr>
      </p:pic>
      <p:sp>
        <p:nvSpPr>
          <p:cNvPr id="45" name="Google Shape;2200;p40">
            <a:extLst>
              <a:ext uri="{FF2B5EF4-FFF2-40B4-BE49-F238E27FC236}">
                <a16:creationId xmlns:a16="http://schemas.microsoft.com/office/drawing/2014/main" id="{1A55CC0A-3EC9-A8B1-113F-2A3A3079EFBE}"/>
              </a:ext>
            </a:extLst>
          </p:cNvPr>
          <p:cNvSpPr txBox="1">
            <a:spLocks/>
          </p:cNvSpPr>
          <p:nvPr/>
        </p:nvSpPr>
        <p:spPr>
          <a:xfrm>
            <a:off x="1604168" y="5154848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Egocentric Visual inputs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8B932AB-AEC4-8D00-FA61-C14054CE69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71" t="-3633" r="21139" b="3633"/>
          <a:stretch>
            <a:fillRect/>
          </a:stretch>
        </p:blipFill>
        <p:spPr>
          <a:xfrm>
            <a:off x="8923597" y="873010"/>
            <a:ext cx="1371600" cy="13716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55EDB07-9903-C624-AB12-DB84E2701E8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5069" t="15353" r="-84" b="20202"/>
          <a:stretch>
            <a:fillRect/>
          </a:stretch>
        </p:blipFill>
        <p:spPr>
          <a:xfrm>
            <a:off x="8980059" y="4374370"/>
            <a:ext cx="1371600" cy="1371600"/>
          </a:xfrm>
          <a:prstGeom prst="rect">
            <a:avLst/>
          </a:prstGeom>
        </p:spPr>
      </p:pic>
      <p:pic>
        <p:nvPicPr>
          <p:cNvPr id="48" name="Picture 6" descr="Can I fly a drone/UAV indoors using a GPS repeater?">
            <a:extLst>
              <a:ext uri="{FF2B5EF4-FFF2-40B4-BE49-F238E27FC236}">
                <a16:creationId xmlns:a16="http://schemas.microsoft.com/office/drawing/2014/main" id="{1B26D3E1-5000-8160-67A9-4067FADAC5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" r="33187"/>
          <a:stretch>
            <a:fillRect/>
          </a:stretch>
        </p:blipFill>
        <p:spPr bwMode="auto">
          <a:xfrm>
            <a:off x="8980059" y="2689342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Google Shape;2200;p40">
            <a:extLst>
              <a:ext uri="{FF2B5EF4-FFF2-40B4-BE49-F238E27FC236}">
                <a16:creationId xmlns:a16="http://schemas.microsoft.com/office/drawing/2014/main" id="{EEA569DF-5668-A98D-B3D1-3BBCCEF1BBD5}"/>
              </a:ext>
            </a:extLst>
          </p:cNvPr>
          <p:cNvSpPr txBox="1">
            <a:spLocks/>
          </p:cNvSpPr>
          <p:nvPr/>
        </p:nvSpPr>
        <p:spPr>
          <a:xfrm>
            <a:off x="4657935" y="5991202"/>
            <a:ext cx="3005876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Basic Spatial Reasoning Capabilities</a:t>
            </a:r>
          </a:p>
        </p:txBody>
      </p:sp>
      <p:sp>
        <p:nvSpPr>
          <p:cNvPr id="50" name="Google Shape;2200;p40">
            <a:extLst>
              <a:ext uri="{FF2B5EF4-FFF2-40B4-BE49-F238E27FC236}">
                <a16:creationId xmlns:a16="http://schemas.microsoft.com/office/drawing/2014/main" id="{C86765F7-7D41-E149-1F09-C511C6DD5AF7}"/>
              </a:ext>
            </a:extLst>
          </p:cNvPr>
          <p:cNvSpPr txBox="1">
            <a:spLocks/>
          </p:cNvSpPr>
          <p:nvPr/>
        </p:nvSpPr>
        <p:spPr>
          <a:xfrm>
            <a:off x="7906925" y="5944752"/>
            <a:ext cx="329072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Spatial-aware Applications</a:t>
            </a:r>
          </a:p>
        </p:txBody>
      </p:sp>
      <p:sp>
        <p:nvSpPr>
          <p:cNvPr id="58" name="Google Shape;2200;p40">
            <a:extLst>
              <a:ext uri="{FF2B5EF4-FFF2-40B4-BE49-F238E27FC236}">
                <a16:creationId xmlns:a16="http://schemas.microsoft.com/office/drawing/2014/main" id="{CF95B68D-3CF5-C8F2-62A4-B0ECBEF8DC9E}"/>
              </a:ext>
            </a:extLst>
          </p:cNvPr>
          <p:cNvSpPr txBox="1">
            <a:spLocks/>
          </p:cNvSpPr>
          <p:nvPr/>
        </p:nvSpPr>
        <p:spPr>
          <a:xfrm>
            <a:off x="4522519" y="2266127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Measurement</a:t>
            </a:r>
          </a:p>
        </p:txBody>
      </p:sp>
      <p:sp>
        <p:nvSpPr>
          <p:cNvPr id="59" name="Rectangle: Rounded Corners 4106">
            <a:extLst>
              <a:ext uri="{FF2B5EF4-FFF2-40B4-BE49-F238E27FC236}">
                <a16:creationId xmlns:a16="http://schemas.microsoft.com/office/drawing/2014/main" id="{D8281319-9A8B-7085-6F9A-AF19CC44050D}"/>
              </a:ext>
            </a:extLst>
          </p:cNvPr>
          <p:cNvSpPr/>
          <p:nvPr/>
        </p:nvSpPr>
        <p:spPr bwMode="auto">
          <a:xfrm>
            <a:off x="8384710" y="832400"/>
            <a:ext cx="2373680" cy="5197448"/>
          </a:xfrm>
          <a:prstGeom prst="roundRect">
            <a:avLst>
              <a:gd name="adj" fmla="val 4890"/>
            </a:avLst>
          </a:prstGeom>
          <a:noFill/>
          <a:ln w="38100">
            <a:solidFill>
              <a:srgbClr val="FF7E79"/>
            </a:solidFill>
            <a:prstDash val="dash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391">
              <a:defRPr/>
            </a:pPr>
            <a:endParaRPr lang="en-US" sz="162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" name="Right Arrow 59">
            <a:extLst>
              <a:ext uri="{FF2B5EF4-FFF2-40B4-BE49-F238E27FC236}">
                <a16:creationId xmlns:a16="http://schemas.microsoft.com/office/drawing/2014/main" id="{20F0882C-50EA-BADE-CC99-7F13FC688EA7}"/>
              </a:ext>
            </a:extLst>
          </p:cNvPr>
          <p:cNvSpPr/>
          <p:nvPr/>
        </p:nvSpPr>
        <p:spPr>
          <a:xfrm>
            <a:off x="7931782" y="3306108"/>
            <a:ext cx="327378" cy="696956"/>
          </a:xfrm>
          <a:prstGeom prst="rightArrow">
            <a:avLst/>
          </a:prstGeom>
          <a:solidFill>
            <a:srgbClr val="FF7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350A3E5-CD77-608B-CDE8-7FADDEE78EE8}"/>
              </a:ext>
            </a:extLst>
          </p:cNvPr>
          <p:cNvSpPr/>
          <p:nvPr/>
        </p:nvSpPr>
        <p:spPr>
          <a:xfrm>
            <a:off x="8589068" y="2217306"/>
            <a:ext cx="2040659" cy="362182"/>
          </a:xfrm>
          <a:prstGeom prst="rect">
            <a:avLst/>
          </a:prstGeom>
          <a:solidFill>
            <a:srgbClr val="FFD57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sp>
        <p:nvSpPr>
          <p:cNvPr id="62" name="Google Shape;2200;p40">
            <a:extLst>
              <a:ext uri="{FF2B5EF4-FFF2-40B4-BE49-F238E27FC236}">
                <a16:creationId xmlns:a16="http://schemas.microsoft.com/office/drawing/2014/main" id="{99A19CFE-CC16-5765-B358-10154017C1A1}"/>
              </a:ext>
            </a:extLst>
          </p:cNvPr>
          <p:cNvSpPr txBox="1">
            <a:spLocks/>
          </p:cNvSpPr>
          <p:nvPr/>
        </p:nvSpPr>
        <p:spPr>
          <a:xfrm>
            <a:off x="8489780" y="2174441"/>
            <a:ext cx="2246073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Robotics Manipulator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F877B29-DB8D-3A5F-390B-EAF76F0479CE}"/>
              </a:ext>
            </a:extLst>
          </p:cNvPr>
          <p:cNvSpPr/>
          <p:nvPr/>
        </p:nvSpPr>
        <p:spPr>
          <a:xfrm>
            <a:off x="8690646" y="3899409"/>
            <a:ext cx="1884550" cy="362182"/>
          </a:xfrm>
          <a:prstGeom prst="rect">
            <a:avLst/>
          </a:prstGeom>
          <a:solidFill>
            <a:srgbClr val="FFD57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sp>
        <p:nvSpPr>
          <p:cNvPr id="64" name="Google Shape;2200;p40">
            <a:extLst>
              <a:ext uri="{FF2B5EF4-FFF2-40B4-BE49-F238E27FC236}">
                <a16:creationId xmlns:a16="http://schemas.microsoft.com/office/drawing/2014/main" id="{530099BF-32FA-2FAB-83FE-2C7A0F935890}"/>
              </a:ext>
            </a:extLst>
          </p:cNvPr>
          <p:cNvSpPr txBox="1">
            <a:spLocks/>
          </p:cNvSpPr>
          <p:nvPr/>
        </p:nvSpPr>
        <p:spPr>
          <a:xfrm>
            <a:off x="8512317" y="3851761"/>
            <a:ext cx="2246073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Autonomous Drones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A6B3C0E-F34B-2BBF-BD73-A3BF37B22E11}"/>
              </a:ext>
            </a:extLst>
          </p:cNvPr>
          <p:cNvSpPr/>
          <p:nvPr/>
        </p:nvSpPr>
        <p:spPr>
          <a:xfrm>
            <a:off x="8740438" y="5543249"/>
            <a:ext cx="1884550" cy="362182"/>
          </a:xfrm>
          <a:prstGeom prst="rect">
            <a:avLst/>
          </a:prstGeom>
          <a:solidFill>
            <a:srgbClr val="FFD57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sp>
        <p:nvSpPr>
          <p:cNvPr id="66" name="Google Shape;2200;p40">
            <a:extLst>
              <a:ext uri="{FF2B5EF4-FFF2-40B4-BE49-F238E27FC236}">
                <a16:creationId xmlns:a16="http://schemas.microsoft.com/office/drawing/2014/main" id="{718CAEEB-36C3-C228-5DBD-65759AA79DEA}"/>
              </a:ext>
            </a:extLst>
          </p:cNvPr>
          <p:cNvSpPr txBox="1">
            <a:spLocks/>
          </p:cNvSpPr>
          <p:nvPr/>
        </p:nvSpPr>
        <p:spPr>
          <a:xfrm>
            <a:off x="8648159" y="5503928"/>
            <a:ext cx="2246073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Wearable AR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15824E3-0147-A4FB-7203-D174619CD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558" b="32234"/>
          <a:stretch>
            <a:fillRect/>
          </a:stretch>
        </p:blipFill>
        <p:spPr>
          <a:xfrm>
            <a:off x="4697747" y="4353195"/>
            <a:ext cx="2883476" cy="1239317"/>
          </a:xfrm>
          <a:prstGeom prst="rect">
            <a:avLst/>
          </a:prstGeom>
        </p:spPr>
      </p:pic>
      <p:sp>
        <p:nvSpPr>
          <p:cNvPr id="70" name="Google Shape;2200;p40">
            <a:extLst>
              <a:ext uri="{FF2B5EF4-FFF2-40B4-BE49-F238E27FC236}">
                <a16:creationId xmlns:a16="http://schemas.microsoft.com/office/drawing/2014/main" id="{9DC21730-07EB-FE80-B2C4-ED32327548B9}"/>
              </a:ext>
            </a:extLst>
          </p:cNvPr>
          <p:cNvSpPr txBox="1">
            <a:spLocks/>
          </p:cNvSpPr>
          <p:nvPr/>
        </p:nvSpPr>
        <p:spPr>
          <a:xfrm>
            <a:off x="5932594" y="2133824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>
              <a:lnSpc>
                <a:spcPts val="1700"/>
              </a:lnSpc>
            </a:pPr>
            <a:r>
              <a:rPr lang="en-US" b="1" dirty="0">
                <a:solidFill>
                  <a:schemeClr val="accent5"/>
                </a:solidFill>
              </a:rPr>
              <a:t>Mental reconstruction</a:t>
            </a:r>
          </a:p>
        </p:txBody>
      </p:sp>
      <p:sp>
        <p:nvSpPr>
          <p:cNvPr id="71" name="Google Shape;2200;p40">
            <a:extLst>
              <a:ext uri="{FF2B5EF4-FFF2-40B4-BE49-F238E27FC236}">
                <a16:creationId xmlns:a16="http://schemas.microsoft.com/office/drawing/2014/main" id="{F22AD7CE-A33B-F816-3AE4-983DD9D2D5C7}"/>
              </a:ext>
            </a:extLst>
          </p:cNvPr>
          <p:cNvSpPr txBox="1">
            <a:spLocks/>
          </p:cNvSpPr>
          <p:nvPr/>
        </p:nvSpPr>
        <p:spPr>
          <a:xfrm>
            <a:off x="4493731" y="3905591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Relative Relation</a:t>
            </a:r>
          </a:p>
        </p:txBody>
      </p:sp>
      <p:sp>
        <p:nvSpPr>
          <p:cNvPr id="72" name="Google Shape;2200;p40">
            <a:extLst>
              <a:ext uri="{FF2B5EF4-FFF2-40B4-BE49-F238E27FC236}">
                <a16:creationId xmlns:a16="http://schemas.microsoft.com/office/drawing/2014/main" id="{E28E03D4-B455-220C-514C-7EF6D3665A68}"/>
              </a:ext>
            </a:extLst>
          </p:cNvPr>
          <p:cNvSpPr txBox="1">
            <a:spLocks/>
          </p:cNvSpPr>
          <p:nvPr/>
        </p:nvSpPr>
        <p:spPr>
          <a:xfrm>
            <a:off x="6080052" y="3851761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Perspective taking</a:t>
            </a:r>
          </a:p>
        </p:txBody>
      </p:sp>
      <p:sp>
        <p:nvSpPr>
          <p:cNvPr id="73" name="Google Shape;2200;p40">
            <a:extLst>
              <a:ext uri="{FF2B5EF4-FFF2-40B4-BE49-F238E27FC236}">
                <a16:creationId xmlns:a16="http://schemas.microsoft.com/office/drawing/2014/main" id="{8B08774D-28F4-9BA7-AA9B-77C361F0446A}"/>
              </a:ext>
            </a:extLst>
          </p:cNvPr>
          <p:cNvSpPr txBox="1">
            <a:spLocks/>
          </p:cNvSpPr>
          <p:nvPr/>
        </p:nvSpPr>
        <p:spPr>
          <a:xfrm>
            <a:off x="4450931" y="5493310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Mental rotation</a:t>
            </a:r>
          </a:p>
        </p:txBody>
      </p:sp>
      <p:sp>
        <p:nvSpPr>
          <p:cNvPr id="74" name="Google Shape;2200;p40">
            <a:extLst>
              <a:ext uri="{FF2B5EF4-FFF2-40B4-BE49-F238E27FC236}">
                <a16:creationId xmlns:a16="http://schemas.microsoft.com/office/drawing/2014/main" id="{19909A82-4D10-F1DB-C002-2B3C47237663}"/>
              </a:ext>
            </a:extLst>
          </p:cNvPr>
          <p:cNvSpPr txBox="1">
            <a:spLocks/>
          </p:cNvSpPr>
          <p:nvPr/>
        </p:nvSpPr>
        <p:spPr>
          <a:xfrm>
            <a:off x="6021558" y="5503928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Multi-step</a:t>
            </a:r>
          </a:p>
        </p:txBody>
      </p:sp>
      <p:sp>
        <p:nvSpPr>
          <p:cNvPr id="75" name="Rectangle: Rounded Corners 4106">
            <a:extLst>
              <a:ext uri="{FF2B5EF4-FFF2-40B4-BE49-F238E27FC236}">
                <a16:creationId xmlns:a16="http://schemas.microsoft.com/office/drawing/2014/main" id="{EFDA2908-F7B9-65DF-C700-74EEB4434A03}"/>
              </a:ext>
            </a:extLst>
          </p:cNvPr>
          <p:cNvSpPr/>
          <p:nvPr/>
        </p:nvSpPr>
        <p:spPr bwMode="auto">
          <a:xfrm>
            <a:off x="4322361" y="904506"/>
            <a:ext cx="3455994" cy="5125342"/>
          </a:xfrm>
          <a:prstGeom prst="roundRect">
            <a:avLst>
              <a:gd name="adj" fmla="val 4890"/>
            </a:avLst>
          </a:prstGeom>
          <a:noFill/>
          <a:ln w="38100">
            <a:solidFill>
              <a:srgbClr val="FF7E79"/>
            </a:solidFill>
            <a:prstDash val="dash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391">
              <a:defRPr/>
            </a:pPr>
            <a:endParaRPr lang="en-US" sz="162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E379D337-C2BC-A689-F0B3-467135DC3D9B}"/>
              </a:ext>
            </a:extLst>
          </p:cNvPr>
          <p:cNvSpPr/>
          <p:nvPr/>
        </p:nvSpPr>
        <p:spPr>
          <a:xfrm>
            <a:off x="3939889" y="3203323"/>
            <a:ext cx="327378" cy="696956"/>
          </a:xfrm>
          <a:prstGeom prst="rightArrow">
            <a:avLst/>
          </a:prstGeom>
          <a:solidFill>
            <a:srgbClr val="FF7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19F998C-450B-C786-6D3E-61A8CA0EF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742" t="6862" r="33615"/>
          <a:stretch>
            <a:fillRect/>
          </a:stretch>
        </p:blipFill>
        <p:spPr>
          <a:xfrm>
            <a:off x="1190890" y="2898841"/>
            <a:ext cx="2537170" cy="108046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1D50720-87B0-308B-4856-A2618588C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509" t="6862" r="1373"/>
          <a:stretch>
            <a:fillRect/>
          </a:stretch>
        </p:blipFill>
        <p:spPr>
          <a:xfrm>
            <a:off x="1225386" y="3911764"/>
            <a:ext cx="2496353" cy="1080460"/>
          </a:xfrm>
          <a:prstGeom prst="rect">
            <a:avLst/>
          </a:prstGeom>
        </p:spPr>
      </p:pic>
      <p:sp>
        <p:nvSpPr>
          <p:cNvPr id="79" name="Rectangle: Rounded Corners 4106">
            <a:extLst>
              <a:ext uri="{FF2B5EF4-FFF2-40B4-BE49-F238E27FC236}">
                <a16:creationId xmlns:a16="http://schemas.microsoft.com/office/drawing/2014/main" id="{B748B237-F7E9-5829-36C5-72FC7F4474F4}"/>
              </a:ext>
            </a:extLst>
          </p:cNvPr>
          <p:cNvSpPr/>
          <p:nvPr/>
        </p:nvSpPr>
        <p:spPr bwMode="auto">
          <a:xfrm>
            <a:off x="1071063" y="1740859"/>
            <a:ext cx="2766818" cy="3413989"/>
          </a:xfrm>
          <a:prstGeom prst="roundRect">
            <a:avLst>
              <a:gd name="adj" fmla="val 4890"/>
            </a:avLst>
          </a:prstGeom>
          <a:noFill/>
          <a:ln w="38100">
            <a:solidFill>
              <a:srgbClr val="FF7E79"/>
            </a:solidFill>
            <a:prstDash val="dash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391">
              <a:defRPr/>
            </a:pPr>
            <a:endParaRPr lang="en-US" sz="162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47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1073-DB37-C23E-9A97-5BCE9B3E5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218E34B5-2BEB-EC31-6227-862753E62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B5A2FDDC-69AF-46C5-BAE5-B24E7310929B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performance gap between VLMs and humans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B06FA-406B-57D8-43DC-7D5409AB3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15" y="1684684"/>
            <a:ext cx="7040880" cy="1659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ED2139-B1A1-1B6A-5AE5-177E8FF65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" y="3702977"/>
            <a:ext cx="7040880" cy="248198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32C00E4-1FB3-3E37-4450-B8EA6F96D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620" y="1303168"/>
            <a:ext cx="4635685" cy="3556478"/>
          </a:xfrm>
          <a:prstGeom prst="rect">
            <a:avLst/>
          </a:prstGeom>
        </p:spPr>
      </p:pic>
      <p:pic>
        <p:nvPicPr>
          <p:cNvPr id="1026" name="Picture 2" descr="chat gpt logo | MotionGraphicPlus">
            <a:extLst>
              <a:ext uri="{FF2B5EF4-FFF2-40B4-BE49-F238E27FC236}">
                <a16:creationId xmlns:a16="http://schemas.microsoft.com/office/drawing/2014/main" id="{4DF5FBE1-25B2-2A2D-C490-F3C482591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7" y="847991"/>
            <a:ext cx="2126898" cy="77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Google Shape;2200;p40">
            <a:extLst>
              <a:ext uri="{FF2B5EF4-FFF2-40B4-BE49-F238E27FC236}">
                <a16:creationId xmlns:a16="http://schemas.microsoft.com/office/drawing/2014/main" id="{563D019F-15FD-2759-0D4C-41E3A5B58B89}"/>
              </a:ext>
            </a:extLst>
          </p:cNvPr>
          <p:cNvSpPr txBox="1">
            <a:spLocks/>
          </p:cNvSpPr>
          <p:nvPr/>
        </p:nvSpPr>
        <p:spPr>
          <a:xfrm>
            <a:off x="3022939" y="3081407"/>
            <a:ext cx="4635684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</a:rPr>
              <a:t>Reasoning based on 2d pixel space</a:t>
            </a:r>
          </a:p>
        </p:txBody>
      </p:sp>
      <p:pic>
        <p:nvPicPr>
          <p:cNvPr id="1024" name="Picture 10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D0193B8-0012-0C36-0C6F-DF700C657A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3338" y="2985756"/>
            <a:ext cx="717223" cy="717223"/>
          </a:xfrm>
          <a:prstGeom prst="rect">
            <a:avLst/>
          </a:prstGeom>
        </p:spPr>
      </p:pic>
      <p:pic>
        <p:nvPicPr>
          <p:cNvPr id="1025" name="Picture 10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21F6B3F-9E02-BF1F-2E1A-D7E8FB1CD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3337" y="5282391"/>
            <a:ext cx="717223" cy="717223"/>
          </a:xfrm>
          <a:prstGeom prst="rect">
            <a:avLst/>
          </a:prstGeom>
        </p:spPr>
      </p:pic>
      <p:sp>
        <p:nvSpPr>
          <p:cNvPr id="1027" name="Google Shape;2200;p40">
            <a:extLst>
              <a:ext uri="{FF2B5EF4-FFF2-40B4-BE49-F238E27FC236}">
                <a16:creationId xmlns:a16="http://schemas.microsoft.com/office/drawing/2014/main" id="{0842FA10-EDBA-782E-7271-C2911250B7E9}"/>
              </a:ext>
            </a:extLst>
          </p:cNvPr>
          <p:cNvSpPr txBox="1">
            <a:spLocks/>
          </p:cNvSpPr>
          <p:nvPr/>
        </p:nvSpPr>
        <p:spPr>
          <a:xfrm>
            <a:off x="2646311" y="5378042"/>
            <a:ext cx="4635684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</a:rPr>
              <a:t>Struggle in mental rotation</a:t>
            </a:r>
          </a:p>
        </p:txBody>
      </p: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42B90E48-4219-3980-2053-3CCF5D40F19A}"/>
              </a:ext>
            </a:extLst>
          </p:cNvPr>
          <p:cNvCxnSpPr>
            <a:cxnSpLocks/>
          </p:cNvCxnSpPr>
          <p:nvPr/>
        </p:nvCxnSpPr>
        <p:spPr>
          <a:xfrm>
            <a:off x="7456602" y="1337373"/>
            <a:ext cx="0" cy="4666454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Google Shape;2200;p40">
            <a:extLst>
              <a:ext uri="{FF2B5EF4-FFF2-40B4-BE49-F238E27FC236}">
                <a16:creationId xmlns:a16="http://schemas.microsoft.com/office/drawing/2014/main" id="{5192A166-E0C8-12CF-1999-492C6B04A0BA}"/>
              </a:ext>
            </a:extLst>
          </p:cNvPr>
          <p:cNvSpPr txBox="1">
            <a:spLocks/>
          </p:cNvSpPr>
          <p:nvPr/>
        </p:nvSpPr>
        <p:spPr>
          <a:xfrm>
            <a:off x="7990627" y="5019431"/>
            <a:ext cx="3643670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Human</a:t>
            </a:r>
            <a:r>
              <a:rPr lang="en-US" sz="2000" b="1" dirty="0">
                <a:solidFill>
                  <a:srgbClr val="C00000"/>
                </a:solidFill>
              </a:rPr>
              <a:t> VS </a:t>
            </a:r>
            <a:r>
              <a:rPr lang="en-US" sz="2000" b="1" dirty="0">
                <a:solidFill>
                  <a:schemeClr val="tx1"/>
                </a:solidFill>
              </a:rPr>
              <a:t>Proprietary models 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VS </a:t>
            </a:r>
            <a:r>
              <a:rPr lang="en-US" sz="2000" b="1" dirty="0">
                <a:solidFill>
                  <a:schemeClr val="tx1"/>
                </a:solidFill>
              </a:rPr>
              <a:t>Open-sourced general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4B878-519E-8C91-959F-A675EFE46141}"/>
              </a:ext>
            </a:extLst>
          </p:cNvPr>
          <p:cNvSpPr txBox="1"/>
          <p:nvPr/>
        </p:nvSpPr>
        <p:spPr>
          <a:xfrm>
            <a:off x="1367616" y="6208757"/>
            <a:ext cx="89360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[1] Has GPT-5 Achieved Spatial Intelligence? An Empirical Study</a:t>
            </a:r>
          </a:p>
          <a:p>
            <a:r>
              <a:rPr lang="en-US" sz="1600" b="1" dirty="0"/>
              <a:t>[2] How Far are VLMs from Visual Spatial Intelligence? A Benchmark-Driven Perspective</a:t>
            </a:r>
          </a:p>
        </p:txBody>
      </p:sp>
    </p:spTree>
    <p:extLst>
      <p:ext uri="{BB962C8B-B14F-4D97-AF65-F5344CB8AC3E}">
        <p14:creationId xmlns:p14="http://schemas.microsoft.com/office/powerpoint/2010/main" val="407311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202F9-C51A-3CAB-5E88-05249F3A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B6571FCE-F6D7-89EC-909C-CA2BB372E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11AF52D5-BA79-973E-5419-740C9C90174C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we solve spatial reasoning by further scaling training data and model size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816484-FA93-624E-8708-614AC73A38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28" t="3173" r="68840" b="52112"/>
          <a:stretch>
            <a:fillRect/>
          </a:stretch>
        </p:blipFill>
        <p:spPr>
          <a:xfrm>
            <a:off x="631595" y="3749621"/>
            <a:ext cx="3676454" cy="2450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A1B3C2-53A5-D760-17EA-19ACBDE2B8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199" t="51731" r="2515" b="4602"/>
          <a:stretch>
            <a:fillRect/>
          </a:stretch>
        </p:blipFill>
        <p:spPr>
          <a:xfrm>
            <a:off x="4958498" y="3840747"/>
            <a:ext cx="3498863" cy="2359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8FB52D-620B-DAB9-AD67-F6F2C43F9563}"/>
              </a:ext>
            </a:extLst>
          </p:cNvPr>
          <p:cNvSpPr txBox="1"/>
          <p:nvPr/>
        </p:nvSpPr>
        <p:spPr>
          <a:xfrm>
            <a:off x="484137" y="788989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Spatial reasoning is not "emerging" at the same rate as other language or vision capabilities</a:t>
            </a:r>
          </a:p>
        </p:txBody>
      </p:sp>
      <p:sp>
        <p:nvSpPr>
          <p:cNvPr id="9" name="Google Shape;2200;p40">
            <a:extLst>
              <a:ext uri="{FF2B5EF4-FFF2-40B4-BE49-F238E27FC236}">
                <a16:creationId xmlns:a16="http://schemas.microsoft.com/office/drawing/2014/main" id="{B1E35627-C19B-AE17-7849-BCDD70BB352B}"/>
              </a:ext>
            </a:extLst>
          </p:cNvPr>
          <p:cNvSpPr txBox="1">
            <a:spLocks/>
          </p:cNvSpPr>
          <p:nvPr/>
        </p:nvSpPr>
        <p:spPr>
          <a:xfrm>
            <a:off x="1417819" y="3231322"/>
            <a:ext cx="2236500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Measurement Task</a:t>
            </a:r>
          </a:p>
        </p:txBody>
      </p:sp>
      <p:sp>
        <p:nvSpPr>
          <p:cNvPr id="10" name="Google Shape;2200;p40">
            <a:extLst>
              <a:ext uri="{FF2B5EF4-FFF2-40B4-BE49-F238E27FC236}">
                <a16:creationId xmlns:a16="http://schemas.microsoft.com/office/drawing/2014/main" id="{9D312427-7C24-70D4-772F-A5DF37BC4BBD}"/>
              </a:ext>
            </a:extLst>
          </p:cNvPr>
          <p:cNvSpPr txBox="1">
            <a:spLocks/>
          </p:cNvSpPr>
          <p:nvPr/>
        </p:nvSpPr>
        <p:spPr>
          <a:xfrm>
            <a:off x="5686122" y="3251395"/>
            <a:ext cx="265110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Multi-step reasoning task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E6E824-8AC8-D25E-5E2D-4663DC138E10}"/>
              </a:ext>
            </a:extLst>
          </p:cNvPr>
          <p:cNvCxnSpPr/>
          <p:nvPr/>
        </p:nvCxnSpPr>
        <p:spPr>
          <a:xfrm>
            <a:off x="1659117" y="3902414"/>
            <a:ext cx="0" cy="21453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9C8053-D9FC-0DDC-32DD-CC4C08E4B319}"/>
              </a:ext>
            </a:extLst>
          </p:cNvPr>
          <p:cNvCxnSpPr/>
          <p:nvPr/>
        </p:nvCxnSpPr>
        <p:spPr>
          <a:xfrm>
            <a:off x="5912177" y="3863134"/>
            <a:ext cx="0" cy="21453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Google Shape;2200;p40">
            <a:extLst>
              <a:ext uri="{FF2B5EF4-FFF2-40B4-BE49-F238E27FC236}">
                <a16:creationId xmlns:a16="http://schemas.microsoft.com/office/drawing/2014/main" id="{23F59A19-697B-EC60-DCFB-C41C6120E679}"/>
              </a:ext>
            </a:extLst>
          </p:cNvPr>
          <p:cNvSpPr txBox="1">
            <a:spLocks/>
          </p:cNvSpPr>
          <p:nvPr/>
        </p:nvSpPr>
        <p:spPr>
          <a:xfrm>
            <a:off x="-116500" y="3429000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16" name="Google Shape;2200;p40">
            <a:extLst>
              <a:ext uri="{FF2B5EF4-FFF2-40B4-BE49-F238E27FC236}">
                <a16:creationId xmlns:a16="http://schemas.microsoft.com/office/drawing/2014/main" id="{F17D88C6-DD09-EDDA-EBD9-AC2AAAEB3B57}"/>
              </a:ext>
            </a:extLst>
          </p:cNvPr>
          <p:cNvSpPr txBox="1">
            <a:spLocks/>
          </p:cNvSpPr>
          <p:nvPr/>
        </p:nvSpPr>
        <p:spPr>
          <a:xfrm>
            <a:off x="4044402" y="3464144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17" name="Google Shape;2200;p40">
            <a:extLst>
              <a:ext uri="{FF2B5EF4-FFF2-40B4-BE49-F238E27FC236}">
                <a16:creationId xmlns:a16="http://schemas.microsoft.com/office/drawing/2014/main" id="{9AB990E2-C445-6713-BEDE-6E4FD43E84ED}"/>
              </a:ext>
            </a:extLst>
          </p:cNvPr>
          <p:cNvSpPr txBox="1">
            <a:spLocks/>
          </p:cNvSpPr>
          <p:nvPr/>
        </p:nvSpPr>
        <p:spPr>
          <a:xfrm>
            <a:off x="3060553" y="5653967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Data volume</a:t>
            </a:r>
          </a:p>
        </p:txBody>
      </p:sp>
      <p:sp>
        <p:nvSpPr>
          <p:cNvPr id="18" name="Google Shape;2200;p40">
            <a:extLst>
              <a:ext uri="{FF2B5EF4-FFF2-40B4-BE49-F238E27FC236}">
                <a16:creationId xmlns:a16="http://schemas.microsoft.com/office/drawing/2014/main" id="{4165A77C-80AC-78F7-AB4D-6C0929F4EE9C}"/>
              </a:ext>
            </a:extLst>
          </p:cNvPr>
          <p:cNvSpPr txBox="1">
            <a:spLocks/>
          </p:cNvSpPr>
          <p:nvPr/>
        </p:nvSpPr>
        <p:spPr>
          <a:xfrm>
            <a:off x="7106164" y="5643490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Data volume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4B2F5E7-8A41-4F4D-B3B8-C5084F6B68A0}"/>
              </a:ext>
            </a:extLst>
          </p:cNvPr>
          <p:cNvSpPr/>
          <p:nvPr/>
        </p:nvSpPr>
        <p:spPr>
          <a:xfrm>
            <a:off x="1753386" y="3954919"/>
            <a:ext cx="2485135" cy="27154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3E0BB58-F121-0D92-BC15-9B573F204857}"/>
              </a:ext>
            </a:extLst>
          </p:cNvPr>
          <p:cNvSpPr/>
          <p:nvPr/>
        </p:nvSpPr>
        <p:spPr>
          <a:xfrm>
            <a:off x="6002250" y="3972491"/>
            <a:ext cx="2485135" cy="27154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E3C555-8F17-13E4-E685-6996EC7636CC}"/>
              </a:ext>
            </a:extLst>
          </p:cNvPr>
          <p:cNvCxnSpPr>
            <a:cxnSpLocks/>
          </p:cNvCxnSpPr>
          <p:nvPr/>
        </p:nvCxnSpPr>
        <p:spPr>
          <a:xfrm>
            <a:off x="1110518" y="2827473"/>
            <a:ext cx="2318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94DBCE-D2F9-DADE-CB58-B19E81A45359}"/>
              </a:ext>
            </a:extLst>
          </p:cNvPr>
          <p:cNvCxnSpPr>
            <a:cxnSpLocks/>
          </p:cNvCxnSpPr>
          <p:nvPr/>
        </p:nvCxnSpPr>
        <p:spPr>
          <a:xfrm flipV="1">
            <a:off x="1203592" y="1498293"/>
            <a:ext cx="0" cy="1321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Google Shape;2200;p40">
            <a:extLst>
              <a:ext uri="{FF2B5EF4-FFF2-40B4-BE49-F238E27FC236}">
                <a16:creationId xmlns:a16="http://schemas.microsoft.com/office/drawing/2014/main" id="{3FA8D89C-5A1E-BA5E-627A-83514B18DB47}"/>
              </a:ext>
            </a:extLst>
          </p:cNvPr>
          <p:cNvSpPr txBox="1">
            <a:spLocks/>
          </p:cNvSpPr>
          <p:nvPr/>
        </p:nvSpPr>
        <p:spPr>
          <a:xfrm>
            <a:off x="1312020" y="1204033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rgbClr val="C00000"/>
                </a:solidFill>
              </a:rPr>
              <a:t>Basic cognition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56DF11-6A14-57B9-59CF-53B9694B9ABE}"/>
              </a:ext>
            </a:extLst>
          </p:cNvPr>
          <p:cNvSpPr/>
          <p:nvPr/>
        </p:nvSpPr>
        <p:spPr>
          <a:xfrm>
            <a:off x="1478163" y="1875365"/>
            <a:ext cx="320512" cy="94425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EC617E-9940-E229-1339-975C419FD7F0}"/>
              </a:ext>
            </a:extLst>
          </p:cNvPr>
          <p:cNvSpPr/>
          <p:nvPr/>
        </p:nvSpPr>
        <p:spPr>
          <a:xfrm>
            <a:off x="2137154" y="1873793"/>
            <a:ext cx="320512" cy="94425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A05C23-764F-6127-EC9B-E1C559E6B99E}"/>
              </a:ext>
            </a:extLst>
          </p:cNvPr>
          <p:cNvSpPr/>
          <p:nvPr/>
        </p:nvSpPr>
        <p:spPr>
          <a:xfrm>
            <a:off x="2796145" y="2140476"/>
            <a:ext cx="320512" cy="67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Google Shape;2200;p40">
            <a:extLst>
              <a:ext uri="{FF2B5EF4-FFF2-40B4-BE49-F238E27FC236}">
                <a16:creationId xmlns:a16="http://schemas.microsoft.com/office/drawing/2014/main" id="{3D2F1AFB-C18C-47C1-1573-552A4A1439A8}"/>
              </a:ext>
            </a:extLst>
          </p:cNvPr>
          <p:cNvSpPr txBox="1">
            <a:spLocks/>
          </p:cNvSpPr>
          <p:nvPr/>
        </p:nvSpPr>
        <p:spPr>
          <a:xfrm>
            <a:off x="1129372" y="2758742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Human</a:t>
            </a:r>
          </a:p>
        </p:txBody>
      </p:sp>
      <p:sp>
        <p:nvSpPr>
          <p:cNvPr id="31" name="Google Shape;2200;p40">
            <a:extLst>
              <a:ext uri="{FF2B5EF4-FFF2-40B4-BE49-F238E27FC236}">
                <a16:creationId xmlns:a16="http://schemas.microsoft.com/office/drawing/2014/main" id="{94DFA557-BBF5-F894-E93F-D3F5BC136E64}"/>
              </a:ext>
            </a:extLst>
          </p:cNvPr>
          <p:cNvSpPr txBox="1">
            <a:spLocks/>
          </p:cNvSpPr>
          <p:nvPr/>
        </p:nvSpPr>
        <p:spPr>
          <a:xfrm>
            <a:off x="1818564" y="2777221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GPT5</a:t>
            </a:r>
          </a:p>
        </p:txBody>
      </p:sp>
      <p:sp>
        <p:nvSpPr>
          <p:cNvPr id="32" name="Google Shape;2200;p40">
            <a:extLst>
              <a:ext uri="{FF2B5EF4-FFF2-40B4-BE49-F238E27FC236}">
                <a16:creationId xmlns:a16="http://schemas.microsoft.com/office/drawing/2014/main" id="{EA2625D5-BEB7-BABB-01C1-19DDA3A100B7}"/>
              </a:ext>
            </a:extLst>
          </p:cNvPr>
          <p:cNvSpPr txBox="1">
            <a:spLocks/>
          </p:cNvSpPr>
          <p:nvPr/>
        </p:nvSpPr>
        <p:spPr>
          <a:xfrm>
            <a:off x="2469456" y="2772351"/>
            <a:ext cx="1129295" cy="3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InternVL3</a:t>
            </a:r>
          </a:p>
        </p:txBody>
      </p:sp>
      <p:sp>
        <p:nvSpPr>
          <p:cNvPr id="33" name="Google Shape;2200;p40">
            <a:extLst>
              <a:ext uri="{FF2B5EF4-FFF2-40B4-BE49-F238E27FC236}">
                <a16:creationId xmlns:a16="http://schemas.microsoft.com/office/drawing/2014/main" id="{70F99F90-490A-B24F-ED5A-ED6112347431}"/>
              </a:ext>
            </a:extLst>
          </p:cNvPr>
          <p:cNvSpPr txBox="1">
            <a:spLocks/>
          </p:cNvSpPr>
          <p:nvPr/>
        </p:nvSpPr>
        <p:spPr>
          <a:xfrm>
            <a:off x="1140719" y="1542856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79</a:t>
            </a:r>
          </a:p>
        </p:txBody>
      </p:sp>
      <p:sp>
        <p:nvSpPr>
          <p:cNvPr id="34" name="Google Shape;2200;p40">
            <a:extLst>
              <a:ext uri="{FF2B5EF4-FFF2-40B4-BE49-F238E27FC236}">
                <a16:creationId xmlns:a16="http://schemas.microsoft.com/office/drawing/2014/main" id="{E589311A-17B7-A9CE-099C-3C6868FF8464}"/>
              </a:ext>
            </a:extLst>
          </p:cNvPr>
          <p:cNvSpPr txBox="1">
            <a:spLocks/>
          </p:cNvSpPr>
          <p:nvPr/>
        </p:nvSpPr>
        <p:spPr>
          <a:xfrm>
            <a:off x="1818563" y="1532390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78</a:t>
            </a:r>
          </a:p>
        </p:txBody>
      </p:sp>
      <p:sp>
        <p:nvSpPr>
          <p:cNvPr id="35" name="Google Shape;2200;p40">
            <a:extLst>
              <a:ext uri="{FF2B5EF4-FFF2-40B4-BE49-F238E27FC236}">
                <a16:creationId xmlns:a16="http://schemas.microsoft.com/office/drawing/2014/main" id="{7D9ACD97-8454-2DB7-C6AD-A9FF6BEB4A87}"/>
              </a:ext>
            </a:extLst>
          </p:cNvPr>
          <p:cNvSpPr txBox="1">
            <a:spLocks/>
          </p:cNvSpPr>
          <p:nvPr/>
        </p:nvSpPr>
        <p:spPr>
          <a:xfrm>
            <a:off x="2477555" y="1806217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51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377E5DC-2C03-5FDF-F47A-2802F26174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8" t="8899" r="81290" b="49126"/>
          <a:stretch>
            <a:fillRect/>
          </a:stretch>
        </p:blipFill>
        <p:spPr>
          <a:xfrm>
            <a:off x="3814327" y="1269152"/>
            <a:ext cx="1217323" cy="9408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DBC6E0E-BC51-F555-280F-526123CA89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306" t="57719" r="50520" b="3909"/>
          <a:stretch>
            <a:fillRect/>
          </a:stretch>
        </p:blipFill>
        <p:spPr>
          <a:xfrm>
            <a:off x="5098074" y="2201909"/>
            <a:ext cx="1101724" cy="86008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8441A6D-5AB7-3B09-3DD4-669C1B980E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29" t="56257" r="64989" b="5800"/>
          <a:stretch>
            <a:fillRect/>
          </a:stretch>
        </p:blipFill>
        <p:spPr>
          <a:xfrm>
            <a:off x="3828315" y="2207547"/>
            <a:ext cx="1203335" cy="85044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AFD3B1D-DA64-7937-2AEB-235EB5D5B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611" t="8294" r="1728" b="49731"/>
          <a:stretch>
            <a:fillRect/>
          </a:stretch>
        </p:blipFill>
        <p:spPr>
          <a:xfrm>
            <a:off x="5077461" y="1254332"/>
            <a:ext cx="1217323" cy="940850"/>
          </a:xfrm>
          <a:prstGeom prst="rect">
            <a:avLst/>
          </a:prstGeom>
        </p:spPr>
      </p:pic>
      <p:sp>
        <p:nvSpPr>
          <p:cNvPr id="40" name="Rounded Rectangular Callout 39">
            <a:extLst>
              <a:ext uri="{FF2B5EF4-FFF2-40B4-BE49-F238E27FC236}">
                <a16:creationId xmlns:a16="http://schemas.microsoft.com/office/drawing/2014/main" id="{342F3FC5-FC26-E3CA-0E86-BC009F5702D9}"/>
              </a:ext>
            </a:extLst>
          </p:cNvPr>
          <p:cNvSpPr/>
          <p:nvPr/>
        </p:nvSpPr>
        <p:spPr>
          <a:xfrm>
            <a:off x="3654319" y="1215330"/>
            <a:ext cx="2706712" cy="1994844"/>
          </a:xfrm>
          <a:prstGeom prst="wedgeRoundRectCallout">
            <a:avLst>
              <a:gd name="adj1" fmla="val -72663"/>
              <a:gd name="adj2" fmla="val -35833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8532F8A-26A8-650B-9838-2C9D311697CF}"/>
              </a:ext>
            </a:extLst>
          </p:cNvPr>
          <p:cNvCxnSpPr>
            <a:cxnSpLocks/>
          </p:cNvCxnSpPr>
          <p:nvPr/>
        </p:nvCxnSpPr>
        <p:spPr>
          <a:xfrm>
            <a:off x="7389302" y="2856170"/>
            <a:ext cx="2318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AF0CD58-AEBC-642D-022B-A9DDD1467EA8}"/>
              </a:ext>
            </a:extLst>
          </p:cNvPr>
          <p:cNvCxnSpPr>
            <a:cxnSpLocks/>
          </p:cNvCxnSpPr>
          <p:nvPr/>
        </p:nvCxnSpPr>
        <p:spPr>
          <a:xfrm flipV="1">
            <a:off x="7482376" y="1526990"/>
            <a:ext cx="0" cy="1321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Google Shape;2200;p40">
            <a:extLst>
              <a:ext uri="{FF2B5EF4-FFF2-40B4-BE49-F238E27FC236}">
                <a16:creationId xmlns:a16="http://schemas.microsoft.com/office/drawing/2014/main" id="{1FAC8D8F-D98F-F2E2-2B0E-B63B998B34EC}"/>
              </a:ext>
            </a:extLst>
          </p:cNvPr>
          <p:cNvSpPr txBox="1">
            <a:spLocks/>
          </p:cNvSpPr>
          <p:nvPr/>
        </p:nvSpPr>
        <p:spPr>
          <a:xfrm>
            <a:off x="7520689" y="1137051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rgbClr val="C00000"/>
                </a:solidFill>
              </a:rPr>
              <a:t>Spatial reasoning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31A656-208C-9BD9-47E2-394CDD5EBD10}"/>
              </a:ext>
            </a:extLst>
          </p:cNvPr>
          <p:cNvSpPr/>
          <p:nvPr/>
        </p:nvSpPr>
        <p:spPr>
          <a:xfrm>
            <a:off x="7756947" y="1748664"/>
            <a:ext cx="320512" cy="109965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39AA3EF-FF72-F745-D2F9-C73C820DB2BE}"/>
              </a:ext>
            </a:extLst>
          </p:cNvPr>
          <p:cNvSpPr/>
          <p:nvPr/>
        </p:nvSpPr>
        <p:spPr>
          <a:xfrm>
            <a:off x="8415938" y="2497923"/>
            <a:ext cx="320512" cy="34882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9EA900-94BE-D8FE-87AE-1F97DC4DD942}"/>
              </a:ext>
            </a:extLst>
          </p:cNvPr>
          <p:cNvSpPr/>
          <p:nvPr/>
        </p:nvSpPr>
        <p:spPr>
          <a:xfrm>
            <a:off x="9074929" y="2586635"/>
            <a:ext cx="320512" cy="2608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oogle Shape;2200;p40">
            <a:extLst>
              <a:ext uri="{FF2B5EF4-FFF2-40B4-BE49-F238E27FC236}">
                <a16:creationId xmlns:a16="http://schemas.microsoft.com/office/drawing/2014/main" id="{2472C4B2-40B0-0DC8-295C-6AE34BA3617C}"/>
              </a:ext>
            </a:extLst>
          </p:cNvPr>
          <p:cNvSpPr txBox="1">
            <a:spLocks/>
          </p:cNvSpPr>
          <p:nvPr/>
        </p:nvSpPr>
        <p:spPr>
          <a:xfrm>
            <a:off x="7408156" y="2787439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Human</a:t>
            </a:r>
          </a:p>
        </p:txBody>
      </p:sp>
      <p:sp>
        <p:nvSpPr>
          <p:cNvPr id="48" name="Google Shape;2200;p40">
            <a:extLst>
              <a:ext uri="{FF2B5EF4-FFF2-40B4-BE49-F238E27FC236}">
                <a16:creationId xmlns:a16="http://schemas.microsoft.com/office/drawing/2014/main" id="{165016AB-0926-AD20-5F55-D2278E8024DC}"/>
              </a:ext>
            </a:extLst>
          </p:cNvPr>
          <p:cNvSpPr txBox="1">
            <a:spLocks/>
          </p:cNvSpPr>
          <p:nvPr/>
        </p:nvSpPr>
        <p:spPr>
          <a:xfrm>
            <a:off x="8097348" y="2805918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GPT5</a:t>
            </a:r>
          </a:p>
        </p:txBody>
      </p:sp>
      <p:sp>
        <p:nvSpPr>
          <p:cNvPr id="49" name="Google Shape;2200;p40">
            <a:extLst>
              <a:ext uri="{FF2B5EF4-FFF2-40B4-BE49-F238E27FC236}">
                <a16:creationId xmlns:a16="http://schemas.microsoft.com/office/drawing/2014/main" id="{0CFE511C-EF3D-07F9-DE10-A29EF07E8F86}"/>
              </a:ext>
            </a:extLst>
          </p:cNvPr>
          <p:cNvSpPr txBox="1">
            <a:spLocks/>
          </p:cNvSpPr>
          <p:nvPr/>
        </p:nvSpPr>
        <p:spPr>
          <a:xfrm>
            <a:off x="8748240" y="2801048"/>
            <a:ext cx="1129295" cy="3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InternVL3</a:t>
            </a:r>
          </a:p>
        </p:txBody>
      </p:sp>
      <p:sp>
        <p:nvSpPr>
          <p:cNvPr id="50" name="Google Shape;2200;p40">
            <a:extLst>
              <a:ext uri="{FF2B5EF4-FFF2-40B4-BE49-F238E27FC236}">
                <a16:creationId xmlns:a16="http://schemas.microsoft.com/office/drawing/2014/main" id="{79D9205F-3650-54E2-A2CF-99FF87E7B420}"/>
              </a:ext>
            </a:extLst>
          </p:cNvPr>
          <p:cNvSpPr txBox="1">
            <a:spLocks/>
          </p:cNvSpPr>
          <p:nvPr/>
        </p:nvSpPr>
        <p:spPr>
          <a:xfrm>
            <a:off x="7438355" y="1409438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95</a:t>
            </a:r>
          </a:p>
        </p:txBody>
      </p:sp>
      <p:sp>
        <p:nvSpPr>
          <p:cNvPr id="51" name="Google Shape;2200;p40">
            <a:extLst>
              <a:ext uri="{FF2B5EF4-FFF2-40B4-BE49-F238E27FC236}">
                <a16:creationId xmlns:a16="http://schemas.microsoft.com/office/drawing/2014/main" id="{882424DE-9B0E-5361-737B-A8D97B33976C}"/>
              </a:ext>
            </a:extLst>
          </p:cNvPr>
          <p:cNvSpPr txBox="1">
            <a:spLocks/>
          </p:cNvSpPr>
          <p:nvPr/>
        </p:nvSpPr>
        <p:spPr>
          <a:xfrm>
            <a:off x="8097347" y="2142909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52" name="Google Shape;2200;p40">
            <a:extLst>
              <a:ext uri="{FF2B5EF4-FFF2-40B4-BE49-F238E27FC236}">
                <a16:creationId xmlns:a16="http://schemas.microsoft.com/office/drawing/2014/main" id="{A7527C71-A256-82FA-5555-C4DE73FF4FD2}"/>
              </a:ext>
            </a:extLst>
          </p:cNvPr>
          <p:cNvSpPr txBox="1">
            <a:spLocks/>
          </p:cNvSpPr>
          <p:nvPr/>
        </p:nvSpPr>
        <p:spPr>
          <a:xfrm>
            <a:off x="8786541" y="2212685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9B7EDB5-2D46-5A54-2395-E0C87D8479A0}"/>
              </a:ext>
            </a:extLst>
          </p:cNvPr>
          <p:cNvCxnSpPr>
            <a:cxnSpLocks/>
          </p:cNvCxnSpPr>
          <p:nvPr/>
        </p:nvCxnSpPr>
        <p:spPr>
          <a:xfrm>
            <a:off x="386499" y="3318235"/>
            <a:ext cx="10878532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9F45FB6-4B40-6077-8B34-B35B766549E6}"/>
              </a:ext>
            </a:extLst>
          </p:cNvPr>
          <p:cNvSpPr txBox="1"/>
          <p:nvPr/>
        </p:nvSpPr>
        <p:spPr>
          <a:xfrm>
            <a:off x="8547433" y="3906024"/>
            <a:ext cx="3498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C00000"/>
                </a:solidFill>
                <a:effectLst/>
                <a:latin typeface="Inter"/>
              </a:rPr>
              <a:t>Plateaued after 2M data samples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AB5010-0AA9-F502-D247-DBF0A4217A49}"/>
              </a:ext>
            </a:extLst>
          </p:cNvPr>
          <p:cNvSpPr txBox="1"/>
          <p:nvPr/>
        </p:nvSpPr>
        <p:spPr>
          <a:xfrm>
            <a:off x="1367616" y="6208757"/>
            <a:ext cx="103265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[3] Why Do MLLMs Struggle with Spatial Understanding? A Systematic Analysis from Data to Architecture</a:t>
            </a:r>
          </a:p>
          <a:p>
            <a:r>
              <a:rPr lang="en-US" sz="1600" b="1" dirty="0"/>
              <a:t>[4] Scaling and Beyond: Advancing Spatial Reasoning in MLLMs Requires New Recipes</a:t>
            </a:r>
          </a:p>
        </p:txBody>
      </p:sp>
    </p:spTree>
    <p:extLst>
      <p:ext uri="{BB962C8B-B14F-4D97-AF65-F5344CB8AC3E}">
        <p14:creationId xmlns:p14="http://schemas.microsoft.com/office/powerpoint/2010/main" val="181805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2BF06-5AE9-7A0D-8E5C-6684ACED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31CB2A4-02C1-2C10-9C26-34E37803D37A}"/>
              </a:ext>
            </a:extLst>
          </p:cNvPr>
          <p:cNvCxnSpPr/>
          <p:nvPr/>
        </p:nvCxnSpPr>
        <p:spPr>
          <a:xfrm>
            <a:off x="592007" y="4304371"/>
            <a:ext cx="541015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4E5BBFC-F8F0-F646-F70F-8B51BD4C320D}"/>
              </a:ext>
            </a:extLst>
          </p:cNvPr>
          <p:cNvCxnSpPr/>
          <p:nvPr/>
        </p:nvCxnSpPr>
        <p:spPr>
          <a:xfrm>
            <a:off x="592007" y="4773355"/>
            <a:ext cx="541015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0">
            <a:extLst>
              <a:ext uri="{FF2B5EF4-FFF2-40B4-BE49-F238E27FC236}">
                <a16:creationId xmlns:a16="http://schemas.microsoft.com/office/drawing/2014/main" id="{D20B3E5E-E82A-5969-E3A8-862F92027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E3A36E20-EE8D-C999-72E2-A67D5ACCE940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Scaling with diverse input modalities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11DD0-F816-3345-A993-107FA6F4540C}"/>
              </a:ext>
            </a:extLst>
          </p:cNvPr>
          <p:cNvSpPr txBox="1"/>
          <p:nvPr/>
        </p:nvSpPr>
        <p:spPr>
          <a:xfrm>
            <a:off x="77498" y="3692040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Limited improvement: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FDBE581-6C1A-C065-6E62-0C74049EF5BD}"/>
              </a:ext>
            </a:extLst>
          </p:cNvPr>
          <p:cNvGrpSpPr/>
          <p:nvPr/>
        </p:nvGrpSpPr>
        <p:grpSpPr>
          <a:xfrm>
            <a:off x="1030476" y="1228794"/>
            <a:ext cx="9613845" cy="2480003"/>
            <a:chOff x="303495" y="1058084"/>
            <a:chExt cx="9613845" cy="248000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A78595-77EF-6A9B-0362-2711A1E9E035}"/>
                </a:ext>
              </a:extLst>
            </p:cNvPr>
            <p:cNvGrpSpPr/>
            <p:nvPr/>
          </p:nvGrpSpPr>
          <p:grpSpPr>
            <a:xfrm>
              <a:off x="2215136" y="1294605"/>
              <a:ext cx="7702204" cy="2243482"/>
              <a:chOff x="602491" y="1060831"/>
              <a:chExt cx="7702204" cy="224348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1450A87-B363-E9CB-8947-EA8C88473E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1871"/>
              <a:stretch>
                <a:fillRect/>
              </a:stretch>
            </p:blipFill>
            <p:spPr>
              <a:xfrm>
                <a:off x="602491" y="1060831"/>
                <a:ext cx="7565446" cy="2243482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60A5585-6634-B639-BAE2-58C36B85C699}"/>
                  </a:ext>
                </a:extLst>
              </p:cNvPr>
              <p:cNvSpPr/>
              <p:nvPr/>
            </p:nvSpPr>
            <p:spPr>
              <a:xfrm>
                <a:off x="4713402" y="2121031"/>
                <a:ext cx="3591293" cy="11832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25DD171-7C35-AEDF-2470-5B16516AA8F4}"/>
                </a:ext>
              </a:extLst>
            </p:cNvPr>
            <p:cNvSpPr txBox="1"/>
            <p:nvPr/>
          </p:nvSpPr>
          <p:spPr>
            <a:xfrm>
              <a:off x="536243" y="2956626"/>
              <a:ext cx="934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Inter"/>
                </a:rPr>
                <a:t>3D data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59A4B4-6AD8-B1D7-B4A3-A9F23496E345}"/>
                </a:ext>
              </a:extLst>
            </p:cNvPr>
            <p:cNvSpPr txBox="1"/>
            <p:nvPr/>
          </p:nvSpPr>
          <p:spPr>
            <a:xfrm>
              <a:off x="303495" y="1204174"/>
              <a:ext cx="16121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latin typeface="Inter"/>
                </a:rPr>
                <a:t>Finetuning LLM backbone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062A9CD-9D88-9BD3-9AFD-8A4B5C9EEC5B}"/>
                </a:ext>
              </a:extLst>
            </p:cNvPr>
            <p:cNvSpPr/>
            <p:nvPr/>
          </p:nvSpPr>
          <p:spPr>
            <a:xfrm>
              <a:off x="2465465" y="1859677"/>
              <a:ext cx="3860582" cy="617242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E51B5A-1520-E276-095B-A16F5E8849BB}"/>
                </a:ext>
              </a:extLst>
            </p:cNvPr>
            <p:cNvSpPr/>
            <p:nvPr/>
          </p:nvSpPr>
          <p:spPr>
            <a:xfrm>
              <a:off x="2465465" y="2828928"/>
              <a:ext cx="3903805" cy="598450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74B2584-5E21-954D-5DC2-43DB28933F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406" y="2197525"/>
              <a:ext cx="993059" cy="0"/>
            </a:xfrm>
            <a:prstGeom prst="straightConnector1">
              <a:avLst/>
            </a:prstGeom>
            <a:noFill/>
            <a:ln w="19050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3F586B0-54B9-7D34-7CE1-54B274A131E8}"/>
                </a:ext>
              </a:extLst>
            </p:cNvPr>
            <p:cNvCxnSpPr>
              <a:cxnSpLocks/>
              <a:endCxn id="16" idx="3"/>
            </p:cNvCxnSpPr>
            <p:nvPr/>
          </p:nvCxnSpPr>
          <p:spPr>
            <a:xfrm flipH="1" flipV="1">
              <a:off x="1470321" y="3141292"/>
              <a:ext cx="871027" cy="4475"/>
            </a:xfrm>
            <a:prstGeom prst="straightConnector1">
              <a:avLst/>
            </a:prstGeom>
            <a:noFill/>
            <a:ln w="19050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89CF24-1DD3-D2B3-B71B-2218B574B0FA}"/>
                </a:ext>
              </a:extLst>
            </p:cNvPr>
            <p:cNvSpPr txBox="1"/>
            <p:nvPr/>
          </p:nvSpPr>
          <p:spPr>
            <a:xfrm>
              <a:off x="543554" y="1871530"/>
              <a:ext cx="148639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Inter"/>
                </a:rPr>
                <a:t>3D data Encoder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pic>
          <p:nvPicPr>
            <p:cNvPr id="11268" name="Picture 4" descr="Snow - Free weather icons">
              <a:extLst>
                <a:ext uri="{FF2B5EF4-FFF2-40B4-BE49-F238E27FC236}">
                  <a16:creationId xmlns:a16="http://schemas.microsoft.com/office/drawing/2014/main" id="{01EF95F2-6C0F-127E-7FCA-7999660A72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5465" y="1833339"/>
              <a:ext cx="476847" cy="476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167070A-C392-7452-BA85-189177D988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7160" y="1477486"/>
              <a:ext cx="1750093" cy="0"/>
            </a:xfrm>
            <a:prstGeom prst="straightConnector1">
              <a:avLst/>
            </a:prstGeom>
            <a:noFill/>
            <a:ln w="19050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1266" name="Picture 2" descr="Fire - Free nature icons">
              <a:extLst>
                <a:ext uri="{FF2B5EF4-FFF2-40B4-BE49-F238E27FC236}">
                  <a16:creationId xmlns:a16="http://schemas.microsoft.com/office/drawing/2014/main" id="{C036B75E-1F2F-6B22-3C50-723D2F1352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1348" y="1058084"/>
              <a:ext cx="617241" cy="617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800D985-A6E7-D40C-FACF-C1928C6BAECB}"/>
              </a:ext>
            </a:extLst>
          </p:cNvPr>
          <p:cNvSpPr txBox="1"/>
          <p:nvPr/>
        </p:nvSpPr>
        <p:spPr>
          <a:xfrm>
            <a:off x="60121" y="833594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Typical pipeline of adding new modality to VLM input layer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2EFB1F8-16BC-2D17-70D6-5D3E0ADA38F0}"/>
              </a:ext>
            </a:extLst>
          </p:cNvPr>
          <p:cNvCxnSpPr>
            <a:cxnSpLocks/>
          </p:cNvCxnSpPr>
          <p:nvPr/>
        </p:nvCxnSpPr>
        <p:spPr>
          <a:xfrm>
            <a:off x="224362" y="5535073"/>
            <a:ext cx="60930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653106-4052-A667-71B9-32C9E61C16BD}"/>
              </a:ext>
            </a:extLst>
          </p:cNvPr>
          <p:cNvCxnSpPr>
            <a:cxnSpLocks/>
          </p:cNvCxnSpPr>
          <p:nvPr/>
        </p:nvCxnSpPr>
        <p:spPr>
          <a:xfrm flipV="1">
            <a:off x="317436" y="4205893"/>
            <a:ext cx="0" cy="1321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F7B6166-9EF7-CA53-2C09-7F10F5E70891}"/>
              </a:ext>
            </a:extLst>
          </p:cNvPr>
          <p:cNvSpPr/>
          <p:nvPr/>
        </p:nvSpPr>
        <p:spPr>
          <a:xfrm>
            <a:off x="592007" y="4304371"/>
            <a:ext cx="320512" cy="122284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0D318D-9332-13C8-16DF-7FDE2769BAB3}"/>
              </a:ext>
            </a:extLst>
          </p:cNvPr>
          <p:cNvSpPr/>
          <p:nvPr/>
        </p:nvSpPr>
        <p:spPr>
          <a:xfrm>
            <a:off x="1369944" y="4804239"/>
            <a:ext cx="320512" cy="73083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269D8D-2EBA-BF57-FD9A-EE546034AF24}"/>
              </a:ext>
            </a:extLst>
          </p:cNvPr>
          <p:cNvSpPr/>
          <p:nvPr/>
        </p:nvSpPr>
        <p:spPr>
          <a:xfrm>
            <a:off x="4052843" y="5022406"/>
            <a:ext cx="320512" cy="5096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Google Shape;2200;p40">
            <a:extLst>
              <a:ext uri="{FF2B5EF4-FFF2-40B4-BE49-F238E27FC236}">
                <a16:creationId xmlns:a16="http://schemas.microsoft.com/office/drawing/2014/main" id="{A3E313CB-9366-FAFD-EED6-C9730F6BF4C7}"/>
              </a:ext>
            </a:extLst>
          </p:cNvPr>
          <p:cNvSpPr txBox="1">
            <a:spLocks/>
          </p:cNvSpPr>
          <p:nvPr/>
        </p:nvSpPr>
        <p:spPr>
          <a:xfrm>
            <a:off x="243216" y="5466342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Human</a:t>
            </a:r>
          </a:p>
        </p:txBody>
      </p:sp>
      <p:sp>
        <p:nvSpPr>
          <p:cNvPr id="38" name="Google Shape;2200;p40">
            <a:extLst>
              <a:ext uri="{FF2B5EF4-FFF2-40B4-BE49-F238E27FC236}">
                <a16:creationId xmlns:a16="http://schemas.microsoft.com/office/drawing/2014/main" id="{C6272D9F-40EB-B0FA-CDD4-84CF94A73966}"/>
              </a:ext>
            </a:extLst>
          </p:cNvPr>
          <p:cNvSpPr txBox="1">
            <a:spLocks/>
          </p:cNvSpPr>
          <p:nvPr/>
        </p:nvSpPr>
        <p:spPr>
          <a:xfrm>
            <a:off x="1057976" y="5443445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Qwen3-VL-8B</a:t>
            </a:r>
          </a:p>
        </p:txBody>
      </p:sp>
      <p:sp>
        <p:nvSpPr>
          <p:cNvPr id="39" name="Google Shape;2200;p40">
            <a:extLst>
              <a:ext uri="{FF2B5EF4-FFF2-40B4-BE49-F238E27FC236}">
                <a16:creationId xmlns:a16="http://schemas.microsoft.com/office/drawing/2014/main" id="{7E6B061F-50AD-6905-73B2-66D02C7B5F74}"/>
              </a:ext>
            </a:extLst>
          </p:cNvPr>
          <p:cNvSpPr txBox="1">
            <a:spLocks/>
          </p:cNvSpPr>
          <p:nvPr/>
        </p:nvSpPr>
        <p:spPr>
          <a:xfrm>
            <a:off x="3721062" y="5466342"/>
            <a:ext cx="984074" cy="3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Spatial-MLLM</a:t>
            </a:r>
          </a:p>
        </p:txBody>
      </p:sp>
      <p:sp>
        <p:nvSpPr>
          <p:cNvPr id="40" name="Google Shape;2200;p40">
            <a:extLst>
              <a:ext uri="{FF2B5EF4-FFF2-40B4-BE49-F238E27FC236}">
                <a16:creationId xmlns:a16="http://schemas.microsoft.com/office/drawing/2014/main" id="{9B2C77F2-AC7A-A29D-2D41-B4670CA84466}"/>
              </a:ext>
            </a:extLst>
          </p:cNvPr>
          <p:cNvSpPr txBox="1">
            <a:spLocks/>
          </p:cNvSpPr>
          <p:nvPr/>
        </p:nvSpPr>
        <p:spPr>
          <a:xfrm>
            <a:off x="273417" y="3955204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89</a:t>
            </a:r>
          </a:p>
        </p:txBody>
      </p:sp>
      <p:sp>
        <p:nvSpPr>
          <p:cNvPr id="41" name="Google Shape;2200;p40">
            <a:extLst>
              <a:ext uri="{FF2B5EF4-FFF2-40B4-BE49-F238E27FC236}">
                <a16:creationId xmlns:a16="http://schemas.microsoft.com/office/drawing/2014/main" id="{2759D452-48C3-1852-2ED1-03DFD5C6D574}"/>
              </a:ext>
            </a:extLst>
          </p:cNvPr>
          <p:cNvSpPr txBox="1">
            <a:spLocks/>
          </p:cNvSpPr>
          <p:nvPr/>
        </p:nvSpPr>
        <p:spPr>
          <a:xfrm>
            <a:off x="1051354" y="4507909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69BA8A-A4B5-3817-D925-9986E16D3F1C}"/>
              </a:ext>
            </a:extLst>
          </p:cNvPr>
          <p:cNvSpPr/>
          <p:nvPr/>
        </p:nvSpPr>
        <p:spPr>
          <a:xfrm>
            <a:off x="2184704" y="5055181"/>
            <a:ext cx="320512" cy="48032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oogle Shape;2200;p40">
            <a:extLst>
              <a:ext uri="{FF2B5EF4-FFF2-40B4-BE49-F238E27FC236}">
                <a16:creationId xmlns:a16="http://schemas.microsoft.com/office/drawing/2014/main" id="{782500C5-02E4-B2C8-EE11-2F759FC3D5EC}"/>
              </a:ext>
            </a:extLst>
          </p:cNvPr>
          <p:cNvSpPr txBox="1">
            <a:spLocks/>
          </p:cNvSpPr>
          <p:nvPr/>
        </p:nvSpPr>
        <p:spPr>
          <a:xfrm>
            <a:off x="1880441" y="5467219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InternVL3-8B</a:t>
            </a:r>
          </a:p>
        </p:txBody>
      </p:sp>
      <p:sp>
        <p:nvSpPr>
          <p:cNvPr id="46" name="Google Shape;2200;p40">
            <a:extLst>
              <a:ext uri="{FF2B5EF4-FFF2-40B4-BE49-F238E27FC236}">
                <a16:creationId xmlns:a16="http://schemas.microsoft.com/office/drawing/2014/main" id="{43390A06-B15A-FA4B-9153-2D1C439BB9EC}"/>
              </a:ext>
            </a:extLst>
          </p:cNvPr>
          <p:cNvSpPr txBox="1">
            <a:spLocks/>
          </p:cNvSpPr>
          <p:nvPr/>
        </p:nvSpPr>
        <p:spPr>
          <a:xfrm>
            <a:off x="1869548" y="4707367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47" name="Google Shape;2200;p40">
            <a:extLst>
              <a:ext uri="{FF2B5EF4-FFF2-40B4-BE49-F238E27FC236}">
                <a16:creationId xmlns:a16="http://schemas.microsoft.com/office/drawing/2014/main" id="{4CAD1EDA-CEFB-4DF8-2B06-B001D1BE11F0}"/>
              </a:ext>
            </a:extLst>
          </p:cNvPr>
          <p:cNvSpPr txBox="1">
            <a:spLocks/>
          </p:cNvSpPr>
          <p:nvPr/>
        </p:nvSpPr>
        <p:spPr>
          <a:xfrm>
            <a:off x="2641974" y="5420921"/>
            <a:ext cx="11292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LLaVA-Video-72B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491B363-2A14-EE7C-32CE-223154DD0ED5}"/>
              </a:ext>
            </a:extLst>
          </p:cNvPr>
          <p:cNvSpPr/>
          <p:nvPr/>
        </p:nvSpPr>
        <p:spPr>
          <a:xfrm>
            <a:off x="3036028" y="5122799"/>
            <a:ext cx="320512" cy="40834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Google Shape;2200;p40">
            <a:extLst>
              <a:ext uri="{FF2B5EF4-FFF2-40B4-BE49-F238E27FC236}">
                <a16:creationId xmlns:a16="http://schemas.microsoft.com/office/drawing/2014/main" id="{2529DD9F-1DA7-7635-31EA-BDAB880D2EE4}"/>
              </a:ext>
            </a:extLst>
          </p:cNvPr>
          <p:cNvSpPr txBox="1">
            <a:spLocks/>
          </p:cNvSpPr>
          <p:nvPr/>
        </p:nvSpPr>
        <p:spPr>
          <a:xfrm>
            <a:off x="2704150" y="4762794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50" name="Google Shape;2200;p40">
            <a:extLst>
              <a:ext uri="{FF2B5EF4-FFF2-40B4-BE49-F238E27FC236}">
                <a16:creationId xmlns:a16="http://schemas.microsoft.com/office/drawing/2014/main" id="{BB79532B-9231-BAC3-F73F-905BD1659B30}"/>
              </a:ext>
            </a:extLst>
          </p:cNvPr>
          <p:cNvSpPr txBox="1">
            <a:spLocks/>
          </p:cNvSpPr>
          <p:nvPr/>
        </p:nvSpPr>
        <p:spPr>
          <a:xfrm>
            <a:off x="3721062" y="4694812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47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59CDFF1-EA01-46B0-209E-4024A5732C59}"/>
              </a:ext>
            </a:extLst>
          </p:cNvPr>
          <p:cNvSpPr/>
          <p:nvPr/>
        </p:nvSpPr>
        <p:spPr>
          <a:xfrm>
            <a:off x="4797841" y="4791119"/>
            <a:ext cx="320512" cy="7308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Google Shape;2200;p40">
            <a:extLst>
              <a:ext uri="{FF2B5EF4-FFF2-40B4-BE49-F238E27FC236}">
                <a16:creationId xmlns:a16="http://schemas.microsoft.com/office/drawing/2014/main" id="{5AFB9BFF-A520-A78A-BA94-90D198959FF5}"/>
              </a:ext>
            </a:extLst>
          </p:cNvPr>
          <p:cNvSpPr txBox="1">
            <a:spLocks/>
          </p:cNvSpPr>
          <p:nvPr/>
        </p:nvSpPr>
        <p:spPr>
          <a:xfrm>
            <a:off x="4488499" y="4490317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60</a:t>
            </a:r>
          </a:p>
        </p:txBody>
      </p:sp>
      <p:sp>
        <p:nvSpPr>
          <p:cNvPr id="53" name="Google Shape;2200;p40">
            <a:extLst>
              <a:ext uri="{FF2B5EF4-FFF2-40B4-BE49-F238E27FC236}">
                <a16:creationId xmlns:a16="http://schemas.microsoft.com/office/drawing/2014/main" id="{AB87B5B0-BC5A-0BC3-579B-202EB233C2F0}"/>
              </a:ext>
            </a:extLst>
          </p:cNvPr>
          <p:cNvSpPr txBox="1">
            <a:spLocks/>
          </p:cNvSpPr>
          <p:nvPr/>
        </p:nvSpPr>
        <p:spPr>
          <a:xfrm>
            <a:off x="4552638" y="5456512"/>
            <a:ext cx="790318" cy="3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VST-7B-SFT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2683251-32D9-1C5C-1C4B-CE7BC5D96FD7}"/>
              </a:ext>
            </a:extLst>
          </p:cNvPr>
          <p:cNvSpPr/>
          <p:nvPr/>
        </p:nvSpPr>
        <p:spPr>
          <a:xfrm>
            <a:off x="5435661" y="5119396"/>
            <a:ext cx="320512" cy="40834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Google Shape;2200;p40">
            <a:extLst>
              <a:ext uri="{FF2B5EF4-FFF2-40B4-BE49-F238E27FC236}">
                <a16:creationId xmlns:a16="http://schemas.microsoft.com/office/drawing/2014/main" id="{51CF3D44-3491-8B3C-F8FD-1886682D80A8}"/>
              </a:ext>
            </a:extLst>
          </p:cNvPr>
          <p:cNvSpPr txBox="1">
            <a:spLocks/>
          </p:cNvSpPr>
          <p:nvPr/>
        </p:nvSpPr>
        <p:spPr>
          <a:xfrm>
            <a:off x="5140792" y="4797579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56" name="Google Shape;2200;p40">
            <a:extLst>
              <a:ext uri="{FF2B5EF4-FFF2-40B4-BE49-F238E27FC236}">
                <a16:creationId xmlns:a16="http://schemas.microsoft.com/office/drawing/2014/main" id="{C70D17C1-EF0B-4119-703C-292231B36BE9}"/>
              </a:ext>
            </a:extLst>
          </p:cNvPr>
          <p:cNvSpPr txBox="1">
            <a:spLocks/>
          </p:cNvSpPr>
          <p:nvPr/>
        </p:nvSpPr>
        <p:spPr>
          <a:xfrm>
            <a:off x="5289818" y="5426658"/>
            <a:ext cx="712339" cy="3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SpaceR-7B</a:t>
            </a:r>
          </a:p>
        </p:txBody>
      </p:sp>
      <p:sp>
        <p:nvSpPr>
          <p:cNvPr id="57" name="Left Brace 56">
            <a:extLst>
              <a:ext uri="{FF2B5EF4-FFF2-40B4-BE49-F238E27FC236}">
                <a16:creationId xmlns:a16="http://schemas.microsoft.com/office/drawing/2014/main" id="{4976A1F9-0E1F-D8DE-9CF9-5782CF4D2827}"/>
              </a:ext>
            </a:extLst>
          </p:cNvPr>
          <p:cNvSpPr/>
          <p:nvPr/>
        </p:nvSpPr>
        <p:spPr>
          <a:xfrm rot="16200000">
            <a:off x="2225492" y="5059294"/>
            <a:ext cx="403123" cy="2236250"/>
          </a:xfrm>
          <a:prstGeom prst="leftBrace">
            <a:avLst>
              <a:gd name="adj1" fmla="val 44918"/>
              <a:gd name="adj2" fmla="val 50000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3ACE34-F839-4330-C8F0-F19119DEF407}"/>
              </a:ext>
            </a:extLst>
          </p:cNvPr>
          <p:cNvSpPr txBox="1"/>
          <p:nvPr/>
        </p:nvSpPr>
        <p:spPr>
          <a:xfrm>
            <a:off x="1670710" y="6356457"/>
            <a:ext cx="1486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Inter"/>
              </a:rPr>
              <a:t>General VLM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114DCC1F-78C4-6460-8BC4-FEF5C8C67602}"/>
              </a:ext>
            </a:extLst>
          </p:cNvPr>
          <p:cNvSpPr/>
          <p:nvPr/>
        </p:nvSpPr>
        <p:spPr>
          <a:xfrm rot="16200000">
            <a:off x="4668651" y="5229946"/>
            <a:ext cx="403123" cy="1926502"/>
          </a:xfrm>
          <a:prstGeom prst="leftBrace">
            <a:avLst>
              <a:gd name="adj1" fmla="val 44918"/>
              <a:gd name="adj2" fmla="val 50000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3A4CB6-E70F-FF0D-9538-C6E41A73A1AE}"/>
              </a:ext>
            </a:extLst>
          </p:cNvPr>
          <p:cNvSpPr txBox="1"/>
          <p:nvPr/>
        </p:nvSpPr>
        <p:spPr>
          <a:xfrm>
            <a:off x="3508120" y="6356457"/>
            <a:ext cx="314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Inter"/>
              </a:rPr>
              <a:t>Fine-tuned with spatial data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334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74E47-70BE-B5DD-1F36-94574C0BF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F0B12804-5982-20D5-13D4-600BBBCA1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C7282DA5-00E2-C733-B721-87E1724BC05D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Scaling with diverse input modalities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00346-EE58-16F6-5480-26A2404E6230}"/>
              </a:ext>
            </a:extLst>
          </p:cNvPr>
          <p:cNvSpPr txBox="1"/>
          <p:nvPr/>
        </p:nvSpPr>
        <p:spPr>
          <a:xfrm>
            <a:off x="304166" y="1449861"/>
            <a:ext cx="113391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[5] Learning from Videos for 3D World: Enhancing MLLMs with 3D Vision Geometry Priors</a:t>
            </a:r>
          </a:p>
          <a:p>
            <a:r>
              <a:rPr lang="en-US" sz="1600" b="1" dirty="0"/>
              <a:t>[6]  S2-MLLM: Boosting Spatial Reasoning Capability of MLLMs for 3D Visual Grounding with Structural Guidance</a:t>
            </a:r>
          </a:p>
          <a:p>
            <a:r>
              <a:rPr lang="en-US" sz="1600" b="1" dirty="0"/>
              <a:t>[7]  SD-VLM: Spatial Measuring and Understanding with Depth-Encoded Vision-Language Models</a:t>
            </a:r>
          </a:p>
          <a:p>
            <a:r>
              <a:rPr lang="en-US" sz="1600" b="1" dirty="0"/>
              <a:t>[8] </a:t>
            </a:r>
            <a:r>
              <a:rPr lang="en-US" sz="1600" b="1" dirty="0" err="1"/>
              <a:t>SpatialRGPT</a:t>
            </a:r>
            <a:r>
              <a:rPr lang="en-US" sz="1600" b="1" dirty="0"/>
              <a:t>: Grounded Spatial Reasoning in Vision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868599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62EB-54F3-583D-F44E-70A603DF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1392F1-83C9-158E-1248-A4E04B2D1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22" y="1185300"/>
            <a:ext cx="4113276" cy="2061642"/>
          </a:xfrm>
          <a:prstGeom prst="rect">
            <a:avLst/>
          </a:prstGeom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6D41038C-9829-8FE5-21E8-5059C59AB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444C0B9B-D1CE-3EDB-9B3A-D3106D361512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scale at inference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E24B9-F213-0AAB-96B9-CCC7017A7B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6182"/>
          <a:stretch>
            <a:fillRect/>
          </a:stretch>
        </p:blipFill>
        <p:spPr>
          <a:xfrm>
            <a:off x="545298" y="5004943"/>
            <a:ext cx="4507366" cy="1786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DF2CE3-04A5-F13D-13FE-8E7D155CC88C}"/>
              </a:ext>
            </a:extLst>
          </p:cNvPr>
          <p:cNvSpPr txBox="1"/>
          <p:nvPr/>
        </p:nvSpPr>
        <p:spPr>
          <a:xfrm>
            <a:off x="545298" y="978096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Inference time scaling in text domain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3F1A8C1-C584-6345-4421-50A130F168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26" b="13892"/>
          <a:stretch>
            <a:fillRect/>
          </a:stretch>
        </p:blipFill>
        <p:spPr bwMode="auto">
          <a:xfrm>
            <a:off x="5762275" y="1503394"/>
            <a:ext cx="4692272" cy="166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0527A4-40D7-DF65-8A82-DF4A8807C59F}"/>
              </a:ext>
            </a:extLst>
          </p:cNvPr>
          <p:cNvSpPr txBox="1"/>
          <p:nvPr/>
        </p:nvSpPr>
        <p:spPr>
          <a:xfrm>
            <a:off x="334236" y="3554188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Thinking in text domain impair visual spatial reasoning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3E2B93B-6873-3B86-9163-0DECC42F8457}"/>
              </a:ext>
            </a:extLst>
          </p:cNvPr>
          <p:cNvGrpSpPr/>
          <p:nvPr/>
        </p:nvGrpSpPr>
        <p:grpSpPr>
          <a:xfrm>
            <a:off x="545298" y="3964658"/>
            <a:ext cx="7620000" cy="1150740"/>
            <a:chOff x="488411" y="4075289"/>
            <a:chExt cx="7620000" cy="115074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2A6A3F1-217D-C42C-AAF0-30D49204D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7383" b="55784"/>
            <a:stretch>
              <a:fillRect/>
            </a:stretch>
          </p:blipFill>
          <p:spPr>
            <a:xfrm>
              <a:off x="488411" y="4075289"/>
              <a:ext cx="7620000" cy="57537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8BF6E95-7299-2439-8B92-6FEA37DEE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63167"/>
            <a:stretch>
              <a:fillRect/>
            </a:stretch>
          </p:blipFill>
          <p:spPr>
            <a:xfrm>
              <a:off x="488411" y="4650659"/>
              <a:ext cx="7620000" cy="57537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6C35880-F0A7-FB1D-9818-41DDCA7B47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763" t="33797" b="34705"/>
          <a:stretch>
            <a:fillRect/>
          </a:stretch>
        </p:blipFill>
        <p:spPr>
          <a:xfrm>
            <a:off x="5052664" y="5115398"/>
            <a:ext cx="2280808" cy="16758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CD343F-633B-3DBE-7C7F-9032334E86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763" t="65226" b="3276"/>
          <a:stretch>
            <a:fillRect/>
          </a:stretch>
        </p:blipFill>
        <p:spPr>
          <a:xfrm>
            <a:off x="7333472" y="5115398"/>
            <a:ext cx="2191406" cy="161014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AB6ED5-32BC-CFF9-4D42-A029012289CE}"/>
              </a:ext>
            </a:extLst>
          </p:cNvPr>
          <p:cNvSpPr/>
          <p:nvPr/>
        </p:nvSpPr>
        <p:spPr>
          <a:xfrm>
            <a:off x="4101981" y="4540028"/>
            <a:ext cx="529840" cy="39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8D9DB-2C2B-3B32-F7E0-82FB9EF37451}"/>
              </a:ext>
            </a:extLst>
          </p:cNvPr>
          <p:cNvSpPr/>
          <p:nvPr/>
        </p:nvSpPr>
        <p:spPr>
          <a:xfrm>
            <a:off x="5736074" y="4529668"/>
            <a:ext cx="529840" cy="39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9E1A58-AB86-DC6E-DAEB-022564BCCCC0}"/>
              </a:ext>
            </a:extLst>
          </p:cNvPr>
          <p:cNvSpPr/>
          <p:nvPr/>
        </p:nvSpPr>
        <p:spPr>
          <a:xfrm>
            <a:off x="7211226" y="4529668"/>
            <a:ext cx="529840" cy="39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568B24-A525-C296-8EB0-A80131F4FD9E}"/>
              </a:ext>
            </a:extLst>
          </p:cNvPr>
          <p:cNvSpPr txBox="1"/>
          <p:nvPr/>
        </p:nvSpPr>
        <p:spPr>
          <a:xfrm>
            <a:off x="6384648" y="3083460"/>
            <a:ext cx="314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Inter"/>
              </a:rPr>
              <a:t>Ahah moment in reasoning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60A54F-7073-BCF0-2BD5-8BC92B8C2BA4}"/>
              </a:ext>
            </a:extLst>
          </p:cNvPr>
          <p:cNvSpPr txBox="1"/>
          <p:nvPr/>
        </p:nvSpPr>
        <p:spPr>
          <a:xfrm>
            <a:off x="900157" y="3110067"/>
            <a:ext cx="3893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Inter"/>
              </a:rPr>
              <a:t>Performance scales with thinking time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447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CE1D-18A3-28F8-0E76-ECD6152D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9746EE59-7EFF-A487-DC8C-F765CEAC2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16BFA430-B985-C3B7-B15C-246441BE5468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scale at inference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B4467-7D11-10BD-5323-1D597DE30C89}"/>
              </a:ext>
            </a:extLst>
          </p:cNvPr>
          <p:cNvSpPr txBox="1"/>
          <p:nvPr/>
        </p:nvSpPr>
        <p:spPr>
          <a:xfrm>
            <a:off x="484137" y="788989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Alternative method other than thinking in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BFDFB3-C4E2-2B4B-ACB4-A08A544EFF53}"/>
              </a:ext>
            </a:extLst>
          </p:cNvPr>
          <p:cNvSpPr txBox="1"/>
          <p:nvPr/>
        </p:nvSpPr>
        <p:spPr>
          <a:xfrm>
            <a:off x="484137" y="1224964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Think with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1BE505-1A60-335A-0124-2D20E16268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016"/>
          <a:stretch>
            <a:fillRect/>
          </a:stretch>
        </p:blipFill>
        <p:spPr>
          <a:xfrm>
            <a:off x="680605" y="1660940"/>
            <a:ext cx="8981555" cy="22553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1BFCB4-2BC9-0268-6FCF-388D020F6789}"/>
              </a:ext>
            </a:extLst>
          </p:cNvPr>
          <p:cNvSpPr txBox="1"/>
          <p:nvPr/>
        </p:nvSpPr>
        <p:spPr>
          <a:xfrm>
            <a:off x="1090597" y="3760684"/>
            <a:ext cx="111014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Limitation: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	- only guide the model to focus on task-relevant regions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	- but does not enable it to extract spatial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C70ED1-2C5B-A711-6090-A813990FCE8C}"/>
              </a:ext>
            </a:extLst>
          </p:cNvPr>
          <p:cNvSpPr txBox="1"/>
          <p:nvPr/>
        </p:nvSpPr>
        <p:spPr>
          <a:xfrm>
            <a:off x="663026" y="5094427"/>
            <a:ext cx="113391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[9] Mind journey: Test-Time Scaling with World Models for Spatial Reasoning</a:t>
            </a:r>
          </a:p>
          <a:p>
            <a:r>
              <a:rPr lang="en-US" sz="1600" b="1" dirty="0"/>
              <a:t>[10] When and How Much to Imagine:  Adaptive Test-Time Scaling with World Models for Visual Spatial Reasoning</a:t>
            </a:r>
          </a:p>
          <a:p>
            <a:r>
              <a:rPr lang="en-US" sz="1600" b="1" dirty="0"/>
              <a:t>[11] </a:t>
            </a:r>
            <a:r>
              <a:rPr lang="en-US" sz="1600" b="1" dirty="0" err="1"/>
              <a:t>SpatialDreamer</a:t>
            </a:r>
            <a:r>
              <a:rPr lang="en-US" sz="1600" b="1" dirty="0"/>
              <a:t>: Incentivizing Spatial Reasoning via Active Mental Imagery</a:t>
            </a:r>
          </a:p>
          <a:p>
            <a:r>
              <a:rPr lang="en-US" sz="1600" b="1" dirty="0"/>
              <a:t>[12] </a:t>
            </a:r>
            <a:r>
              <a:rPr lang="en-US" sz="1600" b="1" dirty="0" err="1"/>
              <a:t>WMNav</a:t>
            </a:r>
            <a:r>
              <a:rPr lang="en-US" sz="1600" b="1" dirty="0"/>
              <a:t>: Integrating Vision-Language Models into World Models for Object Goal Navigation</a:t>
            </a:r>
          </a:p>
          <a:p>
            <a:r>
              <a:rPr lang="en-US" sz="1600" b="1" dirty="0"/>
              <a:t>[13] Sparse Imagination for Efficient Visual World Model Planning</a:t>
            </a:r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5077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CE1D-18A3-28F8-0E76-ECD6152D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robot icon Prompts | Stable Diffusion Online">
            <a:extLst>
              <a:ext uri="{FF2B5EF4-FFF2-40B4-BE49-F238E27FC236}">
                <a16:creationId xmlns:a16="http://schemas.microsoft.com/office/drawing/2014/main" id="{B2B3F7BC-FB7B-0656-F5AF-87F97102C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567" y="5108029"/>
            <a:ext cx="1313750" cy="131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obot icon Prompts | Stable Diffusion Online">
            <a:extLst>
              <a:ext uri="{FF2B5EF4-FFF2-40B4-BE49-F238E27FC236}">
                <a16:creationId xmlns:a16="http://schemas.microsoft.com/office/drawing/2014/main" id="{F51AF886-4C12-DA68-1C29-BFEFC5E9D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892" y="1901097"/>
            <a:ext cx="1313750" cy="131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obot icon Prompts | Stable Diffusion Online">
            <a:extLst>
              <a:ext uri="{FF2B5EF4-FFF2-40B4-BE49-F238E27FC236}">
                <a16:creationId xmlns:a16="http://schemas.microsoft.com/office/drawing/2014/main" id="{16924F21-AEB6-2927-F52D-AF2187C3E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544" y="3160097"/>
            <a:ext cx="1313750" cy="131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EB15362-EEB1-F872-5B46-ECA94A1B75A6}"/>
              </a:ext>
            </a:extLst>
          </p:cNvPr>
          <p:cNvSpPr/>
          <p:nvPr/>
        </p:nvSpPr>
        <p:spPr>
          <a:xfrm>
            <a:off x="1184174" y="3193596"/>
            <a:ext cx="3263097" cy="1324486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10" name="Picture 14" descr="Object detection Icons, Logos, Symbols – Free Download PNG, SVG">
            <a:extLst>
              <a:ext uri="{FF2B5EF4-FFF2-40B4-BE49-F238E27FC236}">
                <a16:creationId xmlns:a16="http://schemas.microsoft.com/office/drawing/2014/main" id="{2691462B-7B1F-9D1C-D426-A6587B3DC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571" y="2070976"/>
            <a:ext cx="885615" cy="8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E876962-AB86-D013-FE08-6664DA2CBB51}"/>
              </a:ext>
            </a:extLst>
          </p:cNvPr>
          <p:cNvSpPr/>
          <p:nvPr/>
        </p:nvSpPr>
        <p:spPr>
          <a:xfrm>
            <a:off x="6739333" y="1966069"/>
            <a:ext cx="5392128" cy="1324486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33F23D5-31A9-EFF5-5D41-3DC65F1D6D06}"/>
              </a:ext>
            </a:extLst>
          </p:cNvPr>
          <p:cNvSpPr/>
          <p:nvPr/>
        </p:nvSpPr>
        <p:spPr>
          <a:xfrm>
            <a:off x="7267350" y="5267757"/>
            <a:ext cx="4471929" cy="111091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746EE59-7EFF-A487-DC8C-F765CEAC2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16BFA430-B985-C3B7-B15C-246441BE5468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scale at inference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B4467-7D11-10BD-5323-1D597DE30C89}"/>
              </a:ext>
            </a:extLst>
          </p:cNvPr>
          <p:cNvSpPr txBox="1"/>
          <p:nvPr/>
        </p:nvSpPr>
        <p:spPr>
          <a:xfrm>
            <a:off x="383444" y="926667"/>
            <a:ext cx="11101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accent1"/>
                </a:solidFill>
              </a:rPr>
              <a:t>Alternative method other than thinking in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F625B-CA8F-C6F2-A5BA-A19DEDF8471B}"/>
              </a:ext>
            </a:extLst>
          </p:cNvPr>
          <p:cNvSpPr txBox="1"/>
          <p:nvPr/>
        </p:nvSpPr>
        <p:spPr>
          <a:xfrm>
            <a:off x="1071373" y="2850777"/>
            <a:ext cx="2641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1 Think with </a:t>
            </a:r>
            <a:r>
              <a:rPr lang="en-US" sz="2000" b="1" dirty="0">
                <a:solidFill>
                  <a:srgbClr val="C00000"/>
                </a:solidFill>
              </a:rPr>
              <a:t>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56AF1-3476-B638-9A35-708AC934F7C1}"/>
              </a:ext>
            </a:extLst>
          </p:cNvPr>
          <p:cNvSpPr txBox="1"/>
          <p:nvPr/>
        </p:nvSpPr>
        <p:spPr>
          <a:xfrm>
            <a:off x="6910434" y="1590243"/>
            <a:ext cx="48384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think with </a:t>
            </a:r>
            <a:r>
              <a:rPr lang="en-US" sz="2000" b="1" dirty="0">
                <a:solidFill>
                  <a:srgbClr val="C00000"/>
                </a:solidFill>
              </a:rPr>
              <a:t>3d aware tools as an 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1741D-8314-2D9D-CCD0-E8CF9290E44C}"/>
              </a:ext>
            </a:extLst>
          </p:cNvPr>
          <p:cNvSpPr txBox="1"/>
          <p:nvPr/>
        </p:nvSpPr>
        <p:spPr>
          <a:xfrm>
            <a:off x="6667653" y="4821482"/>
            <a:ext cx="53570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think in a semantically rich </a:t>
            </a:r>
            <a:r>
              <a:rPr lang="en-US" sz="2000" b="1" dirty="0">
                <a:solidFill>
                  <a:srgbClr val="C00000"/>
                </a:solidFill>
              </a:rPr>
              <a:t>latent space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89C30-127E-52AB-6B28-ADB799130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559" y="3264590"/>
            <a:ext cx="1234000" cy="960484"/>
          </a:xfrm>
          <a:prstGeom prst="rect">
            <a:avLst/>
          </a:prstGeom>
        </p:spPr>
      </p:pic>
      <p:pic>
        <p:nvPicPr>
          <p:cNvPr id="4100" name="Picture 4" descr="Download Free Think Icons in PNG &amp; SVG">
            <a:extLst>
              <a:ext uri="{FF2B5EF4-FFF2-40B4-BE49-F238E27FC236}">
                <a16:creationId xmlns:a16="http://schemas.microsoft.com/office/drawing/2014/main" id="{CD1B0D4E-3BDE-A537-36C1-A2CCC78D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1636" y="5509656"/>
            <a:ext cx="456090" cy="456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Toolbox - Free construction and tools icons">
            <a:extLst>
              <a:ext uri="{FF2B5EF4-FFF2-40B4-BE49-F238E27FC236}">
                <a16:creationId xmlns:a16="http://schemas.microsoft.com/office/drawing/2014/main" id="{EC0773B7-68DE-C977-E770-468544D73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220" y="2106495"/>
            <a:ext cx="835212" cy="83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1B218E7-4AE9-5B45-85CF-80FC2C75546F}"/>
              </a:ext>
            </a:extLst>
          </p:cNvPr>
          <p:cNvSpPr>
            <a:spLocks noChangeAspect="1"/>
          </p:cNvSpPr>
          <p:nvPr/>
        </p:nvSpPr>
        <p:spPr>
          <a:xfrm>
            <a:off x="9565800" y="5636055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8D5A85-FE85-0ACD-A235-B0AD28F45135}"/>
              </a:ext>
            </a:extLst>
          </p:cNvPr>
          <p:cNvSpPr txBox="1"/>
          <p:nvPr/>
        </p:nvSpPr>
        <p:spPr>
          <a:xfrm>
            <a:off x="1176459" y="4156845"/>
            <a:ext cx="2007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Inter"/>
              </a:rPr>
              <a:t>Where is the table</a:t>
            </a:r>
            <a:endParaRPr lang="en-US" b="1" dirty="0"/>
          </a:p>
        </p:txBody>
      </p:sp>
      <p:pic>
        <p:nvPicPr>
          <p:cNvPr id="4104" name="Picture 8" descr="Zoom in Generic Flat icon | Freepik">
            <a:extLst>
              <a:ext uri="{FF2B5EF4-FFF2-40B4-BE49-F238E27FC236}">
                <a16:creationId xmlns:a16="http://schemas.microsoft.com/office/drawing/2014/main" id="{0CCAC0A5-0139-F998-9759-B4F172E8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243" y="3431914"/>
            <a:ext cx="464514" cy="46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52657D-84A7-1794-1DC9-51629AF294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779" t="51765" r="17103" b="6578"/>
          <a:stretch>
            <a:fillRect/>
          </a:stretch>
        </p:blipFill>
        <p:spPr>
          <a:xfrm>
            <a:off x="3056053" y="3391607"/>
            <a:ext cx="1112033" cy="76523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1989AAB-2AD7-3793-A022-499DA5E35098}"/>
              </a:ext>
            </a:extLst>
          </p:cNvPr>
          <p:cNvSpPr/>
          <p:nvPr/>
        </p:nvSpPr>
        <p:spPr>
          <a:xfrm>
            <a:off x="1971537" y="3816972"/>
            <a:ext cx="371162" cy="362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57F994-1D82-BFDC-9502-8EEE2B347055}"/>
              </a:ext>
            </a:extLst>
          </p:cNvPr>
          <p:cNvCxnSpPr>
            <a:stCxn id="17" idx="3"/>
          </p:cNvCxnSpPr>
          <p:nvPr/>
        </p:nvCxnSpPr>
        <p:spPr>
          <a:xfrm flipV="1">
            <a:off x="2342699" y="3816972"/>
            <a:ext cx="716493" cy="1812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06" name="Picture 10" descr="Python - Free interface icons">
            <a:extLst>
              <a:ext uri="{FF2B5EF4-FFF2-40B4-BE49-F238E27FC236}">
                <a16:creationId xmlns:a16="http://schemas.microsoft.com/office/drawing/2014/main" id="{51DF9B66-7AE8-75C0-9BB0-30646DD30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5199" y="2225871"/>
            <a:ext cx="624906" cy="62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A0434FE-45AE-4B45-7308-E4B8B5093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951" y="2147083"/>
            <a:ext cx="1234000" cy="960484"/>
          </a:xfrm>
          <a:prstGeom prst="rect">
            <a:avLst/>
          </a:prstGeom>
        </p:spPr>
      </p:pic>
      <p:sp>
        <p:nvSpPr>
          <p:cNvPr id="21" name="Down Arrow 20">
            <a:extLst>
              <a:ext uri="{FF2B5EF4-FFF2-40B4-BE49-F238E27FC236}">
                <a16:creationId xmlns:a16="http://schemas.microsoft.com/office/drawing/2014/main" id="{CDBCF749-3804-E78B-276E-21F17C8CCEE2}"/>
              </a:ext>
            </a:extLst>
          </p:cNvPr>
          <p:cNvSpPr/>
          <p:nvPr/>
        </p:nvSpPr>
        <p:spPr>
          <a:xfrm rot="16200000">
            <a:off x="8228893" y="2447768"/>
            <a:ext cx="232257" cy="247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352DBE55-BE00-4F80-06BB-54CEE85FABFF}"/>
              </a:ext>
            </a:extLst>
          </p:cNvPr>
          <p:cNvSpPr/>
          <p:nvPr/>
        </p:nvSpPr>
        <p:spPr>
          <a:xfrm rot="16200000">
            <a:off x="9297873" y="2485527"/>
            <a:ext cx="232257" cy="247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44CD09-73F2-D52D-5207-6864BED88E74}"/>
              </a:ext>
            </a:extLst>
          </p:cNvPr>
          <p:cNvSpPr txBox="1"/>
          <p:nvPr/>
        </p:nvSpPr>
        <p:spPr>
          <a:xfrm>
            <a:off x="9018182" y="2835529"/>
            <a:ext cx="2007106" cy="50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Extracted 3D information</a:t>
            </a:r>
            <a:endParaRPr lang="en-US" sz="1600" b="1" dirty="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4C1521F5-8B59-6B5F-7DFD-9CA305370B1E}"/>
              </a:ext>
            </a:extLst>
          </p:cNvPr>
          <p:cNvSpPr/>
          <p:nvPr/>
        </p:nvSpPr>
        <p:spPr>
          <a:xfrm rot="16200000">
            <a:off x="10529064" y="2483439"/>
            <a:ext cx="232257" cy="247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3F7C10-60BC-4AD3-E842-3917D3271DA6}"/>
              </a:ext>
            </a:extLst>
          </p:cNvPr>
          <p:cNvSpPr txBox="1"/>
          <p:nvPr/>
        </p:nvSpPr>
        <p:spPr>
          <a:xfrm>
            <a:off x="10467051" y="2835529"/>
            <a:ext cx="1387128" cy="50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Script for verification</a:t>
            </a:r>
            <a:endParaRPr lang="en-US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86230A-E6A3-D339-F05F-20E19C01631F}"/>
              </a:ext>
            </a:extLst>
          </p:cNvPr>
          <p:cNvSpPr txBox="1"/>
          <p:nvPr/>
        </p:nvSpPr>
        <p:spPr>
          <a:xfrm>
            <a:off x="8141573" y="2919471"/>
            <a:ext cx="1387128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Tool box</a:t>
            </a:r>
            <a:endParaRPr lang="en-US" sz="1600" b="1" dirty="0"/>
          </a:p>
        </p:txBody>
      </p:sp>
      <p:pic>
        <p:nvPicPr>
          <p:cNvPr id="4112" name="Picture 16" descr="Iteration - Free arrows icons">
            <a:extLst>
              <a:ext uri="{FF2B5EF4-FFF2-40B4-BE49-F238E27FC236}">
                <a16:creationId xmlns:a16="http://schemas.microsoft.com/office/drawing/2014/main" id="{130C9EDD-9301-A6FB-7F68-D1157FF18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2623" y="2142356"/>
            <a:ext cx="580088" cy="58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5A51E17-1519-8925-3D79-E0658424A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391" y="5336451"/>
            <a:ext cx="1234000" cy="960484"/>
          </a:xfrm>
          <a:prstGeom prst="rect">
            <a:avLst/>
          </a:prstGeom>
        </p:spPr>
      </p:pic>
      <p:sp>
        <p:nvSpPr>
          <p:cNvPr id="28" name="Down Arrow 27">
            <a:extLst>
              <a:ext uri="{FF2B5EF4-FFF2-40B4-BE49-F238E27FC236}">
                <a16:creationId xmlns:a16="http://schemas.microsoft.com/office/drawing/2014/main" id="{D9398FBE-D68E-113A-5B4E-E0E52665B886}"/>
              </a:ext>
            </a:extLst>
          </p:cNvPr>
          <p:cNvSpPr/>
          <p:nvPr/>
        </p:nvSpPr>
        <p:spPr>
          <a:xfrm rot="16200000">
            <a:off x="8671322" y="5671662"/>
            <a:ext cx="232257" cy="247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17ABC45-E26D-A4EC-99FF-6443FC630C92}"/>
              </a:ext>
            </a:extLst>
          </p:cNvPr>
          <p:cNvSpPr>
            <a:spLocks noChangeAspect="1"/>
          </p:cNvSpPr>
          <p:nvPr/>
        </p:nvSpPr>
        <p:spPr>
          <a:xfrm>
            <a:off x="9915252" y="5641178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2D0384-68B6-F2A5-9B62-7605B53F2DD8}"/>
              </a:ext>
            </a:extLst>
          </p:cNvPr>
          <p:cNvSpPr txBox="1"/>
          <p:nvPr/>
        </p:nvSpPr>
        <p:spPr>
          <a:xfrm>
            <a:off x="8496117" y="5938472"/>
            <a:ext cx="1387128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&lt;think&gt;</a:t>
            </a:r>
            <a:endParaRPr lang="en-US" sz="1600" b="1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1FF01CF-D8C3-CB41-DD61-78DEA80D766D}"/>
              </a:ext>
            </a:extLst>
          </p:cNvPr>
          <p:cNvSpPr>
            <a:spLocks noChangeAspect="1"/>
          </p:cNvSpPr>
          <p:nvPr/>
        </p:nvSpPr>
        <p:spPr>
          <a:xfrm>
            <a:off x="10263842" y="5636068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0189911-7EB7-4810-B96F-E2ED0E654E0A}"/>
              </a:ext>
            </a:extLst>
          </p:cNvPr>
          <p:cNvSpPr>
            <a:spLocks noChangeAspect="1"/>
          </p:cNvSpPr>
          <p:nvPr/>
        </p:nvSpPr>
        <p:spPr>
          <a:xfrm>
            <a:off x="10613294" y="5641191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724BE25-7AE4-F28D-604A-5416E105799C}"/>
              </a:ext>
            </a:extLst>
          </p:cNvPr>
          <p:cNvSpPr>
            <a:spLocks noChangeAspect="1"/>
          </p:cNvSpPr>
          <p:nvPr/>
        </p:nvSpPr>
        <p:spPr>
          <a:xfrm>
            <a:off x="10958949" y="5636055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1AE7B9-E894-D9C7-AC22-EB68F31D25C5}"/>
              </a:ext>
            </a:extLst>
          </p:cNvPr>
          <p:cNvSpPr txBox="1"/>
          <p:nvPr/>
        </p:nvSpPr>
        <p:spPr>
          <a:xfrm>
            <a:off x="10692702" y="5586506"/>
            <a:ext cx="1387128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…</a:t>
            </a:r>
            <a:endParaRPr lang="en-US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B6B6C6-4ED1-E915-5D9D-4808ACCDB97E}"/>
              </a:ext>
            </a:extLst>
          </p:cNvPr>
          <p:cNvSpPr txBox="1"/>
          <p:nvPr/>
        </p:nvSpPr>
        <p:spPr>
          <a:xfrm>
            <a:off x="9482527" y="5930987"/>
            <a:ext cx="1836949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Laten embeddings</a:t>
            </a:r>
            <a:endParaRPr lang="en-US" sz="1600" b="1" dirty="0"/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0310106-D06B-B2F5-37D0-86017C837C35}"/>
              </a:ext>
            </a:extLst>
          </p:cNvPr>
          <p:cNvCxnSpPr>
            <a:stCxn id="39" idx="3"/>
            <a:endCxn id="12" idx="1"/>
          </p:cNvCxnSpPr>
          <p:nvPr/>
        </p:nvCxnSpPr>
        <p:spPr>
          <a:xfrm flipV="1">
            <a:off x="4447271" y="2557972"/>
            <a:ext cx="1095621" cy="12978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70AD1C49-D1C7-2675-5C0A-4517FF6F5CDF}"/>
              </a:ext>
            </a:extLst>
          </p:cNvPr>
          <p:cNvCxnSpPr>
            <a:cxnSpLocks/>
            <a:stCxn id="39" idx="3"/>
            <a:endCxn id="13" idx="1"/>
          </p:cNvCxnSpPr>
          <p:nvPr/>
        </p:nvCxnSpPr>
        <p:spPr>
          <a:xfrm>
            <a:off x="4447271" y="3855839"/>
            <a:ext cx="1500296" cy="1909065"/>
          </a:xfrm>
          <a:prstGeom prst="bentConnector3">
            <a:avLst>
              <a:gd name="adj1" fmla="val 363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1ADF7B4-3C33-A6CC-3DB7-673705FD62DB}"/>
              </a:ext>
            </a:extLst>
          </p:cNvPr>
          <p:cNvSpPr txBox="1"/>
          <p:nvPr/>
        </p:nvSpPr>
        <p:spPr>
          <a:xfrm>
            <a:off x="3824467" y="2151013"/>
            <a:ext cx="131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Rely on external tools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D5C9B5-764A-4C38-613B-2794868D6F6E}"/>
              </a:ext>
            </a:extLst>
          </p:cNvPr>
          <p:cNvSpPr txBox="1"/>
          <p:nvPr/>
        </p:nvSpPr>
        <p:spPr>
          <a:xfrm>
            <a:off x="3812680" y="4637335"/>
            <a:ext cx="131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Rely on VLM reasoning</a:t>
            </a:r>
          </a:p>
        </p:txBody>
      </p:sp>
    </p:spTree>
    <p:extLst>
      <p:ext uri="{BB962C8B-B14F-4D97-AF65-F5344CB8AC3E}">
        <p14:creationId xmlns:p14="http://schemas.microsoft.com/office/powerpoint/2010/main" val="219093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97CED-6F95-BA0A-7B97-5A62E8AC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B9E04911-1132-801F-EEE0-B677E9357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01A82FEA-9248-C4EE-FDBD-911942C24F9E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chemeClr val="bg1"/>
                </a:solidFill>
              </a:rPr>
              <a:t>Existing work: Geometrically-Constrained Agent</a:t>
            </a:r>
            <a:endParaRPr lang="en-US" altLang="zh-CN" sz="2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5C8286-99A1-417E-35BB-9129B6A68E12}"/>
              </a:ext>
            </a:extLst>
          </p:cNvPr>
          <p:cNvSpPr txBox="1"/>
          <p:nvPr/>
        </p:nvSpPr>
        <p:spPr>
          <a:xfrm>
            <a:off x="60121" y="717258"/>
            <a:ext cx="5920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Existing work: Geometrically-Constrained Agent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diagram of a table&#10;&#10;Description automatically generated">
            <a:extLst>
              <a:ext uri="{FF2B5EF4-FFF2-40B4-BE49-F238E27FC236}">
                <a16:creationId xmlns:a16="http://schemas.microsoft.com/office/drawing/2014/main" id="{7FBC4B16-7C5A-70B5-85AE-5347EA070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87" y="1483039"/>
            <a:ext cx="11577912" cy="5191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C22921-6D90-38F6-B759-79685CC0A388}"/>
              </a:ext>
            </a:extLst>
          </p:cNvPr>
          <p:cNvSpPr txBox="1"/>
          <p:nvPr/>
        </p:nvSpPr>
        <p:spPr>
          <a:xfrm>
            <a:off x="304167" y="1055812"/>
            <a:ext cx="7403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Provide a path of separating semantic reasoning from geometric computation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E36F95-2D2F-4337-A2DA-1A4A44C2CEAF}"/>
              </a:ext>
            </a:extLst>
          </p:cNvPr>
          <p:cNvSpPr/>
          <p:nvPr/>
        </p:nvSpPr>
        <p:spPr>
          <a:xfrm>
            <a:off x="7404627" y="1479893"/>
            <a:ext cx="4597592" cy="52972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986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7EFE7-F422-D2FF-7751-4087F3AA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A5209A14-66B2-E6D2-DCD0-471F53566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2621D6BA-58CE-0FCA-1633-65183E020A12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 existing works on thinking with tools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358DC-408F-BBD1-50FF-B611DB62FBBC}"/>
              </a:ext>
            </a:extLst>
          </p:cNvPr>
          <p:cNvSpPr txBox="1"/>
          <p:nvPr/>
        </p:nvSpPr>
        <p:spPr>
          <a:xfrm>
            <a:off x="304167" y="989787"/>
            <a:ext cx="113391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[14] World2Mind: Cognition Toolkit for Allocentric Spatial Reasoning in Foundation Models</a:t>
            </a:r>
          </a:p>
          <a:p>
            <a:r>
              <a:rPr lang="en-US" sz="1600" b="1" dirty="0"/>
              <a:t>[15] Geometrically-Constrained Agent for Spatial Reasoning</a:t>
            </a:r>
          </a:p>
          <a:p>
            <a:r>
              <a:rPr lang="en-US" sz="1600" b="1" dirty="0"/>
              <a:t>[16] </a:t>
            </a:r>
            <a:r>
              <a:rPr lang="en-US" sz="1600" b="1" dirty="0" err="1"/>
              <a:t>RieMind</a:t>
            </a:r>
            <a:r>
              <a:rPr lang="en-US" sz="1600" b="1" dirty="0"/>
              <a:t>: Geometry-Grounded Spatial Agent for Scene Understanding</a:t>
            </a:r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934911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67FF7-05A6-74D7-21B8-59D73E06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944B56A7-8E17-7F50-7391-88A93C4B5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5BAD4F11-7578-099C-FA0A-1F490C36682E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Existing work: Latent spatial reasoning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27553-7746-BBD4-DFB5-3136362D02D3}"/>
              </a:ext>
            </a:extLst>
          </p:cNvPr>
          <p:cNvSpPr txBox="1"/>
          <p:nvPr/>
        </p:nvSpPr>
        <p:spPr>
          <a:xfrm>
            <a:off x="0" y="812566"/>
            <a:ext cx="4826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08F4F6-87AE-DA39-8B5E-D82327A18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767" y="2413338"/>
            <a:ext cx="6233793" cy="30397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C7301E-C671-8322-08A3-3F85B4996E18}"/>
              </a:ext>
            </a:extLst>
          </p:cNvPr>
          <p:cNvSpPr txBox="1"/>
          <p:nvPr/>
        </p:nvSpPr>
        <p:spPr>
          <a:xfrm>
            <a:off x="60121" y="1211355"/>
            <a:ext cx="11942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unified spatial representation should be embedded in continuous latent space, enabling 3D mental modeling for human-like spatial reasoning.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1B9F55-DAF0-8232-BFE9-07F02E73A174}"/>
              </a:ext>
            </a:extLst>
          </p:cNvPr>
          <p:cNvSpPr txBox="1"/>
          <p:nvPr/>
        </p:nvSpPr>
        <p:spPr>
          <a:xfrm>
            <a:off x="60121" y="1923308"/>
            <a:ext cx="11942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Most of current method focusing on 2D image perception rather than spatial reasoning with necessary 3D latent feature guidance.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963EB-2D86-8DFF-3F16-237D5B483CC7}"/>
              </a:ext>
            </a:extLst>
          </p:cNvPr>
          <p:cNvSpPr txBox="1"/>
          <p:nvPr/>
        </p:nvSpPr>
        <p:spPr>
          <a:xfrm>
            <a:off x="688244" y="5583769"/>
            <a:ext cx="111014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FF0000"/>
                </a:solidFill>
              </a:rPr>
              <a:t>The listed papers include some general-purpose multimodal latent-space reasoning methods that are not specifically designed for spatial reasoning, but are still worth reading.</a:t>
            </a:r>
          </a:p>
        </p:txBody>
      </p:sp>
    </p:spTree>
    <p:extLst>
      <p:ext uri="{BB962C8B-B14F-4D97-AF65-F5344CB8AC3E}">
        <p14:creationId xmlns:p14="http://schemas.microsoft.com/office/powerpoint/2010/main" val="2242327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9B7C-17E1-7224-2395-868B6A6B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092F4CCA-13A3-EE83-0A53-DCAAD138D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823B00C7-6B00-438F-DC05-0BCE1A729454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reasoning for spatial reasoning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AA73E-229B-3EEA-B9CB-93CCFA3F1FA6}"/>
              </a:ext>
            </a:extLst>
          </p:cNvPr>
          <p:cNvSpPr txBox="1"/>
          <p:nvPr/>
        </p:nvSpPr>
        <p:spPr>
          <a:xfrm>
            <a:off x="304167" y="898086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Three potential pathways</a:t>
            </a:r>
          </a:p>
        </p:txBody>
      </p:sp>
      <p:sp>
        <p:nvSpPr>
          <p:cNvPr id="41" name="Google Shape;2200;p40">
            <a:extLst>
              <a:ext uri="{FF2B5EF4-FFF2-40B4-BE49-F238E27FC236}">
                <a16:creationId xmlns:a16="http://schemas.microsoft.com/office/drawing/2014/main" id="{B0922EEE-6F14-D8D7-425D-BF3272610EB2}"/>
              </a:ext>
            </a:extLst>
          </p:cNvPr>
          <p:cNvSpPr txBox="1">
            <a:spLocks/>
          </p:cNvSpPr>
          <p:nvPr/>
        </p:nvSpPr>
        <p:spPr>
          <a:xfrm>
            <a:off x="-179532" y="1216064"/>
            <a:ext cx="388223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</a:rPr>
              <a:t>1 latent alignment + RL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AE4043-FF7B-513A-821D-8367E0F98FA6}"/>
              </a:ext>
            </a:extLst>
          </p:cNvPr>
          <p:cNvSpPr txBox="1"/>
          <p:nvPr/>
        </p:nvSpPr>
        <p:spPr>
          <a:xfrm>
            <a:off x="1154833" y="1686632"/>
            <a:ext cx="10250737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latin typeface="Inter"/>
              </a:rPr>
              <a:t>1 teach the model the generate token in a semantically rich latent space (e.g. learn to generate VGGT embeddings)</a:t>
            </a:r>
          </a:p>
          <a:p>
            <a:pPr>
              <a:lnSpc>
                <a:spcPts val="1620"/>
              </a:lnSpc>
            </a:pPr>
            <a:r>
              <a:rPr lang="en-US" sz="1600" b="1" dirty="0">
                <a:latin typeface="Inter"/>
              </a:rPr>
              <a:t>2 does not teach the model how to leverage the generated latent information for reasoning; instead, the reasoning capability relies entirely on reinforcement learning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784789-243B-581D-0E34-4DD43AED9D80}"/>
              </a:ext>
            </a:extLst>
          </p:cNvPr>
          <p:cNvGrpSpPr/>
          <p:nvPr/>
        </p:nvGrpSpPr>
        <p:grpSpPr>
          <a:xfrm>
            <a:off x="1283825" y="2393379"/>
            <a:ext cx="4353046" cy="2226702"/>
            <a:chOff x="1283825" y="2656339"/>
            <a:chExt cx="4353046" cy="22267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9BBAB-E694-8F46-E947-3F4E3EE46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3825" y="2656339"/>
              <a:ext cx="4353046" cy="2226702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479C78E-1B44-625F-1162-4B2DAD2FBC41}"/>
                </a:ext>
              </a:extLst>
            </p:cNvPr>
            <p:cNvSpPr/>
            <p:nvPr/>
          </p:nvSpPr>
          <p:spPr>
            <a:xfrm>
              <a:off x="1319514" y="2660299"/>
              <a:ext cx="1099595" cy="1020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DF5600B-8F47-8EDA-5112-607E02A4A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108" y="2583581"/>
            <a:ext cx="2959802" cy="22267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EDC4B8-9688-198C-F1CE-B0656C1E2B51}"/>
              </a:ext>
            </a:extLst>
          </p:cNvPr>
          <p:cNvSpPr txBox="1"/>
          <p:nvPr/>
        </p:nvSpPr>
        <p:spPr>
          <a:xfrm>
            <a:off x="3061792" y="4541416"/>
            <a:ext cx="1764851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latin typeface="Inter"/>
              </a:rPr>
              <a:t>SFT (alignment)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191122-9E33-BBD6-6DE7-B82536F66FAD}"/>
              </a:ext>
            </a:extLst>
          </p:cNvPr>
          <p:cNvSpPr txBox="1"/>
          <p:nvPr/>
        </p:nvSpPr>
        <p:spPr>
          <a:xfrm>
            <a:off x="7828772" y="4541416"/>
            <a:ext cx="1764851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latin typeface="Inter"/>
              </a:rPr>
              <a:t>RL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9D30AE-CBB7-F357-2406-0EA703D9A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602" y="5145820"/>
            <a:ext cx="3501405" cy="16183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72E930-3703-AE71-C3DD-609FA243C6D7}"/>
              </a:ext>
            </a:extLst>
          </p:cNvPr>
          <p:cNvSpPr txBox="1"/>
          <p:nvPr/>
        </p:nvSpPr>
        <p:spPr>
          <a:xfrm>
            <a:off x="5041007" y="5420361"/>
            <a:ext cx="55755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Any way to guarantee that the model </a:t>
            </a:r>
            <a:r>
              <a:rPr lang="en-US" sz="1600" b="1" dirty="0"/>
              <a:t>derives its final decision from latent reasoning</a:t>
            </a:r>
            <a:r>
              <a:rPr lang="en-US" sz="1600" dirty="0"/>
              <a:t>, rather than relying solely on the raw image and text inputs?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49AB2C-8487-FA06-37A9-1317A5124FA5}"/>
              </a:ext>
            </a:extLst>
          </p:cNvPr>
          <p:cNvCxnSpPr/>
          <p:nvPr/>
        </p:nvCxnSpPr>
        <p:spPr>
          <a:xfrm>
            <a:off x="304167" y="4904246"/>
            <a:ext cx="11229465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272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DF6BE-B0F3-E833-E26B-4B783626F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822017DD-066E-A2B5-F1FD-B623BF0DE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E81CB9EA-4D53-0CBB-1959-FD7B8E7D5739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reasoning for spatial reasoning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F8C452-8D86-50EF-B70C-1C5017431335}"/>
              </a:ext>
            </a:extLst>
          </p:cNvPr>
          <p:cNvSpPr txBox="1"/>
          <p:nvPr/>
        </p:nvSpPr>
        <p:spPr>
          <a:xfrm>
            <a:off x="304167" y="898086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Three potential pathways</a:t>
            </a:r>
          </a:p>
        </p:txBody>
      </p:sp>
      <p:sp>
        <p:nvSpPr>
          <p:cNvPr id="41" name="Google Shape;2200;p40">
            <a:extLst>
              <a:ext uri="{FF2B5EF4-FFF2-40B4-BE49-F238E27FC236}">
                <a16:creationId xmlns:a16="http://schemas.microsoft.com/office/drawing/2014/main" id="{E53F54CA-024B-5B6E-6421-36BDCE4A7E70}"/>
              </a:ext>
            </a:extLst>
          </p:cNvPr>
          <p:cNvSpPr txBox="1">
            <a:spLocks/>
          </p:cNvSpPr>
          <p:nvPr/>
        </p:nvSpPr>
        <p:spPr>
          <a:xfrm>
            <a:off x="-179532" y="1216064"/>
            <a:ext cx="388223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</a:rPr>
              <a:t>1 latent alignment + RL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B63E08-282F-D804-E622-17CA7582AF29}"/>
              </a:ext>
            </a:extLst>
          </p:cNvPr>
          <p:cNvSpPr txBox="1"/>
          <p:nvPr/>
        </p:nvSpPr>
        <p:spPr>
          <a:xfrm>
            <a:off x="538480" y="1616174"/>
            <a:ext cx="10515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[17] Think with 3D: Geometric Imagination Grounded Spatial Reasoning from Limited Views</a:t>
            </a:r>
          </a:p>
          <a:p>
            <a:r>
              <a:rPr lang="en-US" sz="1600" b="1" dirty="0"/>
              <a:t>[18] Monet: Reasoning in Latent Visual Space Beyond Image and Language</a:t>
            </a:r>
          </a:p>
          <a:p>
            <a:r>
              <a:rPr lang="en-US" sz="1600" b="1" dirty="0"/>
              <a:t>[19] </a:t>
            </a:r>
            <a:r>
              <a:rPr lang="en-US" sz="1600" b="1" dirty="0" err="1"/>
              <a:t>CrystaL</a:t>
            </a:r>
            <a:r>
              <a:rPr lang="en-US" sz="1600" b="1" dirty="0"/>
              <a:t>: Spontaneous Emergence of Visual </a:t>
            </a:r>
            <a:r>
              <a:rPr lang="en-US" sz="1600" b="1" dirty="0" err="1"/>
              <a:t>Latents</a:t>
            </a:r>
            <a:r>
              <a:rPr lang="en-US" sz="1600" b="1" dirty="0"/>
              <a:t> in MLLMs</a:t>
            </a:r>
          </a:p>
          <a:p>
            <a:r>
              <a:rPr lang="en-US" sz="1600" b="1" dirty="0"/>
              <a:t>[20] Mull-Tokens: Modality-Agnostic Latent Thinking</a:t>
            </a:r>
          </a:p>
          <a:p>
            <a:r>
              <a:rPr lang="en-US" sz="1600" b="1" dirty="0"/>
              <a:t>[21] Reasoning Within the Mind: Dynamic Multimodal Interleaving in Latent Space</a:t>
            </a:r>
          </a:p>
          <a:p>
            <a:r>
              <a:rPr lang="en-US" sz="1600" b="1" dirty="0"/>
              <a:t>[22] Latent Chain-of-Thought for Visual Reasoning</a:t>
            </a:r>
          </a:p>
          <a:p>
            <a:r>
              <a:rPr lang="en-US" sz="1600" b="1" dirty="0"/>
              <a:t>[23] Latent Reasoning VLA: Latent Thinking and Prediction for Vision-Language-Action Models</a:t>
            </a:r>
          </a:p>
        </p:txBody>
      </p:sp>
    </p:spTree>
    <p:extLst>
      <p:ext uri="{BB962C8B-B14F-4D97-AF65-F5344CB8AC3E}">
        <p14:creationId xmlns:p14="http://schemas.microsoft.com/office/powerpoint/2010/main" val="3547371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790E-AF04-708E-BF87-9A900889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50DDDD1E-61C2-98B0-1F9D-E4DAA31A9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67E0713C-56C3-7FE8-BB9A-E6F36470BB0A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reasoning for spatial reasoning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9C6CE-808A-E463-A033-5A17F1270C8A}"/>
              </a:ext>
            </a:extLst>
          </p:cNvPr>
          <p:cNvSpPr txBox="1"/>
          <p:nvPr/>
        </p:nvSpPr>
        <p:spPr>
          <a:xfrm>
            <a:off x="304167" y="898086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Three potential pathways</a:t>
            </a:r>
          </a:p>
        </p:txBody>
      </p:sp>
      <p:sp>
        <p:nvSpPr>
          <p:cNvPr id="41" name="Google Shape;2200;p40">
            <a:extLst>
              <a:ext uri="{FF2B5EF4-FFF2-40B4-BE49-F238E27FC236}">
                <a16:creationId xmlns:a16="http://schemas.microsoft.com/office/drawing/2014/main" id="{168DEFFB-A931-6A62-7DEB-DA788902235E}"/>
              </a:ext>
            </a:extLst>
          </p:cNvPr>
          <p:cNvSpPr txBox="1">
            <a:spLocks/>
          </p:cNvSpPr>
          <p:nvPr/>
        </p:nvSpPr>
        <p:spPr>
          <a:xfrm>
            <a:off x="477993" y="1454047"/>
            <a:ext cx="9673004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l"/>
            <a:r>
              <a:rPr lang="en-US" sz="2000" b="1" dirty="0">
                <a:solidFill>
                  <a:srgbClr val="C00000"/>
                </a:solidFill>
              </a:rPr>
              <a:t>2 guide the reasoning with ground truth reasoning traces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68BFCD-B2A6-D092-E701-A4A8D6AA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5" t="26581" r="70254" b="29932"/>
          <a:stretch>
            <a:fillRect/>
          </a:stretch>
        </p:blipFill>
        <p:spPr>
          <a:xfrm>
            <a:off x="1382205" y="4940965"/>
            <a:ext cx="2141316" cy="925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08EFB8-0C38-4FAB-E119-FCD019B54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641" y="2227287"/>
            <a:ext cx="4535760" cy="16444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F13F0BA-F746-7898-191A-08206F628BD5}"/>
              </a:ext>
            </a:extLst>
          </p:cNvPr>
          <p:cNvSpPr/>
          <p:nvPr/>
        </p:nvSpPr>
        <p:spPr>
          <a:xfrm>
            <a:off x="1255641" y="2227288"/>
            <a:ext cx="4535760" cy="1850101"/>
          </a:xfrm>
          <a:prstGeom prst="rect">
            <a:avLst/>
          </a:prstGeom>
          <a:noFill/>
          <a:ln w="28575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84C296-BEB1-5103-B352-F247028CBC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823" t="23229" r="18455" b="33284"/>
          <a:stretch>
            <a:fillRect/>
          </a:stretch>
        </p:blipFill>
        <p:spPr>
          <a:xfrm>
            <a:off x="4032049" y="4934839"/>
            <a:ext cx="1377387" cy="9259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9D48B9-D83B-468B-E9B1-42BF8891AC7F}"/>
              </a:ext>
            </a:extLst>
          </p:cNvPr>
          <p:cNvSpPr txBox="1"/>
          <p:nvPr/>
        </p:nvSpPr>
        <p:spPr>
          <a:xfrm>
            <a:off x="970631" y="1883002"/>
            <a:ext cx="10250737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latin typeface="Inter"/>
              </a:rPr>
              <a:t>Option 1: teach the model to focus on the correct part of input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FA2750-55B9-4E29-8393-FA69F3A742DD}"/>
              </a:ext>
            </a:extLst>
          </p:cNvPr>
          <p:cNvSpPr txBox="1"/>
          <p:nvPr/>
        </p:nvSpPr>
        <p:spPr>
          <a:xfrm>
            <a:off x="729499" y="4330250"/>
            <a:ext cx="10250737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latin typeface="Inter"/>
              </a:rPr>
              <a:t>Option 2: teach the model with mental imaginary operation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05263A-D5FA-3F52-BADA-2232C147EA18}"/>
              </a:ext>
            </a:extLst>
          </p:cNvPr>
          <p:cNvSpPr/>
          <p:nvPr/>
        </p:nvSpPr>
        <p:spPr>
          <a:xfrm>
            <a:off x="1255641" y="4832658"/>
            <a:ext cx="4535760" cy="1186004"/>
          </a:xfrm>
          <a:prstGeom prst="rect">
            <a:avLst/>
          </a:prstGeom>
          <a:noFill/>
          <a:ln w="28575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D6422A-B6BE-B27D-8C5D-D14F21C7EF12}"/>
              </a:ext>
            </a:extLst>
          </p:cNvPr>
          <p:cNvSpPr txBox="1"/>
          <p:nvPr/>
        </p:nvSpPr>
        <p:spPr>
          <a:xfrm>
            <a:off x="6107061" y="4883450"/>
            <a:ext cx="624048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bg2"/>
                </a:solidFill>
                <a:effectLst/>
                <a:latin typeface="Helvetica Neue" panose="02000503000000020004" pitchFamily="2" charset="0"/>
              </a:rPr>
              <a:t>Trace Coherence (Local Plausibility):</a:t>
            </a:r>
            <a:r>
              <a:rPr lang="en-US" sz="1400" dirty="0">
                <a:solidFill>
                  <a:schemeClr val="bg2"/>
                </a:solidFill>
                <a:effectLst/>
                <a:latin typeface="Helvetica Neue" panose="02000503000000020004" pitchFamily="2" charset="0"/>
              </a:rPr>
              <a:t> Do the individual, step-by-step sentences make sense? Are there obvious errors between step A and step B?</a:t>
            </a:r>
          </a:p>
          <a:p>
            <a:pPr>
              <a:buNone/>
            </a:pPr>
            <a:r>
              <a:rPr lang="en-US" sz="1400" b="1" dirty="0">
                <a:solidFill>
                  <a:schemeClr val="bg2"/>
                </a:solidFill>
                <a:effectLst/>
                <a:latin typeface="Helvetica Neue" panose="02000503000000020004" pitchFamily="2" charset="0"/>
              </a:rPr>
              <a:t>Trace Validity (Global Validity):</a:t>
            </a:r>
            <a:r>
              <a:rPr lang="en-US" sz="1400" dirty="0">
                <a:solidFill>
                  <a:schemeClr val="bg2"/>
                </a:solidFill>
                <a:effectLst/>
                <a:latin typeface="Helvetica Neue" panose="02000503000000020004" pitchFamily="2" charset="0"/>
              </a:rPr>
              <a:t> Does the entire chain of thought logically sound that leads to the correct final answer</a:t>
            </a:r>
          </a:p>
        </p:txBody>
      </p:sp>
    </p:spTree>
    <p:extLst>
      <p:ext uri="{BB962C8B-B14F-4D97-AF65-F5344CB8AC3E}">
        <p14:creationId xmlns:p14="http://schemas.microsoft.com/office/powerpoint/2010/main" val="3773875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43EEFF-9A9A-1447-1773-1D25F0FA1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66" y="5899766"/>
            <a:ext cx="5724516" cy="9457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4ECA7B-8870-E0B1-465D-749065A09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84" y="4331816"/>
            <a:ext cx="4974786" cy="1516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C7AEE9-5F98-A85E-B861-299689F74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48" y="2494280"/>
            <a:ext cx="4973836" cy="1439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573E8C-856A-F0F8-506A-15AF013FF2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717"/>
          <a:stretch>
            <a:fillRect/>
          </a:stretch>
        </p:blipFill>
        <p:spPr>
          <a:xfrm>
            <a:off x="5534114" y="2440172"/>
            <a:ext cx="1866900" cy="1548012"/>
          </a:xfrm>
          <a:prstGeom prst="rect">
            <a:avLst/>
          </a:prstGeom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62155EA2-217B-DB5C-34CC-91FD2C29E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7" y="1"/>
            <a:ext cx="9053819" cy="490756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2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28DE719F-F835-D9DA-88D6-693B5C220B9E}"/>
              </a:ext>
            </a:extLst>
          </p:cNvPr>
          <p:cNvSpPr txBox="1"/>
          <p:nvPr/>
        </p:nvSpPr>
        <p:spPr>
          <a:xfrm>
            <a:off x="198672" y="0"/>
            <a:ext cx="8773539" cy="447510"/>
          </a:xfrm>
          <a:prstGeom prst="rect">
            <a:avLst/>
          </a:prstGeom>
          <a:noFill/>
        </p:spPr>
        <p:txBody>
          <a:bodyPr wrap="square" numCol="1" rtlCol="0" anchor="ctr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21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Existing multi-model reasoning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2BAAC7-2E00-70C4-751C-772B0CE5E9F8}"/>
              </a:ext>
            </a:extLst>
          </p:cNvPr>
          <p:cNvSpPr txBox="1"/>
          <p:nvPr/>
        </p:nvSpPr>
        <p:spPr>
          <a:xfrm>
            <a:off x="5864170" y="6352787"/>
            <a:ext cx="2678279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75"/>
              </a:lnSpc>
            </a:pPr>
            <a:r>
              <a:rPr lang="en-US" altLang="zh-CN" sz="1350" b="1" dirty="0">
                <a:latin typeface="Calibri" panose="020F0502020204030204" pitchFamily="34" charset="0"/>
                <a:cs typeface="Calibri" panose="020F0502020204030204" pitchFamily="34" charset="0"/>
              </a:rPr>
              <a:t>Statistics of monet-sft-125k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2F7343-6BE2-F58A-5EF9-8207A38408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26" y="776830"/>
            <a:ext cx="3401820" cy="1233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32AEEE-2E23-9773-8164-D926D6D5770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9360"/>
          <a:stretch>
            <a:fillRect/>
          </a:stretch>
        </p:blipFill>
        <p:spPr>
          <a:xfrm>
            <a:off x="4716189" y="784977"/>
            <a:ext cx="833454" cy="8575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0C1543-7FAF-5D33-E608-A974D55F1D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360"/>
          <a:stretch>
            <a:fillRect/>
          </a:stretch>
        </p:blipFill>
        <p:spPr>
          <a:xfrm>
            <a:off x="6369855" y="798172"/>
            <a:ext cx="833454" cy="857576"/>
          </a:xfrm>
          <a:prstGeom prst="rect">
            <a:avLst/>
          </a:prstGeom>
        </p:spPr>
      </p:pic>
      <p:sp>
        <p:nvSpPr>
          <p:cNvPr id="14" name="Google Shape;2200;p40">
            <a:extLst>
              <a:ext uri="{FF2B5EF4-FFF2-40B4-BE49-F238E27FC236}">
                <a16:creationId xmlns:a16="http://schemas.microsoft.com/office/drawing/2014/main" id="{4EC6A956-2009-6858-6FC9-285FF87CFB4B}"/>
              </a:ext>
            </a:extLst>
          </p:cNvPr>
          <p:cNvSpPr txBox="1">
            <a:spLocks/>
          </p:cNvSpPr>
          <p:nvPr/>
        </p:nvSpPr>
        <p:spPr>
          <a:xfrm>
            <a:off x="-94631" y="440134"/>
            <a:ext cx="2911674" cy="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0" tIns="68570" rIns="68570" bIns="6857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500" b="1" dirty="0">
                <a:solidFill>
                  <a:srgbClr val="C00000"/>
                </a:solidFill>
              </a:rPr>
              <a:t>Highlight task-related region</a:t>
            </a:r>
          </a:p>
        </p:txBody>
      </p:sp>
      <p:sp>
        <p:nvSpPr>
          <p:cNvPr id="15" name="Google Shape;2200;p40">
            <a:extLst>
              <a:ext uri="{FF2B5EF4-FFF2-40B4-BE49-F238E27FC236}">
                <a16:creationId xmlns:a16="http://schemas.microsoft.com/office/drawing/2014/main" id="{7F3B8FB4-4252-9BD4-46FF-D3A0ECE717C2}"/>
              </a:ext>
            </a:extLst>
          </p:cNvPr>
          <p:cNvSpPr txBox="1">
            <a:spLocks/>
          </p:cNvSpPr>
          <p:nvPr/>
        </p:nvSpPr>
        <p:spPr>
          <a:xfrm>
            <a:off x="3767870" y="461762"/>
            <a:ext cx="2911674" cy="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0" tIns="68570" rIns="68570" bIns="6857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500" b="1" dirty="0">
                <a:solidFill>
                  <a:srgbClr val="C00000"/>
                </a:solidFill>
              </a:rPr>
              <a:t>Caption the input image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FE51C8-C203-75C7-77BF-854375A28292}"/>
              </a:ext>
            </a:extLst>
          </p:cNvPr>
          <p:cNvSpPr txBox="1"/>
          <p:nvPr/>
        </p:nvSpPr>
        <p:spPr>
          <a:xfrm>
            <a:off x="4500231" y="1628207"/>
            <a:ext cx="135154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dirty="0">
                <a:solidFill>
                  <a:schemeClr val="accent1"/>
                </a:solidFill>
              </a:rPr>
              <a:t>In the first image, the teddy bear is rotated sideways 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BDA473-7D30-256A-129C-8C9B8E605A45}"/>
              </a:ext>
            </a:extLst>
          </p:cNvPr>
          <p:cNvSpPr txBox="1"/>
          <p:nvPr/>
        </p:nvSpPr>
        <p:spPr>
          <a:xfrm>
            <a:off x="6067729" y="1606951"/>
            <a:ext cx="179504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dirty="0">
                <a:solidFill>
                  <a:schemeClr val="accent1"/>
                </a:solidFill>
              </a:rPr>
              <a:t>In the second image, the teddy bear’s face is oriented toward the camera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2BFE4A-8812-190A-13DD-430BF29B6251}"/>
              </a:ext>
            </a:extLst>
          </p:cNvPr>
          <p:cNvSpPr/>
          <p:nvPr/>
        </p:nvSpPr>
        <p:spPr>
          <a:xfrm>
            <a:off x="394826" y="776831"/>
            <a:ext cx="3401820" cy="1387576"/>
          </a:xfrm>
          <a:prstGeom prst="rect">
            <a:avLst/>
          </a:prstGeom>
          <a:noFill/>
          <a:ln w="28575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B605E3-4CDB-13AC-75BB-5942B8F28368}"/>
              </a:ext>
            </a:extLst>
          </p:cNvPr>
          <p:cNvSpPr/>
          <p:nvPr/>
        </p:nvSpPr>
        <p:spPr>
          <a:xfrm>
            <a:off x="4416275" y="796800"/>
            <a:ext cx="3401820" cy="1387576"/>
          </a:xfrm>
          <a:prstGeom prst="rect">
            <a:avLst/>
          </a:prstGeom>
          <a:noFill/>
          <a:ln w="28575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Google Shape;2200;p40">
            <a:extLst>
              <a:ext uri="{FF2B5EF4-FFF2-40B4-BE49-F238E27FC236}">
                <a16:creationId xmlns:a16="http://schemas.microsoft.com/office/drawing/2014/main" id="{94EC6E96-5B6B-A787-9EBB-AF847E83360B}"/>
              </a:ext>
            </a:extLst>
          </p:cNvPr>
          <p:cNvSpPr txBox="1">
            <a:spLocks/>
          </p:cNvSpPr>
          <p:nvPr/>
        </p:nvSpPr>
        <p:spPr>
          <a:xfrm>
            <a:off x="195940" y="2182206"/>
            <a:ext cx="3807704" cy="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0" tIns="68570" rIns="68570" bIns="6857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500" b="1" dirty="0">
                <a:solidFill>
                  <a:srgbClr val="C00000"/>
                </a:solidFill>
              </a:rPr>
              <a:t>2D spatial/geometric reasoning with sketch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65F7B9-55A8-8FA9-D483-D63CA34809A9}"/>
              </a:ext>
            </a:extLst>
          </p:cNvPr>
          <p:cNvSpPr/>
          <p:nvPr/>
        </p:nvSpPr>
        <p:spPr>
          <a:xfrm>
            <a:off x="393283" y="2494280"/>
            <a:ext cx="7229014" cy="1450713"/>
          </a:xfrm>
          <a:prstGeom prst="rect">
            <a:avLst/>
          </a:prstGeom>
          <a:noFill/>
          <a:ln w="28575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Google Shape;2200;p40">
            <a:extLst>
              <a:ext uri="{FF2B5EF4-FFF2-40B4-BE49-F238E27FC236}">
                <a16:creationId xmlns:a16="http://schemas.microsoft.com/office/drawing/2014/main" id="{F3410E9A-A6E6-9C22-2C7B-305B22213811}"/>
              </a:ext>
            </a:extLst>
          </p:cNvPr>
          <p:cNvSpPr txBox="1">
            <a:spLocks/>
          </p:cNvSpPr>
          <p:nvPr/>
        </p:nvSpPr>
        <p:spPr>
          <a:xfrm>
            <a:off x="69299" y="3933231"/>
            <a:ext cx="2911674" cy="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0" tIns="68570" rIns="68570" bIns="6857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500" b="1" dirty="0">
                <a:solidFill>
                  <a:srgbClr val="C00000"/>
                </a:solidFill>
              </a:rPr>
              <a:t>3D spatial reasoning with toy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490DE3-CB9C-25EE-01F8-F0CE2E0B354A}"/>
              </a:ext>
            </a:extLst>
          </p:cNvPr>
          <p:cNvSpPr/>
          <p:nvPr/>
        </p:nvSpPr>
        <p:spPr>
          <a:xfrm>
            <a:off x="236412" y="4280841"/>
            <a:ext cx="7229014" cy="1516975"/>
          </a:xfrm>
          <a:prstGeom prst="rect">
            <a:avLst/>
          </a:prstGeom>
          <a:noFill/>
          <a:ln w="28575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D6337F-BF90-DD9D-1956-3652F35036E2}"/>
              </a:ext>
            </a:extLst>
          </p:cNvPr>
          <p:cNvSpPr/>
          <p:nvPr/>
        </p:nvSpPr>
        <p:spPr>
          <a:xfrm>
            <a:off x="5407473" y="5899766"/>
            <a:ext cx="536609" cy="9060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359539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C2BE0-2BB5-1564-FA65-2AD44BA3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F2A61900-025C-C68E-1D58-6E6E686DE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F811CD86-F5D7-FEA5-0F85-59D7B527815F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reasoning for spatial reasoning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0145EE-6E4E-E1AD-C05D-09E2B5717804}"/>
              </a:ext>
            </a:extLst>
          </p:cNvPr>
          <p:cNvSpPr txBox="1"/>
          <p:nvPr/>
        </p:nvSpPr>
        <p:spPr>
          <a:xfrm>
            <a:off x="304167" y="898086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Three potential pathways</a:t>
            </a:r>
          </a:p>
        </p:txBody>
      </p:sp>
      <p:sp>
        <p:nvSpPr>
          <p:cNvPr id="41" name="Google Shape;2200;p40">
            <a:extLst>
              <a:ext uri="{FF2B5EF4-FFF2-40B4-BE49-F238E27FC236}">
                <a16:creationId xmlns:a16="http://schemas.microsoft.com/office/drawing/2014/main" id="{14459E91-3FC6-D268-46DF-E40BF4B70B9D}"/>
              </a:ext>
            </a:extLst>
          </p:cNvPr>
          <p:cNvSpPr txBox="1">
            <a:spLocks/>
          </p:cNvSpPr>
          <p:nvPr/>
        </p:nvSpPr>
        <p:spPr>
          <a:xfrm>
            <a:off x="477993" y="1454047"/>
            <a:ext cx="9673004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l"/>
            <a:r>
              <a:rPr lang="en-US" sz="2000" b="1" dirty="0">
                <a:solidFill>
                  <a:srgbClr val="C00000"/>
                </a:solidFill>
              </a:rPr>
              <a:t>2 guide the reasoning with ground truth reasoning traces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0C4845-FAB9-7203-8CA4-0C4E42549201}"/>
              </a:ext>
            </a:extLst>
          </p:cNvPr>
          <p:cNvSpPr txBox="1"/>
          <p:nvPr/>
        </p:nvSpPr>
        <p:spPr>
          <a:xfrm>
            <a:off x="751840" y="2293035"/>
            <a:ext cx="84286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[24] Sketch-in-</a:t>
            </a:r>
            <a:r>
              <a:rPr lang="en-US" sz="1600" b="1" dirty="0" err="1"/>
              <a:t>Latents</a:t>
            </a:r>
            <a:r>
              <a:rPr lang="en-US" sz="1600" b="1" dirty="0"/>
              <a:t>: Eliciting Unified Reasoning in MLLMs</a:t>
            </a:r>
          </a:p>
          <a:p>
            <a:r>
              <a:rPr lang="en-US" sz="1600" b="1" dirty="0"/>
              <a:t>[25] Vision-aligned Latent Reasoning for Multi-modal Large Language Model</a:t>
            </a:r>
          </a:p>
          <a:p>
            <a:r>
              <a:rPr lang="en-US" sz="1600" b="1" dirty="0"/>
              <a:t>[26] Interleaved Latent Visual Reasoning with Selective Perceptual Modeling</a:t>
            </a:r>
          </a:p>
          <a:p>
            <a:r>
              <a:rPr lang="en-US" sz="1600" b="1" dirty="0"/>
              <a:t>[27] </a:t>
            </a:r>
            <a:r>
              <a:rPr lang="en-US" sz="1600" b="1" dirty="0" err="1"/>
              <a:t>VisMem</a:t>
            </a:r>
            <a:r>
              <a:rPr lang="en-US" sz="1600" b="1" dirty="0"/>
              <a:t>: Latent Vision Memory Unlocks Potential of Vision-Language Models</a:t>
            </a:r>
          </a:p>
          <a:p>
            <a:r>
              <a:rPr lang="en-US" sz="1600" b="1" dirty="0"/>
              <a:t>[28] Multimodal Reasoning via Latent Refocusing</a:t>
            </a:r>
          </a:p>
        </p:txBody>
      </p:sp>
    </p:spTree>
    <p:extLst>
      <p:ext uri="{BB962C8B-B14F-4D97-AF65-F5344CB8AC3E}">
        <p14:creationId xmlns:p14="http://schemas.microsoft.com/office/powerpoint/2010/main" val="3129000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2CD47-8E67-3C57-BFB3-BBC30556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371050-F94E-7AB6-9372-BFA237788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547" y="4028135"/>
            <a:ext cx="4163306" cy="1791432"/>
          </a:xfrm>
          <a:prstGeom prst="rect">
            <a:avLst/>
          </a:prstGeom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581E2B53-08EB-0FF1-C93F-478FF0322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626A2BB3-68B7-D276-09E4-434A425EC755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reasoning for spatial reasoning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B32466-21C0-4996-1D96-03D55868E4A9}"/>
              </a:ext>
            </a:extLst>
          </p:cNvPr>
          <p:cNvSpPr txBox="1"/>
          <p:nvPr/>
        </p:nvSpPr>
        <p:spPr>
          <a:xfrm>
            <a:off x="304167" y="898086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Three potential pathways</a:t>
            </a:r>
          </a:p>
        </p:txBody>
      </p:sp>
      <p:sp>
        <p:nvSpPr>
          <p:cNvPr id="41" name="Google Shape;2200;p40">
            <a:extLst>
              <a:ext uri="{FF2B5EF4-FFF2-40B4-BE49-F238E27FC236}">
                <a16:creationId xmlns:a16="http://schemas.microsoft.com/office/drawing/2014/main" id="{D12748A4-8C8E-0EA8-2E6E-DBDB2D51E3FC}"/>
              </a:ext>
            </a:extLst>
          </p:cNvPr>
          <p:cNvSpPr txBox="1">
            <a:spLocks/>
          </p:cNvSpPr>
          <p:nvPr/>
        </p:nvSpPr>
        <p:spPr>
          <a:xfrm>
            <a:off x="477993" y="1454047"/>
            <a:ext cx="9673004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l"/>
            <a:r>
              <a:rPr lang="en-US" sz="2000" b="1" dirty="0">
                <a:solidFill>
                  <a:srgbClr val="C00000"/>
                </a:solidFill>
              </a:rPr>
              <a:t>3 world model guided latent reasoning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5B6F94-F6E5-E55C-ABE3-607FFBCE0944}"/>
              </a:ext>
            </a:extLst>
          </p:cNvPr>
          <p:cNvSpPr txBox="1"/>
          <p:nvPr/>
        </p:nvSpPr>
        <p:spPr>
          <a:xfrm>
            <a:off x="833377" y="2114275"/>
            <a:ext cx="10250737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solidFill>
                  <a:srgbClr val="C00000"/>
                </a:solidFill>
                <a:latin typeface="Inter"/>
              </a:rPr>
              <a:t>Advantage</a:t>
            </a:r>
            <a:r>
              <a:rPr lang="en-US" sz="1600" b="1" dirty="0">
                <a:latin typeface="Inter"/>
              </a:rPr>
              <a:t>: easy to get reasoning trace ground truth (predicted world state based on action)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C51AD-B816-BAC9-F7DD-4C01BD801ED3}"/>
              </a:ext>
            </a:extLst>
          </p:cNvPr>
          <p:cNvSpPr txBox="1"/>
          <p:nvPr/>
        </p:nvSpPr>
        <p:spPr>
          <a:xfrm>
            <a:off x="833377" y="4577696"/>
            <a:ext cx="10250737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solidFill>
                  <a:srgbClr val="C00000"/>
                </a:solidFill>
                <a:latin typeface="Inter"/>
              </a:rPr>
              <a:t>Limitation</a:t>
            </a:r>
            <a:r>
              <a:rPr lang="en-US" sz="1600" b="1" dirty="0">
                <a:latin typeface="Inter"/>
              </a:rPr>
              <a:t>: not applicable to all tasks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8BB82-23EA-3FA7-053E-9B9A4C9862EA}"/>
              </a:ext>
            </a:extLst>
          </p:cNvPr>
          <p:cNvSpPr txBox="1"/>
          <p:nvPr/>
        </p:nvSpPr>
        <p:spPr>
          <a:xfrm>
            <a:off x="2792179" y="6357724"/>
            <a:ext cx="10250737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latin typeface="Inter"/>
              </a:rPr>
              <a:t>What’s the spatial relation between object A and B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B79B8-4E78-F3B8-9121-68E8990EE0EA}"/>
              </a:ext>
            </a:extLst>
          </p:cNvPr>
          <p:cNvSpPr txBox="1"/>
          <p:nvPr/>
        </p:nvSpPr>
        <p:spPr>
          <a:xfrm>
            <a:off x="2495296" y="4981070"/>
            <a:ext cx="10250737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latin typeface="Inter"/>
              </a:rPr>
              <a:t>Where is object A relative to me if turn right 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A8F85F7D-F9E1-DE60-858E-534A6295B380}"/>
              </a:ext>
            </a:extLst>
          </p:cNvPr>
          <p:cNvSpPr/>
          <p:nvPr/>
        </p:nvSpPr>
        <p:spPr>
          <a:xfrm rot="16200000">
            <a:off x="5754835" y="4971484"/>
            <a:ext cx="300339" cy="746568"/>
          </a:xfrm>
          <a:prstGeom prst="leftBrace">
            <a:avLst>
              <a:gd name="adj1" fmla="val 30475"/>
              <a:gd name="adj2" fmla="val 50000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650B935-DC3A-BFE3-5C7A-E60EAF2D036C}"/>
              </a:ext>
            </a:extLst>
          </p:cNvPr>
          <p:cNvSpPr/>
          <p:nvPr/>
        </p:nvSpPr>
        <p:spPr>
          <a:xfrm rot="16200000">
            <a:off x="3650725" y="4513195"/>
            <a:ext cx="300339" cy="1663144"/>
          </a:xfrm>
          <a:prstGeom prst="leftBrace">
            <a:avLst>
              <a:gd name="adj1" fmla="val 30475"/>
              <a:gd name="adj2" fmla="val 50000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EB076-AA07-9B09-CDEE-F426318152E4}"/>
              </a:ext>
            </a:extLst>
          </p:cNvPr>
          <p:cNvSpPr txBox="1"/>
          <p:nvPr/>
        </p:nvSpPr>
        <p:spPr>
          <a:xfrm>
            <a:off x="5364276" y="5494937"/>
            <a:ext cx="1081456" cy="505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solidFill>
                  <a:schemeClr val="accent1"/>
                </a:solidFill>
                <a:latin typeface="Inter"/>
              </a:rPr>
              <a:t>Condition (action)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41C34B-D4D7-1AF6-740D-AE865D8F68A9}"/>
              </a:ext>
            </a:extLst>
          </p:cNvPr>
          <p:cNvSpPr txBox="1"/>
          <p:nvPr/>
        </p:nvSpPr>
        <p:spPr>
          <a:xfrm>
            <a:off x="2985884" y="5405245"/>
            <a:ext cx="1814027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solidFill>
                  <a:schemeClr val="accent1"/>
                </a:solidFill>
                <a:latin typeface="Inter"/>
              </a:rPr>
              <a:t>Future world state (e.g. image after turning)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26BA1F-A96F-08CF-A705-104D8DF0195B}"/>
              </a:ext>
            </a:extLst>
          </p:cNvPr>
          <p:cNvSpPr txBox="1"/>
          <p:nvPr/>
        </p:nvSpPr>
        <p:spPr>
          <a:xfrm>
            <a:off x="1433800" y="4981070"/>
            <a:ext cx="1140105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solidFill>
                  <a:schemeClr val="accent1"/>
                </a:solidFill>
                <a:latin typeface="Inter"/>
              </a:rPr>
              <a:t>Applicable: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F7472E-53F4-8906-F484-4880F358B08D}"/>
              </a:ext>
            </a:extLst>
          </p:cNvPr>
          <p:cNvSpPr txBox="1"/>
          <p:nvPr/>
        </p:nvSpPr>
        <p:spPr>
          <a:xfrm>
            <a:off x="1355191" y="6329480"/>
            <a:ext cx="1614131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solidFill>
                  <a:schemeClr val="accent1"/>
                </a:solidFill>
                <a:latin typeface="Inter"/>
              </a:rPr>
              <a:t>Not applicable: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2C931D-C2D6-0E6C-4DE1-B8CB642A4525}"/>
              </a:ext>
            </a:extLst>
          </p:cNvPr>
          <p:cNvSpPr txBox="1"/>
          <p:nvPr/>
        </p:nvSpPr>
        <p:spPr>
          <a:xfrm>
            <a:off x="4799911" y="6599496"/>
            <a:ext cx="2392290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solidFill>
                  <a:schemeClr val="accent1"/>
                </a:solidFill>
                <a:latin typeface="Inter"/>
              </a:rPr>
              <a:t>What’s the action?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39480D-9462-5B4E-4FD1-6737595B42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17"/>
          <a:stretch>
            <a:fillRect/>
          </a:stretch>
        </p:blipFill>
        <p:spPr>
          <a:xfrm>
            <a:off x="820029" y="2880340"/>
            <a:ext cx="7150100" cy="10048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0015B3-F73F-22DB-0017-9D608AA0C945}"/>
              </a:ext>
            </a:extLst>
          </p:cNvPr>
          <p:cNvSpPr txBox="1"/>
          <p:nvPr/>
        </p:nvSpPr>
        <p:spPr>
          <a:xfrm>
            <a:off x="4530279" y="2572563"/>
            <a:ext cx="1231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Latent Token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034A68E-4D4A-4829-5DAC-C1BDF2DD6A9E}"/>
              </a:ext>
            </a:extLst>
          </p:cNvPr>
          <p:cNvSpPr/>
          <p:nvPr/>
        </p:nvSpPr>
        <p:spPr>
          <a:xfrm>
            <a:off x="2482196" y="2880340"/>
            <a:ext cx="1408386" cy="38888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9364A9-1237-FB52-7FB8-EB1B50646A8A}"/>
              </a:ext>
            </a:extLst>
          </p:cNvPr>
          <p:cNvSpPr txBox="1"/>
          <p:nvPr/>
        </p:nvSpPr>
        <p:spPr>
          <a:xfrm>
            <a:off x="2482196" y="2905504"/>
            <a:ext cx="1487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World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6FEAE0-27A9-8345-57AC-630EA8C60335}"/>
              </a:ext>
            </a:extLst>
          </p:cNvPr>
          <p:cNvSpPr txBox="1"/>
          <p:nvPr/>
        </p:nvSpPr>
        <p:spPr>
          <a:xfrm>
            <a:off x="9441461" y="5830970"/>
            <a:ext cx="1419072" cy="30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</a:pPr>
            <a:r>
              <a:rPr lang="en-US" sz="1600" b="1" dirty="0">
                <a:solidFill>
                  <a:srgbClr val="C00000"/>
                </a:solidFill>
                <a:latin typeface="Inter"/>
              </a:rPr>
              <a:t>Existing work</a:t>
            </a:r>
            <a:endParaRPr lang="en-US" sz="1600" b="1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32756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CDEB-1417-C84B-371C-06C8A19FB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A591E1BB-77F7-E5A4-2277-CF0CDE1BB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5E2D7145-5EB1-FB8C-B680-69EAC9415194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reasoning for spatial reasoning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63E367-658D-368A-B3E6-F8B759241205}"/>
              </a:ext>
            </a:extLst>
          </p:cNvPr>
          <p:cNvSpPr txBox="1"/>
          <p:nvPr/>
        </p:nvSpPr>
        <p:spPr>
          <a:xfrm>
            <a:off x="304167" y="898086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Three potential pathways</a:t>
            </a:r>
          </a:p>
        </p:txBody>
      </p:sp>
      <p:sp>
        <p:nvSpPr>
          <p:cNvPr id="41" name="Google Shape;2200;p40">
            <a:extLst>
              <a:ext uri="{FF2B5EF4-FFF2-40B4-BE49-F238E27FC236}">
                <a16:creationId xmlns:a16="http://schemas.microsoft.com/office/drawing/2014/main" id="{CFB629EB-27E1-9866-8E73-8BBBB921EB2E}"/>
              </a:ext>
            </a:extLst>
          </p:cNvPr>
          <p:cNvSpPr txBox="1">
            <a:spLocks/>
          </p:cNvSpPr>
          <p:nvPr/>
        </p:nvSpPr>
        <p:spPr>
          <a:xfrm>
            <a:off x="477993" y="1454047"/>
            <a:ext cx="9673004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l"/>
            <a:r>
              <a:rPr lang="en-US" sz="2000" b="1" dirty="0">
                <a:solidFill>
                  <a:srgbClr val="C00000"/>
                </a:solidFill>
              </a:rPr>
              <a:t>3 world model guided latent reasoning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130EE2-F081-01EA-8BE4-224CF23D52A7}"/>
              </a:ext>
            </a:extLst>
          </p:cNvPr>
          <p:cNvSpPr txBox="1"/>
          <p:nvPr/>
        </p:nvSpPr>
        <p:spPr>
          <a:xfrm>
            <a:off x="624840" y="2429871"/>
            <a:ext cx="10942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[29] Latent Chain-of-Thought World Modeling for End-to-End Autonomous Driving</a:t>
            </a:r>
          </a:p>
          <a:p>
            <a:r>
              <a:rPr lang="en-US" sz="1600" b="1" dirty="0"/>
              <a:t>[30] </a:t>
            </a:r>
            <a:r>
              <a:rPr lang="en-US" sz="1600" b="1" dirty="0" err="1"/>
              <a:t>LaST</a:t>
            </a:r>
            <a:r>
              <a:rPr lang="en-US" sz="1600" b="1" dirty="0"/>
              <a:t>-VLA: Thinking in Latent </a:t>
            </a:r>
            <a:r>
              <a:rPr lang="en-US" sz="1600" b="1" dirty="0" err="1"/>
              <a:t>Spatio</a:t>
            </a:r>
            <a:r>
              <a:rPr lang="en-US" sz="1600" b="1" dirty="0"/>
              <a:t>-Temporal Space for Vision-Language-Action in Autonomous Driving</a:t>
            </a:r>
          </a:p>
          <a:p>
            <a:r>
              <a:rPr lang="en-US" sz="1600" b="1" dirty="0"/>
              <a:t>[31]CAN WORLD MODELS BENEFIT VLMS FOR WORLD DYNAMICS?</a:t>
            </a:r>
          </a:p>
          <a:p>
            <a:r>
              <a:rPr lang="en-US" sz="1600" b="1" dirty="0"/>
              <a:t>[32]JEPA-VLA: Video Predictive Embedding is Needed for VLA Models</a:t>
            </a:r>
          </a:p>
          <a:p>
            <a:r>
              <a:rPr lang="en-US" sz="1600" b="1" dirty="0"/>
              <a:t>[33]Policy-Guided World Model Planning for Language-Conditioned Visual Navigation</a:t>
            </a:r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268554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4F2F65-7492-A799-383E-A32FA2486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37D3EF2F-B21D-A7CE-B2A6-6004A2A16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E0B15765-35D3-C8F9-5CE9-6236E10B8892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reasoning for spatial reasoning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09E3A6-398F-3483-D2F4-5742776ECC5B}"/>
              </a:ext>
            </a:extLst>
          </p:cNvPr>
          <p:cNvSpPr txBox="1"/>
          <p:nvPr/>
        </p:nvSpPr>
        <p:spPr>
          <a:xfrm>
            <a:off x="60120" y="798464"/>
            <a:ext cx="111014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Imagination Helps Visual Reasoning, But Not Yet in Latent Space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41" name="Google Shape;2200;p40">
            <a:extLst>
              <a:ext uri="{FF2B5EF4-FFF2-40B4-BE49-F238E27FC236}">
                <a16:creationId xmlns:a16="http://schemas.microsoft.com/office/drawing/2014/main" id="{42C3E3F3-5803-D9DD-C88D-092D197D03C6}"/>
              </a:ext>
            </a:extLst>
          </p:cNvPr>
          <p:cNvSpPr txBox="1">
            <a:spLocks/>
          </p:cNvSpPr>
          <p:nvPr/>
        </p:nvSpPr>
        <p:spPr>
          <a:xfrm>
            <a:off x="-190005" y="1247259"/>
            <a:ext cx="738645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</a:rPr>
              <a:t>Current latent reasoning method doesn’t involve in reasoning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482882-B2C6-2536-CEE7-94F7FDC981F4}"/>
              </a:ext>
            </a:extLst>
          </p:cNvPr>
          <p:cNvSpPr txBox="1"/>
          <p:nvPr/>
        </p:nvSpPr>
        <p:spPr>
          <a:xfrm>
            <a:off x="510639" y="1681721"/>
            <a:ext cx="105571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Input-Latent Disconnect:</a:t>
            </a:r>
            <a:r>
              <a:rPr lang="en-US" dirty="0"/>
              <a:t> Dramatic perturbations to the input resulted in negligible changes to the latent tokens. </a:t>
            </a:r>
          </a:p>
          <a:p>
            <a:r>
              <a:rPr lang="en-US" b="1" dirty="0"/>
              <a:t>Latent-Answer Disconnect:</a:t>
            </a:r>
            <a:r>
              <a:rPr lang="en-US" dirty="0"/>
              <a:t> Applying interventions directly to the latent tokens, it had minimal impact on the model's final answer. </a:t>
            </a:r>
          </a:p>
          <a:p>
            <a:r>
              <a:rPr lang="en-US" b="1" dirty="0"/>
              <a:t>Limited Visual Encoding:</a:t>
            </a:r>
            <a:r>
              <a:rPr lang="en-US" dirty="0"/>
              <a:t> Extensive probing revealed that these latent tokens encode only minimal visual information relevant to the task and exhibit a high degree of similarity across different inputs (the latent tokens quickly collapse into highly similar states and fail to encode rich visual semantics)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D0F3C7-7695-E2FE-3EA3-EF8BC89AE864}"/>
              </a:ext>
            </a:extLst>
          </p:cNvPr>
          <p:cNvSpPr txBox="1"/>
          <p:nvPr/>
        </p:nvSpPr>
        <p:spPr>
          <a:xfrm>
            <a:off x="510638" y="4267043"/>
            <a:ext cx="105571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1 reproduce Monet under strictly controlled settings to isolate the effect of the latent tokens from the effect of the training data. </a:t>
            </a:r>
          </a:p>
          <a:p>
            <a:r>
              <a:rPr lang="en-US" dirty="0"/>
              <a:t>2 when using the exact same data source, their reproduced version of Monet showed </a:t>
            </a:r>
            <a:r>
              <a:rPr lang="en-US" b="1" dirty="0"/>
              <a:t>only marginal gains</a:t>
            </a:r>
            <a:r>
              <a:rPr lang="en-US" dirty="0"/>
              <a:t> over the base model on real-world benchmarks </a:t>
            </a:r>
          </a:p>
        </p:txBody>
      </p:sp>
      <p:sp>
        <p:nvSpPr>
          <p:cNvPr id="7" name="Google Shape;2200;p40">
            <a:extLst>
              <a:ext uri="{FF2B5EF4-FFF2-40B4-BE49-F238E27FC236}">
                <a16:creationId xmlns:a16="http://schemas.microsoft.com/office/drawing/2014/main" id="{6984B1E2-DABF-D7BD-F514-463B11751E9C}"/>
              </a:ext>
            </a:extLst>
          </p:cNvPr>
          <p:cNvSpPr txBox="1">
            <a:spLocks/>
          </p:cNvSpPr>
          <p:nvPr/>
        </p:nvSpPr>
        <p:spPr>
          <a:xfrm>
            <a:off x="213756" y="4004084"/>
            <a:ext cx="738645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l"/>
            <a:r>
              <a:rPr lang="en-US" sz="2000" b="1" dirty="0">
                <a:solidFill>
                  <a:srgbClr val="C00000"/>
                </a:solidFill>
              </a:rPr>
              <a:t>Improvement mainly comes from high quality data</a:t>
            </a:r>
          </a:p>
        </p:txBody>
      </p:sp>
    </p:spTree>
    <p:extLst>
      <p:ext uri="{BB962C8B-B14F-4D97-AF65-F5344CB8AC3E}">
        <p14:creationId xmlns:p14="http://schemas.microsoft.com/office/powerpoint/2010/main" val="2339968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0BDDAD-9729-C34D-88FC-697083A7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Update Icon SVG Vector &amp; PNG Free Download | UXWing">
            <a:extLst>
              <a:ext uri="{FF2B5EF4-FFF2-40B4-BE49-F238E27FC236}">
                <a16:creationId xmlns:a16="http://schemas.microsoft.com/office/drawing/2014/main" id="{1CE7341A-3A8F-00C8-A036-4EA227E4C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246" y="6535954"/>
            <a:ext cx="300117" cy="30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ABD7066A-F4CF-4BF4-1922-B5A20A994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2CB018FB-EBE0-0784-49B7-B16BFE2DCB2F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 reasoning for spatial reasoning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F3C634-CA93-9444-DA60-EAD417B63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30" y="1604732"/>
            <a:ext cx="4535760" cy="16444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37889C-CA37-289A-6250-DEAB65339FB3}"/>
              </a:ext>
            </a:extLst>
          </p:cNvPr>
          <p:cNvSpPr txBox="1"/>
          <p:nvPr/>
        </p:nvSpPr>
        <p:spPr>
          <a:xfrm>
            <a:off x="60120" y="798464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Existing work: Only highlights task-relevant 2D information, without enabling 3D reasoning.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04A1F7-3E1D-4A49-BCA4-5647D29B84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360"/>
          <a:stretch>
            <a:fillRect/>
          </a:stretch>
        </p:blipFill>
        <p:spPr>
          <a:xfrm>
            <a:off x="6165447" y="1615595"/>
            <a:ext cx="1111272" cy="114343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7B8493D-58BA-6AD8-EDD3-7DDB0A9FAF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360"/>
          <a:stretch>
            <a:fillRect/>
          </a:stretch>
        </p:blipFill>
        <p:spPr>
          <a:xfrm>
            <a:off x="8370335" y="1633186"/>
            <a:ext cx="1111272" cy="1143435"/>
          </a:xfrm>
          <a:prstGeom prst="rect">
            <a:avLst/>
          </a:prstGeom>
        </p:spPr>
      </p:pic>
      <p:sp>
        <p:nvSpPr>
          <p:cNvPr id="41" name="Google Shape;2200;p40">
            <a:extLst>
              <a:ext uri="{FF2B5EF4-FFF2-40B4-BE49-F238E27FC236}">
                <a16:creationId xmlns:a16="http://schemas.microsoft.com/office/drawing/2014/main" id="{3EF2BA9B-73F3-C8AD-9E7A-7335C1EF84F1}"/>
              </a:ext>
            </a:extLst>
          </p:cNvPr>
          <p:cNvSpPr txBox="1">
            <a:spLocks/>
          </p:cNvSpPr>
          <p:nvPr/>
        </p:nvSpPr>
        <p:spPr>
          <a:xfrm>
            <a:off x="-248980" y="1155802"/>
            <a:ext cx="388223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</a:rPr>
              <a:t>Highlight task-related region</a:t>
            </a:r>
          </a:p>
        </p:txBody>
      </p:sp>
      <p:sp>
        <p:nvSpPr>
          <p:cNvPr id="42" name="Google Shape;2200;p40">
            <a:extLst>
              <a:ext uri="{FF2B5EF4-FFF2-40B4-BE49-F238E27FC236}">
                <a16:creationId xmlns:a16="http://schemas.microsoft.com/office/drawing/2014/main" id="{2EFE3117-50F7-7BC7-B608-444B63B026BB}"/>
              </a:ext>
            </a:extLst>
          </p:cNvPr>
          <p:cNvSpPr txBox="1">
            <a:spLocks/>
          </p:cNvSpPr>
          <p:nvPr/>
        </p:nvSpPr>
        <p:spPr>
          <a:xfrm>
            <a:off x="4901022" y="1184640"/>
            <a:ext cx="388223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</a:rPr>
              <a:t>Caption the input image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7B7260-B9C8-E645-13D5-1071CB2984B1}"/>
              </a:ext>
            </a:extLst>
          </p:cNvPr>
          <p:cNvSpPr txBox="1"/>
          <p:nvPr/>
        </p:nvSpPr>
        <p:spPr>
          <a:xfrm>
            <a:off x="5877501" y="2739902"/>
            <a:ext cx="18020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chemeClr val="accent1"/>
                </a:solidFill>
              </a:rPr>
              <a:t>In the first image, the teddy bear is rotated sideways …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CAD0F8-0707-60A7-63D7-2D3D22645D26}"/>
              </a:ext>
            </a:extLst>
          </p:cNvPr>
          <p:cNvSpPr txBox="1"/>
          <p:nvPr/>
        </p:nvSpPr>
        <p:spPr>
          <a:xfrm>
            <a:off x="7967500" y="2711561"/>
            <a:ext cx="23933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chemeClr val="accent1"/>
                </a:solidFill>
              </a:rPr>
              <a:t>In the second image, the teddy bear’s face is oriented toward the camera</a:t>
            </a:r>
          </a:p>
        </p:txBody>
      </p:sp>
      <p:pic>
        <p:nvPicPr>
          <p:cNvPr id="47" name="Picture 46" descr="A screenshot of a computer&#10;&#10;Description automatically generated">
            <a:extLst>
              <a:ext uri="{FF2B5EF4-FFF2-40B4-BE49-F238E27FC236}">
                <a16:creationId xmlns:a16="http://schemas.microsoft.com/office/drawing/2014/main" id="{1F2C5580-5045-1853-BCD6-390DF4FF3B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630" t="36743" r="2395" b="36320"/>
          <a:stretch>
            <a:fillRect/>
          </a:stretch>
        </p:blipFill>
        <p:spPr>
          <a:xfrm>
            <a:off x="2457808" y="4141906"/>
            <a:ext cx="5728344" cy="1331089"/>
          </a:xfrm>
          <a:prstGeom prst="rect">
            <a:avLst/>
          </a:prstGeom>
        </p:spPr>
      </p:pic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8990F575-6CD2-DD4B-1BF5-F9F31CA0F1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602" t="70027" r="33201" b="3036"/>
          <a:stretch>
            <a:fillRect/>
          </a:stretch>
        </p:blipFill>
        <p:spPr>
          <a:xfrm>
            <a:off x="8313474" y="4141906"/>
            <a:ext cx="3345083" cy="1331089"/>
          </a:xfrm>
          <a:prstGeom prst="rect">
            <a:avLst/>
          </a:prstGeom>
        </p:spPr>
      </p:pic>
      <p:pic>
        <p:nvPicPr>
          <p:cNvPr id="49" name="Picture 2" descr="robot icon Prompts | Stable Diffusion Online">
            <a:extLst>
              <a:ext uri="{FF2B5EF4-FFF2-40B4-BE49-F238E27FC236}">
                <a16:creationId xmlns:a16="http://schemas.microsoft.com/office/drawing/2014/main" id="{A4B43EE4-3704-2E9A-A310-BF15A222D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97" y="4221344"/>
            <a:ext cx="1077218" cy="107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Toolbox - Free construction and tools icons">
            <a:extLst>
              <a:ext uri="{FF2B5EF4-FFF2-40B4-BE49-F238E27FC236}">
                <a16:creationId xmlns:a16="http://schemas.microsoft.com/office/drawing/2014/main" id="{64EE479A-FFF9-2D4A-842D-A3C18BFB6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012" y="4342347"/>
            <a:ext cx="835212" cy="83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Down Arrow 50">
            <a:extLst>
              <a:ext uri="{FF2B5EF4-FFF2-40B4-BE49-F238E27FC236}">
                <a16:creationId xmlns:a16="http://schemas.microsoft.com/office/drawing/2014/main" id="{6833493E-A3DF-230A-4726-0744DD6C9D34}"/>
              </a:ext>
            </a:extLst>
          </p:cNvPr>
          <p:cNvSpPr/>
          <p:nvPr/>
        </p:nvSpPr>
        <p:spPr>
          <a:xfrm rot="16200000">
            <a:off x="2040158" y="4676378"/>
            <a:ext cx="482143" cy="351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0C015BA8-E83C-B25B-D1A2-4BEA9AB4E2F3}"/>
              </a:ext>
            </a:extLst>
          </p:cNvPr>
          <p:cNvSpPr/>
          <p:nvPr/>
        </p:nvSpPr>
        <p:spPr>
          <a:xfrm rot="16200000">
            <a:off x="6971127" y="884898"/>
            <a:ext cx="286028" cy="9314390"/>
          </a:xfrm>
          <a:prstGeom prst="leftBrace">
            <a:avLst>
              <a:gd name="adj1" fmla="val 50168"/>
              <a:gd name="adj2" fmla="val 50000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Google Shape;2200;p40">
            <a:extLst>
              <a:ext uri="{FF2B5EF4-FFF2-40B4-BE49-F238E27FC236}">
                <a16:creationId xmlns:a16="http://schemas.microsoft.com/office/drawing/2014/main" id="{CC72A2CF-A6CB-4090-3FCD-E16B64042286}"/>
              </a:ext>
            </a:extLst>
          </p:cNvPr>
          <p:cNvSpPr txBox="1">
            <a:spLocks/>
          </p:cNvSpPr>
          <p:nvPr/>
        </p:nvSpPr>
        <p:spPr>
          <a:xfrm>
            <a:off x="5683078" y="5571684"/>
            <a:ext cx="5374513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rgbClr val="C00000"/>
                </a:solidFill>
              </a:rPr>
              <a:t>Ground truth reasoning path </a:t>
            </a:r>
            <a:r>
              <a:rPr lang="en-US" sz="1800" dirty="0">
                <a:solidFill>
                  <a:schemeClr val="tx1"/>
                </a:solidFill>
              </a:rPr>
              <a:t>(if the answer is correct)</a:t>
            </a:r>
          </a:p>
        </p:txBody>
      </p:sp>
      <p:sp>
        <p:nvSpPr>
          <p:cNvPr id="54" name="Google Shape;2200;p40">
            <a:extLst>
              <a:ext uri="{FF2B5EF4-FFF2-40B4-BE49-F238E27FC236}">
                <a16:creationId xmlns:a16="http://schemas.microsoft.com/office/drawing/2014/main" id="{8C77880F-541E-CEAE-565A-84D34594E583}"/>
              </a:ext>
            </a:extLst>
          </p:cNvPr>
          <p:cNvSpPr txBox="1">
            <a:spLocks/>
          </p:cNvSpPr>
          <p:nvPr/>
        </p:nvSpPr>
        <p:spPr>
          <a:xfrm>
            <a:off x="0" y="5152119"/>
            <a:ext cx="2654787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Agent with 3d tools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3C743B-1D44-41E4-55D6-AD09DAFAC272}"/>
              </a:ext>
            </a:extLst>
          </p:cNvPr>
          <p:cNvSpPr txBox="1"/>
          <p:nvPr/>
        </p:nvSpPr>
        <p:spPr>
          <a:xfrm>
            <a:off x="60121" y="3648139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Our idea: Tool calling agents as a teacher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745A1E-2ACD-A904-AD29-D85481640B7B}"/>
              </a:ext>
            </a:extLst>
          </p:cNvPr>
          <p:cNvSpPr/>
          <p:nvPr/>
        </p:nvSpPr>
        <p:spPr>
          <a:xfrm>
            <a:off x="403630" y="1604732"/>
            <a:ext cx="4535760" cy="1850101"/>
          </a:xfrm>
          <a:prstGeom prst="rect">
            <a:avLst/>
          </a:prstGeom>
          <a:noFill/>
          <a:ln w="28575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EB1245E-98BD-E04D-E66B-107534DFB7CB}"/>
              </a:ext>
            </a:extLst>
          </p:cNvPr>
          <p:cNvSpPr/>
          <p:nvPr/>
        </p:nvSpPr>
        <p:spPr>
          <a:xfrm>
            <a:off x="5765562" y="1631358"/>
            <a:ext cx="4535760" cy="1850101"/>
          </a:xfrm>
          <a:prstGeom prst="rect">
            <a:avLst/>
          </a:prstGeom>
          <a:noFill/>
          <a:ln w="28575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A934718E-9D6A-5B2E-E743-437D4C6A6F12}"/>
              </a:ext>
            </a:extLst>
          </p:cNvPr>
          <p:cNvSpPr/>
          <p:nvPr/>
        </p:nvSpPr>
        <p:spPr>
          <a:xfrm>
            <a:off x="6897580" y="5973040"/>
            <a:ext cx="324091" cy="2661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Google Shape;2200;p40">
            <a:extLst>
              <a:ext uri="{FF2B5EF4-FFF2-40B4-BE49-F238E27FC236}">
                <a16:creationId xmlns:a16="http://schemas.microsoft.com/office/drawing/2014/main" id="{19C7C76E-9042-852A-C4C2-A0C2CBBBDE2C}"/>
              </a:ext>
            </a:extLst>
          </p:cNvPr>
          <p:cNvSpPr txBox="1">
            <a:spLocks/>
          </p:cNvSpPr>
          <p:nvPr/>
        </p:nvSpPr>
        <p:spPr>
          <a:xfrm>
            <a:off x="4942048" y="5821945"/>
            <a:ext cx="5374513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Encode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60" name="Picture 4" descr="Download Free Think Icons in PNG &amp; SVG">
            <a:extLst>
              <a:ext uri="{FF2B5EF4-FFF2-40B4-BE49-F238E27FC236}">
                <a16:creationId xmlns:a16="http://schemas.microsoft.com/office/drawing/2014/main" id="{2092B20C-0347-8856-2ABE-4182C234D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027" y="6154154"/>
            <a:ext cx="456090" cy="456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B974A246-92B6-DEF8-7E4D-851341686C52}"/>
              </a:ext>
            </a:extLst>
          </p:cNvPr>
          <p:cNvSpPr>
            <a:spLocks noChangeAspect="1"/>
          </p:cNvSpPr>
          <p:nvPr/>
        </p:nvSpPr>
        <p:spPr>
          <a:xfrm>
            <a:off x="6437191" y="6280553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5923FB38-7F88-39BF-C7D7-80DB35F5A042}"/>
              </a:ext>
            </a:extLst>
          </p:cNvPr>
          <p:cNvSpPr>
            <a:spLocks noChangeAspect="1"/>
          </p:cNvSpPr>
          <p:nvPr/>
        </p:nvSpPr>
        <p:spPr>
          <a:xfrm>
            <a:off x="6786643" y="6285676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29EBFD-909D-ECAA-1C35-BB243C6CB598}"/>
              </a:ext>
            </a:extLst>
          </p:cNvPr>
          <p:cNvSpPr txBox="1"/>
          <p:nvPr/>
        </p:nvSpPr>
        <p:spPr>
          <a:xfrm>
            <a:off x="5367508" y="6582970"/>
            <a:ext cx="1387128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&lt;think&gt;</a:t>
            </a:r>
            <a:endParaRPr lang="en-US" sz="1600" b="1" dirty="0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205D5AB7-D7CD-1D61-65FA-0E23E8D72199}"/>
              </a:ext>
            </a:extLst>
          </p:cNvPr>
          <p:cNvSpPr>
            <a:spLocks noChangeAspect="1"/>
          </p:cNvSpPr>
          <p:nvPr/>
        </p:nvSpPr>
        <p:spPr>
          <a:xfrm>
            <a:off x="7135233" y="6280566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B13FA8DD-2674-7063-00F1-46FA82948CF9}"/>
              </a:ext>
            </a:extLst>
          </p:cNvPr>
          <p:cNvSpPr>
            <a:spLocks noChangeAspect="1"/>
          </p:cNvSpPr>
          <p:nvPr/>
        </p:nvSpPr>
        <p:spPr>
          <a:xfrm>
            <a:off x="7484685" y="6285689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846FFB34-AE47-1C65-53B0-4E8E2A9FC2FD}"/>
              </a:ext>
            </a:extLst>
          </p:cNvPr>
          <p:cNvSpPr>
            <a:spLocks noChangeAspect="1"/>
          </p:cNvSpPr>
          <p:nvPr/>
        </p:nvSpPr>
        <p:spPr>
          <a:xfrm>
            <a:off x="7830340" y="6280553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70ED07-9E58-7B76-5064-659DEF3AEAD8}"/>
              </a:ext>
            </a:extLst>
          </p:cNvPr>
          <p:cNvSpPr txBox="1"/>
          <p:nvPr/>
        </p:nvSpPr>
        <p:spPr>
          <a:xfrm>
            <a:off x="6353918" y="6575485"/>
            <a:ext cx="2144725" cy="505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Latent reasoning path</a:t>
            </a:r>
          </a:p>
          <a:p>
            <a:pPr algn="ctr">
              <a:lnSpc>
                <a:spcPts val="1620"/>
              </a:lnSpc>
            </a:pPr>
            <a:endParaRPr lang="en-US" sz="1600" b="1" dirty="0">
              <a:latin typeface="Inter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60E81495-CBBC-A7E0-FF80-AF28D0F254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425" y="5890898"/>
            <a:ext cx="960372" cy="991186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69B8ED3C-AA2A-E167-1B2C-9F400BE805E6}"/>
              </a:ext>
            </a:extLst>
          </p:cNvPr>
          <p:cNvSpPr txBox="1"/>
          <p:nvPr/>
        </p:nvSpPr>
        <p:spPr>
          <a:xfrm>
            <a:off x="3053081" y="6153857"/>
            <a:ext cx="1490817" cy="91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Latent reasoning model</a:t>
            </a:r>
          </a:p>
          <a:p>
            <a:pPr algn="ctr">
              <a:lnSpc>
                <a:spcPts val="1620"/>
              </a:lnSpc>
            </a:pPr>
            <a:endParaRPr lang="en-US" sz="1600" b="1" dirty="0">
              <a:latin typeface="Inter"/>
            </a:endParaRPr>
          </a:p>
        </p:txBody>
      </p:sp>
      <p:pic>
        <p:nvPicPr>
          <p:cNvPr id="1026" name="Picture 2" descr="Fire - Free nature icons">
            <a:extLst>
              <a:ext uri="{FF2B5EF4-FFF2-40B4-BE49-F238E27FC236}">
                <a16:creationId xmlns:a16="http://schemas.microsoft.com/office/drawing/2014/main" id="{A7F8F804-8F83-2F38-1CE2-3BB887239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132" y="5973040"/>
            <a:ext cx="537395" cy="53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470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7465</TotalTime>
  <Words>1711</Words>
  <Application>Microsoft Macintosh PowerPoint</Application>
  <PresentationFormat>Widescreen</PresentationFormat>
  <Paragraphs>237</Paragraphs>
  <Slides>20</Slides>
  <Notes>19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Inter</vt:lpstr>
      <vt:lpstr>字魂105号-简雅黑</vt:lpstr>
      <vt:lpstr>Aptos</vt:lpstr>
      <vt:lpstr>Aptos Display</vt:lpstr>
      <vt:lpstr>Arial</vt:lpstr>
      <vt:lpstr>Calibri</vt:lpstr>
      <vt:lpstr>Helvetica Neue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淏明 王</dc:creator>
  <cp:lastModifiedBy>淏明 王</cp:lastModifiedBy>
  <cp:revision>44</cp:revision>
  <dcterms:created xsi:type="dcterms:W3CDTF">2025-09-11T14:20:12Z</dcterms:created>
  <dcterms:modified xsi:type="dcterms:W3CDTF">2026-05-12T07:05:48Z</dcterms:modified>
</cp:coreProperties>
</file>